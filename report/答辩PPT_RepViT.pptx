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rts/chart6.xml" ContentType="application/vnd.openxmlformats-officedocument.drawingml.chart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59" r:id="rId12"/>
    <p:sldId id="267" r:id="rId13"/>
    <p:sldId id="268" r:id="rId14"/>
    <p:sldId id="269" r:id="rId15"/>
    <p:sldId id="270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658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7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8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1"/>
  <c:style val="10"/>
  <c:chart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Baseline</c:v>
                </c:pt>
              </c:strCache>
            </c:strRef>
          </c:tx>
          <c:spPr>
            <a:ln w="20320">
              <a:solidFill>
                <a:srgbClr val="218EBC"/>
              </a:solidFill>
            </a:ln>
          </c:spPr>
          <c:marker>
            <c:symbol val="none"/>
          </c:marker>
          <c:cat>
            <c:strRef>
              <c:f>Sheet1!$A$2:$A$41</c:f>
              <c:strCache>
                <c:ptCount val="40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</c:strCache>
            </c:strRef>
          </c:cat>
          <c:val>
            <c:numRef>
              <c:f>Sheet1!$B$2:$B$41</c:f>
              <c:numCache>
                <c:formatCode>General</c:formatCode>
                <c:ptCount val="40"/>
                <c:pt idx="0">
                  <c:v>3.650064</c:v>
                </c:pt>
                <c:pt idx="1">
                  <c:v>3.3403330000000002</c:v>
                </c:pt>
                <c:pt idx="2">
                  <c:v>2.417484</c:v>
                </c:pt>
                <c:pt idx="3">
                  <c:v>1.3996189999999999</c:v>
                </c:pt>
                <c:pt idx="4">
                  <c:v>1.0659650000000001</c:v>
                </c:pt>
                <c:pt idx="5">
                  <c:v>0.95861700000000005</c:v>
                </c:pt>
                <c:pt idx="6">
                  <c:v>0.91399399999999997</c:v>
                </c:pt>
                <c:pt idx="7">
                  <c:v>0.88349100000000003</c:v>
                </c:pt>
                <c:pt idx="8">
                  <c:v>0.85044500000000001</c:v>
                </c:pt>
                <c:pt idx="9">
                  <c:v>0.83821599999999996</c:v>
                </c:pt>
                <c:pt idx="10">
                  <c:v>0.81898800000000005</c:v>
                </c:pt>
                <c:pt idx="11">
                  <c:v>0.80327000000000004</c:v>
                </c:pt>
                <c:pt idx="12">
                  <c:v>0.79715199999999997</c:v>
                </c:pt>
                <c:pt idx="13">
                  <c:v>0.782725</c:v>
                </c:pt>
                <c:pt idx="14">
                  <c:v>0.78533799999999998</c:v>
                </c:pt>
                <c:pt idx="15">
                  <c:v>0.78193800000000002</c:v>
                </c:pt>
                <c:pt idx="16">
                  <c:v>0.77312899999999996</c:v>
                </c:pt>
                <c:pt idx="17">
                  <c:v>0.77062799999999998</c:v>
                </c:pt>
                <c:pt idx="18">
                  <c:v>0.76228600000000002</c:v>
                </c:pt>
                <c:pt idx="19">
                  <c:v>0.75640399999999997</c:v>
                </c:pt>
                <c:pt idx="20">
                  <c:v>0.75970899999999997</c:v>
                </c:pt>
                <c:pt idx="21">
                  <c:v>0.75677000000000005</c:v>
                </c:pt>
                <c:pt idx="22">
                  <c:v>0.75082499999999996</c:v>
                </c:pt>
                <c:pt idx="23">
                  <c:v>0.75161199999999995</c:v>
                </c:pt>
                <c:pt idx="24">
                  <c:v>0.74687099999999995</c:v>
                </c:pt>
                <c:pt idx="25">
                  <c:v>0.74561900000000003</c:v>
                </c:pt>
                <c:pt idx="26">
                  <c:v>0.74071699999999996</c:v>
                </c:pt>
                <c:pt idx="27">
                  <c:v>0.74615900000000002</c:v>
                </c:pt>
                <c:pt idx="28">
                  <c:v>0.74171600000000004</c:v>
                </c:pt>
                <c:pt idx="29">
                  <c:v>0.73901399999999995</c:v>
                </c:pt>
                <c:pt idx="30">
                  <c:v>0.73751</c:v>
                </c:pt>
                <c:pt idx="31">
                  <c:v>0.73674499999999998</c:v>
                </c:pt>
                <c:pt idx="32">
                  <c:v>0.73391099999999998</c:v>
                </c:pt>
                <c:pt idx="33">
                  <c:v>0.73923499999999998</c:v>
                </c:pt>
                <c:pt idx="34">
                  <c:v>0.73968800000000001</c:v>
                </c:pt>
                <c:pt idx="35">
                  <c:v>0.73390900000000003</c:v>
                </c:pt>
                <c:pt idx="36">
                  <c:v>0.73353199999999996</c:v>
                </c:pt>
                <c:pt idx="37">
                  <c:v>0.72996700000000003</c:v>
                </c:pt>
                <c:pt idx="38">
                  <c:v>0.73141900000000004</c:v>
                </c:pt>
                <c:pt idx="39">
                  <c:v>0.736097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41C-4523-ADC6-2326C31398C3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opt_combo</c:v>
                </c:pt>
              </c:strCache>
            </c:strRef>
          </c:tx>
          <c:spPr>
            <a:ln w="20320">
              <a:solidFill>
                <a:srgbClr val="EB9951"/>
              </a:solidFill>
            </a:ln>
          </c:spPr>
          <c:marker>
            <c:symbol val="none"/>
          </c:marker>
          <c:cat>
            <c:strRef>
              <c:f>Sheet1!$A$2:$A$41</c:f>
              <c:strCache>
                <c:ptCount val="40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</c:strCache>
            </c:strRef>
          </c:cat>
          <c:val>
            <c:numRef>
              <c:f>Sheet1!$C$2:$C$41</c:f>
              <c:numCache>
                <c:formatCode>General</c:formatCode>
                <c:ptCount val="40"/>
                <c:pt idx="0">
                  <c:v>3.6448429999999998</c:v>
                </c:pt>
                <c:pt idx="1">
                  <c:v>3.4655719999999999</c:v>
                </c:pt>
                <c:pt idx="2">
                  <c:v>2.997306</c:v>
                </c:pt>
                <c:pt idx="3">
                  <c:v>2.3755310000000001</c:v>
                </c:pt>
                <c:pt idx="4">
                  <c:v>1.950906</c:v>
                </c:pt>
                <c:pt idx="5">
                  <c:v>1.955643</c:v>
                </c:pt>
                <c:pt idx="6">
                  <c:v>1.775409</c:v>
                </c:pt>
                <c:pt idx="7">
                  <c:v>1.7097039999999999</c:v>
                </c:pt>
                <c:pt idx="8">
                  <c:v>1.833871</c:v>
                </c:pt>
                <c:pt idx="9">
                  <c:v>1.691916</c:v>
                </c:pt>
                <c:pt idx="10">
                  <c:v>1.780054</c:v>
                </c:pt>
                <c:pt idx="11">
                  <c:v>1.6376409999999999</c:v>
                </c:pt>
                <c:pt idx="12">
                  <c:v>1.6409450000000001</c:v>
                </c:pt>
                <c:pt idx="13">
                  <c:v>1.7096439999999999</c:v>
                </c:pt>
                <c:pt idx="14">
                  <c:v>1.626981</c:v>
                </c:pt>
                <c:pt idx="15">
                  <c:v>1.5425629999999999</c:v>
                </c:pt>
                <c:pt idx="16">
                  <c:v>1.5542689999999999</c:v>
                </c:pt>
                <c:pt idx="17">
                  <c:v>1.500675</c:v>
                </c:pt>
                <c:pt idx="18">
                  <c:v>1.5337970000000001</c:v>
                </c:pt>
                <c:pt idx="19">
                  <c:v>1.695746</c:v>
                </c:pt>
                <c:pt idx="20">
                  <c:v>1.681996</c:v>
                </c:pt>
                <c:pt idx="21">
                  <c:v>1.6000509999999999</c:v>
                </c:pt>
                <c:pt idx="22">
                  <c:v>1.576141</c:v>
                </c:pt>
                <c:pt idx="23">
                  <c:v>1.4889269999999999</c:v>
                </c:pt>
                <c:pt idx="24">
                  <c:v>1.5514760000000001</c:v>
                </c:pt>
                <c:pt idx="25">
                  <c:v>1.5535600000000001</c:v>
                </c:pt>
                <c:pt idx="26">
                  <c:v>1.5559989999999999</c:v>
                </c:pt>
                <c:pt idx="27">
                  <c:v>1.6994560000000001</c:v>
                </c:pt>
                <c:pt idx="28">
                  <c:v>1.548116</c:v>
                </c:pt>
                <c:pt idx="29">
                  <c:v>1.515924</c:v>
                </c:pt>
                <c:pt idx="30">
                  <c:v>1.6056269999999999</c:v>
                </c:pt>
                <c:pt idx="31">
                  <c:v>1.607826</c:v>
                </c:pt>
                <c:pt idx="32">
                  <c:v>1.442644</c:v>
                </c:pt>
                <c:pt idx="33">
                  <c:v>1.420347</c:v>
                </c:pt>
                <c:pt idx="34">
                  <c:v>1.5533969999999999</c:v>
                </c:pt>
                <c:pt idx="35">
                  <c:v>1.413508</c:v>
                </c:pt>
                <c:pt idx="36">
                  <c:v>1.483258</c:v>
                </c:pt>
                <c:pt idx="37">
                  <c:v>1.3814599999999999</c:v>
                </c:pt>
                <c:pt idx="38">
                  <c:v>1.4905889999999999</c:v>
                </c:pt>
                <c:pt idx="39">
                  <c:v>1.528419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741C-4523-ADC6-2326C31398C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  <a:endParaRPr lang="zh-CN"/>
          </a:p>
        </c:txPr>
        <c:crossAx val="2140495176"/>
        <c:crosses val="autoZero"/>
        <c:auto val="1"/>
        <c:lblAlgn val="ctr"/>
        <c:lblOffset val="100"/>
        <c:tickLblSkip val="10"/>
        <c:noMultiLvlLbl val="0"/>
      </c:catAx>
      <c:valAx>
        <c:axId val="2140495176"/>
        <c:scaling>
          <c:orientation val="minMax"/>
          <c:max val="4"/>
          <c:min val="0"/>
        </c:scaling>
        <c:delete val="0"/>
        <c:axPos val="l"/>
        <c:majorGridlines/>
        <c:numFmt formatCode="0.0" sourceLinked="0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  <a:endParaRPr lang="zh-CN"/>
          </a:p>
        </c:txPr>
        <c:crossAx val="2118791784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1000"/>
          </a:pPr>
          <a:endParaRPr lang="zh-CN"/>
        </a:p>
      </c:txPr>
    </c:legend>
    <c:plotVisOnly val="1"/>
    <c:dispBlanksAs val="gap"/>
    <c:showDLblsOverMax val="0"/>
  </c:chart>
  <c:txPr>
    <a:bodyPr/>
    <a:lstStyle/>
    <a:p>
      <a:pPr>
        <a:defRPr sz="1000">
          <a:solidFill>
            <a:srgbClr val="1E2D41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1"/>
  <c:style val="10"/>
  <c:chart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Baseline</c:v>
                </c:pt>
              </c:strCache>
            </c:strRef>
          </c:tx>
          <c:spPr>
            <a:ln w="20320">
              <a:solidFill>
                <a:srgbClr val="218EBC"/>
              </a:solidFill>
            </a:ln>
          </c:spPr>
          <c:marker>
            <c:symbol val="none"/>
          </c:marker>
          <c:cat>
            <c:strRef>
              <c:f>Sheet1!$A$2:$A$41</c:f>
              <c:strCache>
                <c:ptCount val="40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</c:strCache>
            </c:strRef>
          </c:cat>
          <c:val>
            <c:numRef>
              <c:f>Sheet1!$B$2:$B$41</c:f>
              <c:numCache>
                <c:formatCode>General</c:formatCode>
                <c:ptCount val="40"/>
                <c:pt idx="0">
                  <c:v>3.646849</c:v>
                </c:pt>
                <c:pt idx="1">
                  <c:v>2.877319</c:v>
                </c:pt>
                <c:pt idx="2">
                  <c:v>1.318459</c:v>
                </c:pt>
                <c:pt idx="3">
                  <c:v>0.51460300000000003</c:v>
                </c:pt>
                <c:pt idx="4">
                  <c:v>0.40314499999999998</c:v>
                </c:pt>
                <c:pt idx="5">
                  <c:v>0.363732</c:v>
                </c:pt>
                <c:pt idx="6">
                  <c:v>0.342003</c:v>
                </c:pt>
                <c:pt idx="7">
                  <c:v>0.34133999999999998</c:v>
                </c:pt>
                <c:pt idx="8">
                  <c:v>0.33377200000000001</c:v>
                </c:pt>
                <c:pt idx="9">
                  <c:v>0.33693800000000002</c:v>
                </c:pt>
                <c:pt idx="10">
                  <c:v>0.346271</c:v>
                </c:pt>
                <c:pt idx="11">
                  <c:v>0.347715</c:v>
                </c:pt>
                <c:pt idx="12">
                  <c:v>0.334254</c:v>
                </c:pt>
                <c:pt idx="13">
                  <c:v>0.33608100000000002</c:v>
                </c:pt>
                <c:pt idx="14">
                  <c:v>0.32657000000000003</c:v>
                </c:pt>
                <c:pt idx="15">
                  <c:v>0.33005200000000001</c:v>
                </c:pt>
                <c:pt idx="16">
                  <c:v>0.34429999999999999</c:v>
                </c:pt>
                <c:pt idx="17">
                  <c:v>0.33380700000000002</c:v>
                </c:pt>
                <c:pt idx="18">
                  <c:v>0.33405600000000002</c:v>
                </c:pt>
                <c:pt idx="19">
                  <c:v>0.33823700000000001</c:v>
                </c:pt>
                <c:pt idx="20">
                  <c:v>0.35430499999999998</c:v>
                </c:pt>
                <c:pt idx="21">
                  <c:v>0.32829399999999997</c:v>
                </c:pt>
                <c:pt idx="22">
                  <c:v>0.34977999999999998</c:v>
                </c:pt>
                <c:pt idx="23">
                  <c:v>0.34998899999999999</c:v>
                </c:pt>
                <c:pt idx="24">
                  <c:v>0.34821299999999999</c:v>
                </c:pt>
                <c:pt idx="25">
                  <c:v>0.34940399999999999</c:v>
                </c:pt>
                <c:pt idx="26">
                  <c:v>0.34202900000000003</c:v>
                </c:pt>
                <c:pt idx="27">
                  <c:v>0.34734300000000001</c:v>
                </c:pt>
                <c:pt idx="28">
                  <c:v>0.346217</c:v>
                </c:pt>
                <c:pt idx="29">
                  <c:v>0.34302500000000002</c:v>
                </c:pt>
                <c:pt idx="30">
                  <c:v>0.34574199999999999</c:v>
                </c:pt>
                <c:pt idx="31">
                  <c:v>0.33885500000000002</c:v>
                </c:pt>
                <c:pt idx="32">
                  <c:v>0.34606100000000001</c:v>
                </c:pt>
                <c:pt idx="33">
                  <c:v>0.33979199999999998</c:v>
                </c:pt>
                <c:pt idx="34">
                  <c:v>0.346665</c:v>
                </c:pt>
                <c:pt idx="35">
                  <c:v>0.34330300000000002</c:v>
                </c:pt>
                <c:pt idx="36">
                  <c:v>0.35272500000000001</c:v>
                </c:pt>
                <c:pt idx="37">
                  <c:v>0.35102899999999998</c:v>
                </c:pt>
                <c:pt idx="38">
                  <c:v>0.34795900000000002</c:v>
                </c:pt>
                <c:pt idx="39">
                  <c:v>0.35226800000000003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E572-422A-BCCE-AB442B0DE0A0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opt_combo</c:v>
                </c:pt>
              </c:strCache>
            </c:strRef>
          </c:tx>
          <c:spPr>
            <a:ln w="20320">
              <a:solidFill>
                <a:srgbClr val="EB9951"/>
              </a:solidFill>
            </a:ln>
          </c:spPr>
          <c:marker>
            <c:symbol val="none"/>
          </c:marker>
          <c:cat>
            <c:strRef>
              <c:f>Sheet1!$A$2:$A$41</c:f>
              <c:strCache>
                <c:ptCount val="40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</c:strCache>
            </c:strRef>
          </c:cat>
          <c:val>
            <c:numRef>
              <c:f>Sheet1!$C$2:$C$41</c:f>
              <c:numCache>
                <c:formatCode>General</c:formatCode>
                <c:ptCount val="40"/>
                <c:pt idx="0">
                  <c:v>3.6510009999999999</c:v>
                </c:pt>
                <c:pt idx="1">
                  <c:v>3.0937869999999998</c:v>
                </c:pt>
                <c:pt idx="2">
                  <c:v>2.0143409999999999</c:v>
                </c:pt>
                <c:pt idx="3">
                  <c:v>0.929365</c:v>
                </c:pt>
                <c:pt idx="4">
                  <c:v>0.65312700000000001</c:v>
                </c:pt>
                <c:pt idx="5">
                  <c:v>0.59132399999999996</c:v>
                </c:pt>
                <c:pt idx="6">
                  <c:v>0.52072399999999996</c:v>
                </c:pt>
                <c:pt idx="7">
                  <c:v>0.52614000000000005</c:v>
                </c:pt>
                <c:pt idx="8">
                  <c:v>0.52351400000000003</c:v>
                </c:pt>
                <c:pt idx="9">
                  <c:v>0.50514800000000004</c:v>
                </c:pt>
                <c:pt idx="10">
                  <c:v>0.49844100000000002</c:v>
                </c:pt>
                <c:pt idx="11">
                  <c:v>0.51634999999999998</c:v>
                </c:pt>
                <c:pt idx="12">
                  <c:v>0.47719099999999998</c:v>
                </c:pt>
                <c:pt idx="13">
                  <c:v>0.50539199999999995</c:v>
                </c:pt>
                <c:pt idx="14">
                  <c:v>0.47049600000000003</c:v>
                </c:pt>
                <c:pt idx="15">
                  <c:v>0.46818199999999999</c:v>
                </c:pt>
                <c:pt idx="16">
                  <c:v>0.442523</c:v>
                </c:pt>
                <c:pt idx="17">
                  <c:v>0.42225000000000001</c:v>
                </c:pt>
                <c:pt idx="18">
                  <c:v>0.48319400000000001</c:v>
                </c:pt>
                <c:pt idx="19">
                  <c:v>0.470084</c:v>
                </c:pt>
                <c:pt idx="20">
                  <c:v>0.54141099999999998</c:v>
                </c:pt>
                <c:pt idx="21">
                  <c:v>0.47877399999999998</c:v>
                </c:pt>
                <c:pt idx="22">
                  <c:v>0.41872100000000001</c:v>
                </c:pt>
                <c:pt idx="23">
                  <c:v>0.470669</c:v>
                </c:pt>
                <c:pt idx="24">
                  <c:v>0.46522000000000002</c:v>
                </c:pt>
                <c:pt idx="25">
                  <c:v>0.47918699999999997</c:v>
                </c:pt>
                <c:pt idx="26">
                  <c:v>0.464335</c:v>
                </c:pt>
                <c:pt idx="27">
                  <c:v>0.49061100000000002</c:v>
                </c:pt>
                <c:pt idx="28">
                  <c:v>0.443554</c:v>
                </c:pt>
                <c:pt idx="29">
                  <c:v>0.47782200000000002</c:v>
                </c:pt>
                <c:pt idx="30">
                  <c:v>0.452515</c:v>
                </c:pt>
                <c:pt idx="31">
                  <c:v>0.46733799999999998</c:v>
                </c:pt>
                <c:pt idx="32">
                  <c:v>0.41306300000000001</c:v>
                </c:pt>
                <c:pt idx="33">
                  <c:v>0.40206700000000001</c:v>
                </c:pt>
                <c:pt idx="34">
                  <c:v>0.41486499999999998</c:v>
                </c:pt>
                <c:pt idx="35">
                  <c:v>0.417458</c:v>
                </c:pt>
                <c:pt idx="36">
                  <c:v>0.45396399999999998</c:v>
                </c:pt>
                <c:pt idx="37">
                  <c:v>0.40509099999999998</c:v>
                </c:pt>
                <c:pt idx="38">
                  <c:v>0.42037099999999999</c:v>
                </c:pt>
                <c:pt idx="39">
                  <c:v>0.45350499999999999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E572-422A-BCCE-AB442B0DE0A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  <a:endParaRPr lang="zh-CN"/>
          </a:p>
        </c:txPr>
        <c:crossAx val="2140495176"/>
        <c:crosses val="autoZero"/>
        <c:auto val="1"/>
        <c:lblAlgn val="ctr"/>
        <c:lblOffset val="100"/>
        <c:tickLblSkip val="10"/>
        <c:noMultiLvlLbl val="0"/>
      </c:catAx>
      <c:valAx>
        <c:axId val="2140495176"/>
        <c:scaling>
          <c:orientation val="minMax"/>
          <c:max val="4"/>
          <c:min val="0"/>
        </c:scaling>
        <c:delete val="0"/>
        <c:axPos val="l"/>
        <c:majorGridlines/>
        <c:numFmt formatCode="0.0" sourceLinked="0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  <a:endParaRPr lang="zh-CN"/>
          </a:p>
        </c:txPr>
        <c:crossAx val="2118791784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1000"/>
          </a:pPr>
          <a:endParaRPr lang="zh-CN"/>
        </a:p>
      </c:txPr>
    </c:legend>
    <c:plotVisOnly val="1"/>
    <c:dispBlanksAs val="gap"/>
    <c:showDLblsOverMax val="0"/>
  </c:chart>
  <c:txPr>
    <a:bodyPr/>
    <a:lstStyle/>
    <a:p>
      <a:pPr>
        <a:defRPr sz="1000">
          <a:solidFill>
            <a:srgbClr val="1E2D41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1"/>
  <c:style val="10"/>
  <c:chart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Baseline</c:v>
                </c:pt>
              </c:strCache>
            </c:strRef>
          </c:tx>
          <c:spPr>
            <a:ln w="20320">
              <a:solidFill>
                <a:srgbClr val="218EBC"/>
              </a:solidFill>
            </a:ln>
          </c:spPr>
          <c:marker>
            <c:symbol val="none"/>
          </c:marker>
          <c:cat>
            <c:strRef>
              <c:f>Sheet1!$A$2:$A$41</c:f>
              <c:strCache>
                <c:ptCount val="40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</c:strCache>
            </c:strRef>
          </c:cat>
          <c:val>
            <c:numRef>
              <c:f>Sheet1!$B$2:$B$41</c:f>
              <c:numCache>
                <c:formatCode>General</c:formatCode>
                <c:ptCount val="40"/>
                <c:pt idx="0">
                  <c:v>1.6216000000000002</c:v>
                </c:pt>
                <c:pt idx="1">
                  <c:v>66.216200000000001</c:v>
                </c:pt>
                <c:pt idx="2">
                  <c:v>84.5946</c:v>
                </c:pt>
                <c:pt idx="3">
                  <c:v>89.459500000000006</c:v>
                </c:pt>
                <c:pt idx="4">
                  <c:v>91.621600000000001</c:v>
                </c:pt>
                <c:pt idx="5">
                  <c:v>92.297300000000007</c:v>
                </c:pt>
                <c:pt idx="6">
                  <c:v>92.972999999999999</c:v>
                </c:pt>
                <c:pt idx="7">
                  <c:v>93.108100000000007</c:v>
                </c:pt>
                <c:pt idx="8">
                  <c:v>92.972999999999999</c:v>
                </c:pt>
                <c:pt idx="9">
                  <c:v>93.108100000000007</c:v>
                </c:pt>
                <c:pt idx="10">
                  <c:v>93.243200000000002</c:v>
                </c:pt>
                <c:pt idx="11">
                  <c:v>93.648600000000002</c:v>
                </c:pt>
                <c:pt idx="12">
                  <c:v>93.513500000000008</c:v>
                </c:pt>
                <c:pt idx="13">
                  <c:v>93.918900000000008</c:v>
                </c:pt>
                <c:pt idx="14">
                  <c:v>93.783799999999999</c:v>
                </c:pt>
                <c:pt idx="15">
                  <c:v>94.1892</c:v>
                </c:pt>
                <c:pt idx="16">
                  <c:v>93.513500000000008</c:v>
                </c:pt>
                <c:pt idx="17">
                  <c:v>93.378399999999999</c:v>
                </c:pt>
                <c:pt idx="18">
                  <c:v>93.918900000000008</c:v>
                </c:pt>
                <c:pt idx="19">
                  <c:v>93.918900000000008</c:v>
                </c:pt>
                <c:pt idx="20">
                  <c:v>93.783799999999999</c:v>
                </c:pt>
                <c:pt idx="21">
                  <c:v>93.783799999999999</c:v>
                </c:pt>
                <c:pt idx="22">
                  <c:v>93.783799999999999</c:v>
                </c:pt>
                <c:pt idx="23">
                  <c:v>94.054099999999991</c:v>
                </c:pt>
                <c:pt idx="24">
                  <c:v>93.378399999999999</c:v>
                </c:pt>
                <c:pt idx="25">
                  <c:v>94.1892</c:v>
                </c:pt>
                <c:pt idx="26">
                  <c:v>93.513500000000008</c:v>
                </c:pt>
                <c:pt idx="27">
                  <c:v>93.783799999999999</c:v>
                </c:pt>
                <c:pt idx="28">
                  <c:v>94.054099999999991</c:v>
                </c:pt>
                <c:pt idx="29">
                  <c:v>93.648600000000002</c:v>
                </c:pt>
                <c:pt idx="30">
                  <c:v>94.054099999999991</c:v>
                </c:pt>
                <c:pt idx="31">
                  <c:v>94.1892</c:v>
                </c:pt>
                <c:pt idx="32">
                  <c:v>93.918900000000008</c:v>
                </c:pt>
                <c:pt idx="33">
                  <c:v>94.459499999999991</c:v>
                </c:pt>
                <c:pt idx="34">
                  <c:v>94.5946</c:v>
                </c:pt>
                <c:pt idx="35">
                  <c:v>94.1892</c:v>
                </c:pt>
                <c:pt idx="36">
                  <c:v>93.648600000000002</c:v>
                </c:pt>
                <c:pt idx="37">
                  <c:v>94.1892</c:v>
                </c:pt>
                <c:pt idx="38">
                  <c:v>94.054099999999991</c:v>
                </c:pt>
                <c:pt idx="39">
                  <c:v>94.054099999999991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E05E-4EA2-AB43-AEC16DF7AF7E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opt_combo</c:v>
                </c:pt>
              </c:strCache>
            </c:strRef>
          </c:tx>
          <c:spPr>
            <a:ln w="20320">
              <a:solidFill>
                <a:srgbClr val="EB9951"/>
              </a:solidFill>
            </a:ln>
          </c:spPr>
          <c:marker>
            <c:symbol val="none"/>
          </c:marker>
          <c:cat>
            <c:strRef>
              <c:f>Sheet1!$A$2:$A$41</c:f>
              <c:strCache>
                <c:ptCount val="40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</c:strCache>
            </c:strRef>
          </c:cat>
          <c:val>
            <c:numRef>
              <c:f>Sheet1!$C$2:$C$41</c:f>
              <c:numCache>
                <c:formatCode>General</c:formatCode>
                <c:ptCount val="40"/>
                <c:pt idx="0">
                  <c:v>1.3513999999999999</c:v>
                </c:pt>
                <c:pt idx="1">
                  <c:v>55.135100000000001</c:v>
                </c:pt>
                <c:pt idx="2">
                  <c:v>79.864900000000006</c:v>
                </c:pt>
                <c:pt idx="3">
                  <c:v>88.108100000000007</c:v>
                </c:pt>
                <c:pt idx="4">
                  <c:v>90.8108</c:v>
                </c:pt>
                <c:pt idx="5">
                  <c:v>91.486500000000007</c:v>
                </c:pt>
                <c:pt idx="6">
                  <c:v>92.027000000000001</c:v>
                </c:pt>
                <c:pt idx="7">
                  <c:v>92.027000000000001</c:v>
                </c:pt>
                <c:pt idx="8">
                  <c:v>92.567599999999999</c:v>
                </c:pt>
                <c:pt idx="9">
                  <c:v>93.108100000000007</c:v>
                </c:pt>
                <c:pt idx="10">
                  <c:v>92.297300000000007</c:v>
                </c:pt>
                <c:pt idx="11">
                  <c:v>92.972999999999999</c:v>
                </c:pt>
                <c:pt idx="12">
                  <c:v>93.513500000000008</c:v>
                </c:pt>
                <c:pt idx="13">
                  <c:v>93.108100000000007</c:v>
                </c:pt>
                <c:pt idx="14">
                  <c:v>92.837800000000001</c:v>
                </c:pt>
                <c:pt idx="15">
                  <c:v>93.648600000000002</c:v>
                </c:pt>
                <c:pt idx="16">
                  <c:v>94.054099999999991</c:v>
                </c:pt>
                <c:pt idx="17">
                  <c:v>93.783799999999999</c:v>
                </c:pt>
                <c:pt idx="18">
                  <c:v>93.648600000000002</c:v>
                </c:pt>
                <c:pt idx="19">
                  <c:v>93.918900000000008</c:v>
                </c:pt>
                <c:pt idx="20">
                  <c:v>94.459499999999991</c:v>
                </c:pt>
                <c:pt idx="21">
                  <c:v>94.459499999999991</c:v>
                </c:pt>
                <c:pt idx="22">
                  <c:v>94.324300000000008</c:v>
                </c:pt>
                <c:pt idx="23">
                  <c:v>94.5946</c:v>
                </c:pt>
                <c:pt idx="24">
                  <c:v>94.054099999999991</c:v>
                </c:pt>
                <c:pt idx="25">
                  <c:v>94.054099999999991</c:v>
                </c:pt>
                <c:pt idx="26">
                  <c:v>94.1892</c:v>
                </c:pt>
                <c:pt idx="27">
                  <c:v>93.918900000000008</c:v>
                </c:pt>
                <c:pt idx="28">
                  <c:v>94.054099999999991</c:v>
                </c:pt>
                <c:pt idx="29">
                  <c:v>94.729699999999994</c:v>
                </c:pt>
                <c:pt idx="30">
                  <c:v>94.5946</c:v>
                </c:pt>
                <c:pt idx="31">
                  <c:v>94.729699999999994</c:v>
                </c:pt>
                <c:pt idx="32">
                  <c:v>94.5946</c:v>
                </c:pt>
                <c:pt idx="33">
                  <c:v>94.1892</c:v>
                </c:pt>
                <c:pt idx="34">
                  <c:v>94.054099999999991</c:v>
                </c:pt>
                <c:pt idx="35">
                  <c:v>94.5946</c:v>
                </c:pt>
                <c:pt idx="36">
                  <c:v>94.5946</c:v>
                </c:pt>
                <c:pt idx="37">
                  <c:v>94.324300000000008</c:v>
                </c:pt>
                <c:pt idx="38">
                  <c:v>94.729699999999994</c:v>
                </c:pt>
                <c:pt idx="39">
                  <c:v>94.864899999999992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E05E-4EA2-AB43-AEC16DF7AF7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  <a:endParaRPr lang="zh-CN"/>
          </a:p>
        </c:txPr>
        <c:crossAx val="2140495176"/>
        <c:crosses val="autoZero"/>
        <c:auto val="1"/>
        <c:lblAlgn val="ctr"/>
        <c:lblOffset val="100"/>
        <c:tickLblSkip val="10"/>
        <c:noMultiLvlLbl val="0"/>
      </c:catAx>
      <c:valAx>
        <c:axId val="2140495176"/>
        <c:scaling>
          <c:orientation val="minMax"/>
          <c:max val="100"/>
          <c:min val="0"/>
        </c:scaling>
        <c:delete val="0"/>
        <c:axPos val="l"/>
        <c:majorGridlines/>
        <c:numFmt formatCode="0" sourceLinked="0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  <a:endParaRPr lang="zh-CN"/>
          </a:p>
        </c:txPr>
        <c:crossAx val="2118791784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1000"/>
          </a:pPr>
          <a:endParaRPr lang="zh-CN"/>
        </a:p>
      </c:txPr>
    </c:legend>
    <c:plotVisOnly val="1"/>
    <c:dispBlanksAs val="gap"/>
    <c:showDLblsOverMax val="0"/>
  </c:chart>
  <c:txPr>
    <a:bodyPr/>
    <a:lstStyle/>
    <a:p>
      <a:pPr>
        <a:defRPr sz="1000">
          <a:solidFill>
            <a:srgbClr val="1E2D41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1"/>
  <c:style val="10"/>
  <c:chart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Baseline</c:v>
                </c:pt>
              </c:strCache>
            </c:strRef>
          </c:tx>
          <c:spPr>
            <a:ln w="20320">
              <a:solidFill>
                <a:srgbClr val="218EBC"/>
              </a:solidFill>
            </a:ln>
          </c:spPr>
          <c:marker>
            <c:symbol val="none"/>
          </c:marker>
          <c:cat>
            <c:strRef>
              <c:f>Sheet1!$A$2:$A$41</c:f>
              <c:strCache>
                <c:ptCount val="40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</c:strCache>
            </c:strRef>
          </c:cat>
          <c:val>
            <c:numRef>
              <c:f>Sheet1!$B$2:$B$41</c:f>
              <c:numCache>
                <c:formatCode>General</c:formatCode>
                <c:ptCount val="40"/>
                <c:pt idx="0">
                  <c:v>1.6480000000000001</c:v>
                </c:pt>
                <c:pt idx="1">
                  <c:v>65.062600000000003</c:v>
                </c:pt>
                <c:pt idx="2">
                  <c:v>83.973399999999998</c:v>
                </c:pt>
                <c:pt idx="3">
                  <c:v>89.380899999999997</c:v>
                </c:pt>
                <c:pt idx="4">
                  <c:v>91.576900000000009</c:v>
                </c:pt>
                <c:pt idx="5">
                  <c:v>92.24</c:v>
                </c:pt>
                <c:pt idx="6">
                  <c:v>92.973200000000006</c:v>
                </c:pt>
                <c:pt idx="7">
                  <c:v>93.096500000000006</c:v>
                </c:pt>
                <c:pt idx="8">
                  <c:v>92.954099999999997</c:v>
                </c:pt>
                <c:pt idx="9">
                  <c:v>93.099000000000004</c:v>
                </c:pt>
                <c:pt idx="10">
                  <c:v>93.178700000000006</c:v>
                </c:pt>
                <c:pt idx="11">
                  <c:v>93.651399999999995</c:v>
                </c:pt>
                <c:pt idx="12">
                  <c:v>93.527799999999999</c:v>
                </c:pt>
                <c:pt idx="13">
                  <c:v>93.922300000000007</c:v>
                </c:pt>
                <c:pt idx="14">
                  <c:v>93.816900000000004</c:v>
                </c:pt>
                <c:pt idx="15">
                  <c:v>94.213300000000004</c:v>
                </c:pt>
                <c:pt idx="16">
                  <c:v>93.496400000000008</c:v>
                </c:pt>
                <c:pt idx="17">
                  <c:v>93.382000000000005</c:v>
                </c:pt>
                <c:pt idx="18">
                  <c:v>93.957000000000008</c:v>
                </c:pt>
                <c:pt idx="19">
                  <c:v>93.949200000000005</c:v>
                </c:pt>
                <c:pt idx="20">
                  <c:v>93.765100000000004</c:v>
                </c:pt>
                <c:pt idx="21">
                  <c:v>93.820899999999995</c:v>
                </c:pt>
                <c:pt idx="22">
                  <c:v>93.789900000000003</c:v>
                </c:pt>
                <c:pt idx="23">
                  <c:v>94.045299999999997</c:v>
                </c:pt>
                <c:pt idx="24">
                  <c:v>93.369900000000001</c:v>
                </c:pt>
                <c:pt idx="25">
                  <c:v>94.210599999999999</c:v>
                </c:pt>
                <c:pt idx="26">
                  <c:v>93.521100000000004</c:v>
                </c:pt>
                <c:pt idx="27">
                  <c:v>93.818299999999994</c:v>
                </c:pt>
                <c:pt idx="28">
                  <c:v>94.066199999999995</c:v>
                </c:pt>
                <c:pt idx="29">
                  <c:v>93.671199999999999</c:v>
                </c:pt>
                <c:pt idx="30">
                  <c:v>94.057100000000005</c:v>
                </c:pt>
                <c:pt idx="31">
                  <c:v>94.224600000000009</c:v>
                </c:pt>
                <c:pt idx="32">
                  <c:v>93.937100000000001</c:v>
                </c:pt>
                <c:pt idx="33">
                  <c:v>94.464800000000011</c:v>
                </c:pt>
                <c:pt idx="34">
                  <c:v>94.616599999999991</c:v>
                </c:pt>
                <c:pt idx="35">
                  <c:v>94.216300000000004</c:v>
                </c:pt>
                <c:pt idx="36">
                  <c:v>93.667299999999997</c:v>
                </c:pt>
                <c:pt idx="37">
                  <c:v>94.207899999999995</c:v>
                </c:pt>
                <c:pt idx="38">
                  <c:v>94.064300000000003</c:v>
                </c:pt>
                <c:pt idx="39">
                  <c:v>94.072599999999994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60FA-4217-89CE-8A08E3F1B33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opt_combo</c:v>
                </c:pt>
              </c:strCache>
            </c:strRef>
          </c:tx>
          <c:spPr>
            <a:ln w="20320">
              <a:solidFill>
                <a:srgbClr val="EB9951"/>
              </a:solidFill>
            </a:ln>
          </c:spPr>
          <c:marker>
            <c:symbol val="none"/>
          </c:marker>
          <c:cat>
            <c:strRef>
              <c:f>Sheet1!$A$2:$A$41</c:f>
              <c:strCache>
                <c:ptCount val="40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</c:strCache>
            </c:strRef>
          </c:cat>
          <c:val>
            <c:numRef>
              <c:f>Sheet1!$C$2:$C$41</c:f>
              <c:numCache>
                <c:formatCode>General</c:formatCode>
                <c:ptCount val="40"/>
                <c:pt idx="0">
                  <c:v>1.3806</c:v>
                </c:pt>
                <c:pt idx="1">
                  <c:v>53.032999999999994</c:v>
                </c:pt>
                <c:pt idx="2">
                  <c:v>78.3583</c:v>
                </c:pt>
                <c:pt idx="3">
                  <c:v>87.716300000000004</c:v>
                </c:pt>
                <c:pt idx="4">
                  <c:v>90.662499999999994</c:v>
                </c:pt>
                <c:pt idx="5">
                  <c:v>91.442000000000007</c:v>
                </c:pt>
                <c:pt idx="6">
                  <c:v>91.962600000000009</c:v>
                </c:pt>
                <c:pt idx="7">
                  <c:v>91.925700000000006</c:v>
                </c:pt>
                <c:pt idx="8">
                  <c:v>92.5154</c:v>
                </c:pt>
                <c:pt idx="9">
                  <c:v>93.080200000000005</c:v>
                </c:pt>
                <c:pt idx="10">
                  <c:v>92.286999999999992</c:v>
                </c:pt>
                <c:pt idx="11">
                  <c:v>92.993099999999998</c:v>
                </c:pt>
                <c:pt idx="12">
                  <c:v>93.54</c:v>
                </c:pt>
                <c:pt idx="13">
                  <c:v>93.119799999999998</c:v>
                </c:pt>
                <c:pt idx="14">
                  <c:v>92.825599999999994</c:v>
                </c:pt>
                <c:pt idx="15">
                  <c:v>93.654000000000011</c:v>
                </c:pt>
                <c:pt idx="16">
                  <c:v>94.069599999999994</c:v>
                </c:pt>
                <c:pt idx="17">
                  <c:v>93.792299999999997</c:v>
                </c:pt>
                <c:pt idx="18">
                  <c:v>93.659099999999995</c:v>
                </c:pt>
                <c:pt idx="19">
                  <c:v>93.953299999999999</c:v>
                </c:pt>
                <c:pt idx="20">
                  <c:v>94.464500000000001</c:v>
                </c:pt>
                <c:pt idx="21">
                  <c:v>94.4816</c:v>
                </c:pt>
                <c:pt idx="22">
                  <c:v>94.348799999999997</c:v>
                </c:pt>
                <c:pt idx="23">
                  <c:v>94.606999999999999</c:v>
                </c:pt>
                <c:pt idx="24">
                  <c:v>94.0779</c:v>
                </c:pt>
                <c:pt idx="25">
                  <c:v>94.073899999999995</c:v>
                </c:pt>
                <c:pt idx="26">
                  <c:v>94.199100000000001</c:v>
                </c:pt>
                <c:pt idx="27">
                  <c:v>93.9251</c:v>
                </c:pt>
                <c:pt idx="28">
                  <c:v>94.071400000000011</c:v>
                </c:pt>
                <c:pt idx="29">
                  <c:v>94.736500000000007</c:v>
                </c:pt>
                <c:pt idx="30">
                  <c:v>94.612399999999994</c:v>
                </c:pt>
                <c:pt idx="31">
                  <c:v>94.739599999999996</c:v>
                </c:pt>
                <c:pt idx="32">
                  <c:v>94.622200000000007</c:v>
                </c:pt>
                <c:pt idx="33">
                  <c:v>94.183399999999992</c:v>
                </c:pt>
                <c:pt idx="34">
                  <c:v>94.065100000000001</c:v>
                </c:pt>
                <c:pt idx="35">
                  <c:v>94.593199999999996</c:v>
                </c:pt>
                <c:pt idx="36">
                  <c:v>94.594999999999999</c:v>
                </c:pt>
                <c:pt idx="37">
                  <c:v>94.32350000000001</c:v>
                </c:pt>
                <c:pt idx="38">
                  <c:v>94.736500000000007</c:v>
                </c:pt>
                <c:pt idx="39">
                  <c:v>94.888199999999998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60FA-4217-89CE-8A08E3F1B33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  <a:endParaRPr lang="zh-CN"/>
          </a:p>
        </c:txPr>
        <c:crossAx val="2140495176"/>
        <c:crosses val="autoZero"/>
        <c:auto val="1"/>
        <c:lblAlgn val="ctr"/>
        <c:lblOffset val="100"/>
        <c:tickLblSkip val="10"/>
        <c:noMultiLvlLbl val="0"/>
      </c:catAx>
      <c:valAx>
        <c:axId val="2140495176"/>
        <c:scaling>
          <c:orientation val="minMax"/>
          <c:max val="100"/>
          <c:min val="0"/>
        </c:scaling>
        <c:delete val="0"/>
        <c:axPos val="l"/>
        <c:majorGridlines/>
        <c:numFmt formatCode="0" sourceLinked="0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  <a:endParaRPr lang="zh-CN"/>
          </a:p>
        </c:txPr>
        <c:crossAx val="2118791784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1000"/>
          </a:pPr>
          <a:endParaRPr lang="zh-CN"/>
        </a:p>
      </c:txPr>
    </c:legend>
    <c:plotVisOnly val="1"/>
    <c:dispBlanksAs val="gap"/>
    <c:showDLblsOverMax val="0"/>
  </c:chart>
  <c:txPr>
    <a:bodyPr/>
    <a:lstStyle/>
    <a:p>
      <a:pPr>
        <a:defRPr sz="1000">
          <a:solidFill>
            <a:srgbClr val="1E2D41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1"/>
  <c:style val="10"/>
  <c:chart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Baseline</c:v>
                </c:pt>
              </c:strCache>
            </c:strRef>
          </c:tx>
          <c:spPr>
            <a:ln w="20320">
              <a:solidFill>
                <a:srgbClr val="218EBC"/>
              </a:solidFill>
            </a:ln>
          </c:spPr>
          <c:marker>
            <c:symbol val="none"/>
          </c:marker>
          <c:cat>
            <c:strRef>
              <c:f>Sheet1!$A$2:$A$41</c:f>
              <c:strCache>
                <c:ptCount val="40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</c:strCache>
            </c:strRef>
          </c:cat>
          <c:val>
            <c:numRef>
              <c:f>Sheet1!$B$2:$B$41</c:f>
              <c:numCache>
                <c:formatCode>General</c:formatCode>
                <c:ptCount val="40"/>
                <c:pt idx="0">
                  <c:v>3.4000000000000002E-4</c:v>
                </c:pt>
                <c:pt idx="1">
                  <c:v>6.7000000000000013E-4</c:v>
                </c:pt>
                <c:pt idx="2">
                  <c:v>1E-3</c:v>
                </c:pt>
                <c:pt idx="3">
                  <c:v>9.9821675682855069E-4</c:v>
                </c:pt>
                <c:pt idx="4">
                  <c:v>9.9287987562211573E-4</c:v>
                </c:pt>
                <c:pt idx="5">
                  <c:v>9.840278087320819E-4</c:v>
                </c:pt>
                <c:pt idx="6">
                  <c:v>9.717243355032365E-4</c:v>
                </c:pt>
                <c:pt idx="7">
                  <c:v>9.5605810274212706E-4</c:v>
                </c:pt>
                <c:pt idx="8">
                  <c:v>9.37141986014788E-4</c:v>
                </c:pt>
                <c:pt idx="9">
                  <c:v>9.1511227637570177E-4</c:v>
                </c:pt>
                <c:pt idx="10">
                  <c:v>8.9012769838762746E-4</c:v>
                </c:pt>
                <c:pt idx="11">
                  <c:v>8.6236826650748955E-4</c:v>
                </c:pt>
                <c:pt idx="12">
                  <c:v>8.3203398807809009E-4</c:v>
                </c:pt>
                <c:pt idx="13">
                  <c:v>7.9934342227062178E-4</c:v>
                </c:pt>
                <c:pt idx="14">
                  <c:v>7.645321053608296E-4</c:v>
                </c:pt>
                <c:pt idx="15">
                  <c:v>7.2785085368474816E-4</c:v>
                </c:pt>
                <c:pt idx="16">
                  <c:v>6.8956395650125279E-4</c:v>
                </c:pt>
                <c:pt idx="17">
                  <c:v>6.4994727178189235E-4</c:v>
                </c:pt>
                <c:pt idx="18">
                  <c:v>6.0928623864788456E-4</c:v>
                </c:pt>
                <c:pt idx="19">
                  <c:v>5.6787382077470492E-4</c:v>
                </c:pt>
                <c:pt idx="20">
                  <c:v>5.2600839558209346E-4</c:v>
                </c:pt>
                <c:pt idx="21">
                  <c:v>4.8399160441790664E-4</c:v>
                </c:pt>
                <c:pt idx="22">
                  <c:v>4.4212617922529497E-4</c:v>
                </c:pt>
                <c:pt idx="23">
                  <c:v>4.0071376135211544E-4</c:v>
                </c:pt>
                <c:pt idx="24">
                  <c:v>3.6005272821810764E-4</c:v>
                </c:pt>
                <c:pt idx="25">
                  <c:v>3.2043604349874725E-4</c:v>
                </c:pt>
                <c:pt idx="26">
                  <c:v>2.8214914631525162E-4</c:v>
                </c:pt>
                <c:pt idx="27">
                  <c:v>2.4546789463917034E-4</c:v>
                </c:pt>
                <c:pt idx="28">
                  <c:v>2.1065657772937805E-4</c:v>
                </c:pt>
                <c:pt idx="29">
                  <c:v>1.7796601192190975E-4</c:v>
                </c:pt>
                <c:pt idx="30">
                  <c:v>1.4763173349251039E-4</c:v>
                </c:pt>
                <c:pt idx="31">
                  <c:v>1.1987230161237237E-4</c:v>
                </c:pt>
                <c:pt idx="32">
                  <c:v>9.4887723624298165E-5</c:v>
                </c:pt>
                <c:pt idx="33">
                  <c:v>7.2858013985211968E-5</c:v>
                </c:pt>
                <c:pt idx="34">
                  <c:v>5.3941897257872877E-5</c:v>
                </c:pt>
                <c:pt idx="35">
                  <c:v>3.8275664496763314E-5</c:v>
                </c:pt>
                <c:pt idx="36">
                  <c:v>2.5972191267918057E-5</c:v>
                </c:pt>
                <c:pt idx="37">
                  <c:v>1.7120124377884313E-5</c:v>
                </c:pt>
                <c:pt idx="38">
                  <c:v>1.1783243171449372E-5</c:v>
                </c:pt>
                <c:pt idx="39">
                  <c:v>1.0000000000000001E-5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82CB-4A8E-A9AB-B6BD303B9752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opt_combo</c:v>
                </c:pt>
              </c:strCache>
            </c:strRef>
          </c:tx>
          <c:spPr>
            <a:ln w="20320">
              <a:solidFill>
                <a:srgbClr val="EB9951"/>
              </a:solidFill>
            </a:ln>
          </c:spPr>
          <c:marker>
            <c:symbol val="none"/>
          </c:marker>
          <c:cat>
            <c:strRef>
              <c:f>Sheet1!$A$2:$A$41</c:f>
              <c:strCache>
                <c:ptCount val="40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</c:strCache>
            </c:strRef>
          </c:cat>
          <c:val>
            <c:numRef>
              <c:f>Sheet1!$C$2:$C$41</c:f>
              <c:numCache>
                <c:formatCode>General</c:formatCode>
                <c:ptCount val="40"/>
                <c:pt idx="0">
                  <c:v>3.4000000000000002E-4</c:v>
                </c:pt>
                <c:pt idx="1">
                  <c:v>6.7000000000000013E-4</c:v>
                </c:pt>
                <c:pt idx="2">
                  <c:v>1E-3</c:v>
                </c:pt>
                <c:pt idx="3">
                  <c:v>9.9821675682855069E-4</c:v>
                </c:pt>
                <c:pt idx="4">
                  <c:v>9.9287987562211573E-4</c:v>
                </c:pt>
                <c:pt idx="5">
                  <c:v>9.840278087320819E-4</c:v>
                </c:pt>
                <c:pt idx="6">
                  <c:v>9.717243355032365E-4</c:v>
                </c:pt>
                <c:pt idx="7">
                  <c:v>9.5605810274212706E-4</c:v>
                </c:pt>
                <c:pt idx="8">
                  <c:v>9.37141986014788E-4</c:v>
                </c:pt>
                <c:pt idx="9">
                  <c:v>9.1511227637570177E-4</c:v>
                </c:pt>
                <c:pt idx="10">
                  <c:v>8.9012769838762746E-4</c:v>
                </c:pt>
                <c:pt idx="11">
                  <c:v>8.6236826650748955E-4</c:v>
                </c:pt>
                <c:pt idx="12">
                  <c:v>8.3203398807809009E-4</c:v>
                </c:pt>
                <c:pt idx="13">
                  <c:v>7.9934342227062178E-4</c:v>
                </c:pt>
                <c:pt idx="14">
                  <c:v>7.645321053608296E-4</c:v>
                </c:pt>
                <c:pt idx="15">
                  <c:v>7.2785085368474816E-4</c:v>
                </c:pt>
                <c:pt idx="16">
                  <c:v>6.8956395650125279E-4</c:v>
                </c:pt>
                <c:pt idx="17">
                  <c:v>6.4994727178189235E-4</c:v>
                </c:pt>
                <c:pt idx="18">
                  <c:v>6.0928623864788456E-4</c:v>
                </c:pt>
                <c:pt idx="19">
                  <c:v>5.6787382077470492E-4</c:v>
                </c:pt>
                <c:pt idx="20">
                  <c:v>5.2600839558209346E-4</c:v>
                </c:pt>
                <c:pt idx="21">
                  <c:v>4.8399160441790664E-4</c:v>
                </c:pt>
                <c:pt idx="22">
                  <c:v>4.4212617922529497E-4</c:v>
                </c:pt>
                <c:pt idx="23">
                  <c:v>4.0071376135211544E-4</c:v>
                </c:pt>
                <c:pt idx="24">
                  <c:v>3.6005272821810764E-4</c:v>
                </c:pt>
                <c:pt idx="25">
                  <c:v>3.2043604349874725E-4</c:v>
                </c:pt>
                <c:pt idx="26">
                  <c:v>2.8214914631525162E-4</c:v>
                </c:pt>
                <c:pt idx="27">
                  <c:v>2.4546789463917034E-4</c:v>
                </c:pt>
                <c:pt idx="28">
                  <c:v>2.1065657772937805E-4</c:v>
                </c:pt>
                <c:pt idx="29">
                  <c:v>1.7796601192190975E-4</c:v>
                </c:pt>
                <c:pt idx="30">
                  <c:v>1.4763173349251039E-4</c:v>
                </c:pt>
                <c:pt idx="31">
                  <c:v>1.1987230161237237E-4</c:v>
                </c:pt>
                <c:pt idx="32">
                  <c:v>9.4887723624298165E-5</c:v>
                </c:pt>
                <c:pt idx="33">
                  <c:v>7.2858013985211968E-5</c:v>
                </c:pt>
                <c:pt idx="34">
                  <c:v>5.3941897257872877E-5</c:v>
                </c:pt>
                <c:pt idx="35">
                  <c:v>3.8275664496763314E-5</c:v>
                </c:pt>
                <c:pt idx="36">
                  <c:v>2.5972191267918057E-5</c:v>
                </c:pt>
                <c:pt idx="37">
                  <c:v>1.7120124377884313E-5</c:v>
                </c:pt>
                <c:pt idx="38">
                  <c:v>1.1783243171449372E-5</c:v>
                </c:pt>
                <c:pt idx="39">
                  <c:v>1.0000000000000001E-5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82CB-4A8E-A9AB-B6BD303B975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  <a:endParaRPr lang="zh-CN"/>
          </a:p>
        </c:txPr>
        <c:crossAx val="2140495176"/>
        <c:crosses val="autoZero"/>
        <c:auto val="1"/>
        <c:lblAlgn val="ctr"/>
        <c:lblOffset val="100"/>
        <c:tickLblSkip val="10"/>
        <c:noMultiLvlLbl val="0"/>
      </c:catAx>
      <c:valAx>
        <c:axId val="2140495176"/>
        <c:scaling>
          <c:orientation val="minMax"/>
          <c:max val="1.25E-3"/>
          <c:min val="0"/>
        </c:scaling>
        <c:delete val="0"/>
        <c:axPos val="l"/>
        <c:majorGridlines/>
        <c:numFmt formatCode="0.0000" sourceLinked="0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  <a:endParaRPr lang="zh-CN"/>
          </a:p>
        </c:txPr>
        <c:crossAx val="2118791784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1000"/>
          </a:pPr>
          <a:endParaRPr lang="zh-CN"/>
        </a:p>
      </c:txPr>
    </c:legend>
    <c:plotVisOnly val="1"/>
    <c:dispBlanksAs val="gap"/>
    <c:showDLblsOverMax val="0"/>
  </c:chart>
  <c:txPr>
    <a:bodyPr/>
    <a:lstStyle/>
    <a:p>
      <a:pPr>
        <a:defRPr sz="1000">
          <a:solidFill>
            <a:srgbClr val="1E2D41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1"/>
  <c:style val="10"/>
  <c:chart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融合前</c:v>
                </c:pt>
              </c:strCache>
            </c:strRef>
          </c:tx>
          <c:spPr>
            <a:solidFill>
              <a:srgbClr val="218EBC"/>
            </a:solidFill>
            <a:ln w="20320">
              <a:solidFill>
                <a:srgbClr val="218EBC"/>
              </a:solidFill>
            </a:ln>
          </c:spPr>
          <c:invertIfNegative val="1"/>
          <c:cat>
            <c:strRef>
              <c:f>Sheet1!$A$2:$A$3</c:f>
              <c:strCache>
                <c:ptCount val="2"/>
                <c:pt idx="0">
                  <c:v>BatchNorm</c:v>
                </c:pt>
                <c:pt idx="1">
                  <c:v>Conv2d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107</c:v>
                </c:pt>
                <c:pt idx="1">
                  <c:v>126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 w="20320">
                    <a:solidFill>
                      <a:srgbClr val="218EBC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FE85-47BD-A7BB-8304FA783F42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融合后</c:v>
                </c:pt>
              </c:strCache>
            </c:strRef>
          </c:tx>
          <c:spPr>
            <a:solidFill>
              <a:srgbClr val="EB9951"/>
            </a:solidFill>
            <a:ln w="20320">
              <a:solidFill>
                <a:srgbClr val="EB9951"/>
              </a:solidFill>
            </a:ln>
          </c:spPr>
          <c:invertIfNegative val="1"/>
          <c:cat>
            <c:strRef>
              <c:f>Sheet1!$A$2:$A$3</c:f>
              <c:strCache>
                <c:ptCount val="2"/>
                <c:pt idx="0">
                  <c:v>BatchNorm</c:v>
                </c:pt>
                <c:pt idx="1">
                  <c:v>Conv2d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0</c:v>
                </c:pt>
                <c:pt idx="1">
                  <c:v>103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 w="20320">
                    <a:solidFill>
                      <a:srgbClr val="EB9951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FE85-47BD-A7BB-8304FA783F4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  <a:endParaRPr lang="zh-CN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150"/>
          <c:min val="0"/>
        </c:scaling>
        <c:delete val="0"/>
        <c:axPos val="l"/>
        <c:majorGridlines/>
        <c:numFmt formatCode="0" sourceLinked="0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  <a:endParaRPr lang="zh-CN"/>
          </a:p>
        </c:txPr>
        <c:crossAx val="-2068027336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1000"/>
          </a:pPr>
          <a:endParaRPr lang="zh-CN"/>
        </a:p>
      </c:txPr>
    </c:legend>
    <c:plotVisOnly val="1"/>
    <c:dispBlanksAs val="gap"/>
    <c:showDLblsOverMax val="1"/>
  </c:chart>
  <c:txPr>
    <a:bodyPr/>
    <a:lstStyle/>
    <a:p>
      <a:pPr>
        <a:defRPr sz="1000">
          <a:solidFill>
            <a:srgbClr val="1E2D41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1"/>
  <c:style val="10"/>
  <c:chart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P50</c:v>
                </c:pt>
              </c:strCache>
            </c:strRef>
          </c:tx>
          <c:spPr>
            <a:solidFill>
              <a:srgbClr val="218EBC"/>
            </a:solidFill>
            <a:ln w="20320">
              <a:solidFill>
                <a:srgbClr val="218EBC"/>
              </a:solidFill>
            </a:ln>
          </c:spPr>
          <c:invertIfNegative val="1"/>
          <c:cat>
            <c:strRef>
              <c:f>Sheet1!$A$2:$A$7</c:f>
              <c:strCache>
                <c:ptCount val="6"/>
                <c:pt idx="0">
                  <c:v>M0.9</c:v>
                </c:pt>
                <c:pt idx="1">
                  <c:v>M0.9-Pet37</c:v>
                </c:pt>
                <c:pt idx="2">
                  <c:v>M1.0</c:v>
                </c:pt>
                <c:pt idx="3">
                  <c:v>M1.1</c:v>
                </c:pt>
                <c:pt idx="4">
                  <c:v>M1.5</c:v>
                </c:pt>
                <c:pt idx="5">
                  <c:v>M2.3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7.6840000000000002</c:v>
                </c:pt>
                <c:pt idx="1">
                  <c:v>7.5549999999999997</c:v>
                </c:pt>
                <c:pt idx="2">
                  <c:v>10.404</c:v>
                </c:pt>
                <c:pt idx="3">
                  <c:v>10.929</c:v>
                </c:pt>
                <c:pt idx="4">
                  <c:v>18.437000000000001</c:v>
                </c:pt>
                <c:pt idx="5">
                  <c:v>34.409999999999997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 w="20320">
                    <a:solidFill>
                      <a:srgbClr val="218EBC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435D-4A6F-807D-69679F274A6A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P95</c:v>
                </c:pt>
              </c:strCache>
            </c:strRef>
          </c:tx>
          <c:spPr>
            <a:solidFill>
              <a:srgbClr val="EB9951"/>
            </a:solidFill>
            <a:ln w="20320">
              <a:solidFill>
                <a:srgbClr val="EB9951"/>
              </a:solidFill>
            </a:ln>
          </c:spPr>
          <c:invertIfNegative val="1"/>
          <c:cat>
            <c:strRef>
              <c:f>Sheet1!$A$2:$A$7</c:f>
              <c:strCache>
                <c:ptCount val="6"/>
                <c:pt idx="0">
                  <c:v>M0.9</c:v>
                </c:pt>
                <c:pt idx="1">
                  <c:v>M0.9-Pet37</c:v>
                </c:pt>
                <c:pt idx="2">
                  <c:v>M1.0</c:v>
                </c:pt>
                <c:pt idx="3">
                  <c:v>M1.1</c:v>
                </c:pt>
                <c:pt idx="4">
                  <c:v>M1.5</c:v>
                </c:pt>
                <c:pt idx="5">
                  <c:v>M2.3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8.4879999999999995</c:v>
                </c:pt>
                <c:pt idx="1">
                  <c:v>8.16</c:v>
                </c:pt>
                <c:pt idx="2">
                  <c:v>11.37</c:v>
                </c:pt>
                <c:pt idx="3">
                  <c:v>11.993</c:v>
                </c:pt>
                <c:pt idx="4">
                  <c:v>19.756</c:v>
                </c:pt>
                <c:pt idx="5">
                  <c:v>35.479999999999997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 w="20320">
                    <a:solidFill>
                      <a:srgbClr val="EB9951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435D-4A6F-807D-69679F274A6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  <a:endParaRPr lang="zh-CN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40"/>
          <c:min val="0"/>
        </c:scaling>
        <c:delete val="0"/>
        <c:axPos val="l"/>
        <c:majorGridlines/>
        <c:numFmt formatCode="0" sourceLinked="0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  <a:endParaRPr lang="zh-CN"/>
          </a:p>
        </c:txPr>
        <c:crossAx val="-2068027336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1000"/>
          </a:pPr>
          <a:endParaRPr lang="zh-CN"/>
        </a:p>
      </c:txPr>
    </c:legend>
    <c:plotVisOnly val="1"/>
    <c:dispBlanksAs val="gap"/>
    <c:showDLblsOverMax val="1"/>
  </c:chart>
  <c:txPr>
    <a:bodyPr/>
    <a:lstStyle/>
    <a:p>
      <a:pPr>
        <a:defRPr sz="1000">
          <a:solidFill>
            <a:srgbClr val="1E2D41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zh-CN"/>
  <c:roundedCorners val="1"/>
  <c:style val="2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M0.9</c:v>
                </c:pt>
              </c:strCache>
            </c:strRef>
          </c:tx>
          <c:spPr>
            <a:ln w="47625">
              <a:noFill/>
            </a:ln>
          </c:spPr>
          <c:marker>
            <c:symbol val="circle"/>
            <c:size val="10"/>
          </c:marker>
          <c:xVal>
            <c:numRef>
              <c:f>Sheet1!$A$2:$A$2</c:f>
              <c:numCache>
                <c:formatCode>General</c:formatCode>
                <c:ptCount val="1"/>
                <c:pt idx="0">
                  <c:v>7.6840000000000002</c:v>
                </c:pt>
              </c:numCache>
            </c:numRef>
          </c:xVal>
          <c:yVal>
            <c:numRef>
              <c:f>Sheet1!$B$2:$B$2</c:f>
              <c:numCache>
                <c:formatCode>General</c:formatCode>
                <c:ptCount val="1"/>
                <c:pt idx="0">
                  <c:v>68.7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DC4C-4264-BAA1-EE14ED3B37D9}"/>
            </c:ext>
          </c:extLst>
        </c:ser>
        <c:ser>
          <c:idx val="1"/>
          <c:order val="1"/>
          <c:tx>
            <c:strRef>
              <c:f>Sheet1!$B$4</c:f>
              <c:strCache>
                <c:ptCount val="1"/>
                <c:pt idx="0">
                  <c:v>M1.0</c:v>
                </c:pt>
              </c:strCache>
            </c:strRef>
          </c:tx>
          <c:spPr>
            <a:ln w="47625">
              <a:noFill/>
            </a:ln>
          </c:spPr>
          <c:marker>
            <c:symbol val="circle"/>
            <c:size val="10"/>
          </c:marker>
          <c:xVal>
            <c:numRef>
              <c:f>Sheet1!$A$5:$A$5</c:f>
              <c:numCache>
                <c:formatCode>General</c:formatCode>
                <c:ptCount val="1"/>
                <c:pt idx="0">
                  <c:v>10.404</c:v>
                </c:pt>
              </c:numCache>
            </c:numRef>
          </c:xVal>
          <c:yVal>
            <c:numRef>
              <c:f>Sheet1!$B$5:$B$5</c:f>
              <c:numCache>
                <c:formatCode>General</c:formatCode>
                <c:ptCount val="1"/>
                <c:pt idx="0">
                  <c:v>69.2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1-DC4C-4264-BAA1-EE14ED3B37D9}"/>
            </c:ext>
          </c:extLst>
        </c:ser>
        <c:ser>
          <c:idx val="2"/>
          <c:order val="2"/>
          <c:tx>
            <c:strRef>
              <c:f>Sheet1!$B$7</c:f>
              <c:strCache>
                <c:ptCount val="1"/>
                <c:pt idx="0">
                  <c:v>M1.1</c:v>
                </c:pt>
              </c:strCache>
            </c:strRef>
          </c:tx>
          <c:spPr>
            <a:ln w="47625">
              <a:noFill/>
            </a:ln>
          </c:spPr>
          <c:marker>
            <c:symbol val="circle"/>
            <c:size val="10"/>
          </c:marker>
          <c:xVal>
            <c:numRef>
              <c:f>Sheet1!$A$8:$A$8</c:f>
              <c:numCache>
                <c:formatCode>General</c:formatCode>
                <c:ptCount val="1"/>
                <c:pt idx="0">
                  <c:v>10.929</c:v>
                </c:pt>
              </c:numCache>
            </c:numRef>
          </c:xVal>
          <c:yVal>
            <c:numRef>
              <c:f>Sheet1!$B$8:$B$8</c:f>
              <c:numCache>
                <c:formatCode>General</c:formatCode>
                <c:ptCount val="1"/>
                <c:pt idx="0">
                  <c:v>70.8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2-DC4C-4264-BAA1-EE14ED3B37D9}"/>
            </c:ext>
          </c:extLst>
        </c:ser>
        <c:ser>
          <c:idx val="3"/>
          <c:order val="3"/>
          <c:tx>
            <c:strRef>
              <c:f>Sheet1!$B$10</c:f>
              <c:strCache>
                <c:ptCount val="1"/>
                <c:pt idx="0">
                  <c:v>M1.5</c:v>
                </c:pt>
              </c:strCache>
            </c:strRef>
          </c:tx>
          <c:spPr>
            <a:ln w="47625">
              <a:noFill/>
            </a:ln>
          </c:spPr>
          <c:marker>
            <c:symbol val="circle"/>
            <c:size val="10"/>
          </c:marker>
          <c:xVal>
            <c:numRef>
              <c:f>Sheet1!$A$11:$A$11</c:f>
              <c:numCache>
                <c:formatCode>General</c:formatCode>
                <c:ptCount val="1"/>
                <c:pt idx="0">
                  <c:v>18.437000000000001</c:v>
                </c:pt>
              </c:numCache>
            </c:numRef>
          </c:xVal>
          <c:yVal>
            <c:numRef>
              <c:f>Sheet1!$B$11:$B$11</c:f>
              <c:numCache>
                <c:formatCode>General</c:formatCode>
                <c:ptCount val="1"/>
                <c:pt idx="0">
                  <c:v>71.400000000000006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3-DC4C-4264-BAA1-EE14ED3B37D9}"/>
            </c:ext>
          </c:extLst>
        </c:ser>
        <c:ser>
          <c:idx val="4"/>
          <c:order val="4"/>
          <c:tx>
            <c:strRef>
              <c:f>Sheet1!$B$13</c:f>
              <c:strCache>
                <c:ptCount val="1"/>
                <c:pt idx="0">
                  <c:v>M2.3</c:v>
                </c:pt>
              </c:strCache>
            </c:strRef>
          </c:tx>
          <c:spPr>
            <a:ln w="47625">
              <a:noFill/>
            </a:ln>
          </c:spPr>
          <c:marker>
            <c:symbol val="circle"/>
            <c:size val="10"/>
          </c:marker>
          <c:xVal>
            <c:numRef>
              <c:f>Sheet1!$A$14:$A$14</c:f>
              <c:numCache>
                <c:formatCode>General</c:formatCode>
                <c:ptCount val="1"/>
                <c:pt idx="0">
                  <c:v>34.409999999999997</c:v>
                </c:pt>
              </c:numCache>
            </c:numRef>
          </c:xVal>
          <c:yVal>
            <c:numRef>
              <c:f>Sheet1!$B$14:$B$14</c:f>
              <c:numCache>
                <c:formatCode>General</c:formatCode>
                <c:ptCount val="1"/>
                <c:pt idx="0">
                  <c:v>73.599999999999994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4-DC4C-4264-BAA1-EE14ED3B37D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28940872"/>
        <c:axId val="-2129643912"/>
      </c:scatterChart>
      <c:valAx>
        <c:axId val="-2128940872"/>
        <c:scaling>
          <c:orientation val="minMax"/>
          <c:max val="40"/>
          <c:min val="0"/>
        </c:scaling>
        <c:delete val="0"/>
        <c:axPos val="b"/>
        <c:title>
          <c:tx>
            <c:rich>
              <a:bodyPr/>
              <a:lstStyle/>
              <a:p>
                <a:r>
                  <a:t>P50 (ms)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nextTo"/>
        <c:crossAx val="-2129643912"/>
        <c:crosses val="autoZero"/>
        <c:crossBetween val="midCat"/>
      </c:valAx>
      <c:valAx>
        <c:axId val="-2129643912"/>
        <c:scaling>
          <c:orientation val="minMax"/>
          <c:max val="74"/>
          <c:min val="68"/>
        </c:scaling>
        <c:delete val="0"/>
        <c:axPos val="l"/>
        <c:majorGridlines/>
        <c:title>
          <c:tx>
            <c:rich>
              <a:bodyPr/>
              <a:lstStyle/>
              <a:p>
                <a:r>
                  <a:t>Top-1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nextTo"/>
        <c:crossAx val="-2128940872"/>
        <c:crosses val="autoZero"/>
        <c:crossBetween val="midCat"/>
      </c:valAx>
    </c:plotArea>
    <c:legend>
      <c:legendPos val="b"/>
      <c:overlay val="0"/>
      <c:txPr>
        <a:bodyPr/>
        <a:lstStyle/>
        <a:p>
          <a:pPr>
            <a:defRPr sz="1100"/>
          </a:pPr>
          <a:endParaRPr lang="zh-CN"/>
        </a:p>
      </c:txPr>
    </c:legend>
    <c:plotVisOnly val="1"/>
    <c:dispBlanksAs val="gap"/>
    <c:showDLblsOverMax val="0"/>
  </c:chart>
  <c:txPr>
    <a:bodyPr/>
    <a:lstStyle/>
    <a:p>
      <a:pPr>
        <a:defRPr sz="1100"/>
      </a:pPr>
      <a:endParaRPr lang="en-US"/>
    </a:p>
  </c:tx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754585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封面数字的口径：68.70% = ImageNetV2 matched-frequency 固定子集 1000 张（PyTorch 2.14.0+cu126 / CUDA / batch 64；与 ImageNet-1K 公布值不可比）；92.34% = Pet-37 test 3669 张（Baseline 的 test 只评价 1 次，eval_count=1）；7.093e-06 = 结构重参数化 B4（32 个固定随机输入，outputs/reparam/repvit_m0_9_pet37_reparam_report.json）；100% = PyTorch↔ONNX B1（Pet-37 前 12 张真实图片）。重参数化误差与 ONNX 一致率是两批实验，不并成一句结论。</a:t>
            </a:r>
          </a:p>
          <a:p>
            <a:r>
              <a:t>逐条依据与桶分级见 report/LOGITS_AUDIT_FINDINGS.md 第 1 节。</a:t>
            </a:r>
          </a:p>
          <a:p>
            <a:r>
              <a:t>口径纪律：ImageNetV2 是 Recht et al. 2019 独立重采样的测试集，其准确率与论文/官方公布的 ImageNet-1K 数值不可直接比较（低 10~15 个点是基准性质）。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六个环节卡片对应试题基础任务 1–6 的交付物；卡片里每行末尾是落盘路径。</a:t>
            </a:r>
          </a:p>
          <a:p>
            <a:r>
              <a:t>口径边界（试题第 16–17 页要求区分：论文 / 官方仓库 / 官方权重实跑 / 自训 Baseline / 优化模型 / PyTorch / ONNX）：卡片 01 是官方权重实跑，02/03/05 是自训结果，05 是 PyTorch 侧重参数化，06 是 ONNX 部署与性能。</a:t>
            </a:r>
          </a:p>
          <a:p>
            <a:r>
              <a:t>ONNX 一致性只有入库的 5 个型号（M0.9-Pet37 / M0.9 / M1.0 / M1.1 / M1.5）各 12 张的落盘 JSON，其余型号不做一致性声明（不含 5.25e-06 旧引用，该值无配套产物）。</a:t>
            </a:r>
          </a:p>
          <a:p>
            <a:r>
              <a:t>test 评价次数：Baseline 的 test 只评价 1 次；4 个优化臂跨重跑累计为 2 次，模型选择始终只用验证集 val_macro_f1，两次结果均落盘可查。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【本页是合并页】试题第 16–17 页建议结构的「环节 2 RepViT 核心结构」与「环节 3 为什么 RepViT 不是标准 ViT」合并到同一页：左栏 = 环节 2，右栏 = 环节 3。合并原因：PPT 需控制在 15 页内，同时新增第 11 页「预测结果」承载试题第 10 页的三条可视化硬要求（≥8 张测试集预测 / ≥4 张同图对比 / ≥5 张训练集外实际图片）。</a:t>
            </a:r>
          </a:p>
          <a:p>
            <a:r>
              <a:t>题干 15 个建议环节的落点：1 题目与任务完成情况→P01–P02；2 RepViT 核心结构→P03 左栏；3 为什么不是标准 ViT→P03 右栏；4 官方多型号评价→P04；5 数据集和训练流程→P05；6 Baseline 结果→P06；7 优化假设与控制变量→P07；8 曲线和定量结果→P08；9 混淆矩阵与失败案例→P09；10 Grad-CAM 结果→P10；11 结构重参数化→P12；12 ONNX 多模型部署→P13；13 性能比较→P14；14 遇到的问题→P15；15 总结→P15。（P11 为新增页，对应试题第 10 页「必须提供的结果」里的预测可视化三条。）</a:t>
            </a:r>
          </a:p>
          <a:p>
            <a:r>
              <a:t>数据来源：python tools/draw_arch.py → outputs/architecture/repvit_m0_9_arch.png / .md；ONNX 算子直方图见 outputs/reparam/repvit_m0_9_onnx_nodes.json。形状由 forward hook 现测，非论文插图。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复跑：python tools/run_all_pretrained.py --cfg configs/pretrained_eval.yaml --model repvit_m0_9 repvit_m1_0 repvit_m1_1 repvit_m1_5 repvit_m2_3</a:t>
            </a:r>
          </a:p>
          <a:p>
            <a:r>
              <a:t>元信息：模型 5 个官方型号；输入 224×224；batch 64；硬件 NVIDIA GeForce RTX 4060 Laptop GPU；后端 PyTorch 2.14.0+cu126（CUDA）；精度 FP32；每型号评价次数 1 次（1000 张）。</a:t>
            </a:r>
          </a:p>
          <a:p>
            <a:r>
              <a:t>口径纪律：ImageNetV2 是 Recht et al. 2019 独立重采样的测试集，其准确率与 ImageNet-1K 的公布值不可直接比较（预期低 10~15 个点是基准性质，不是模型退化）；因此本页只报本机实测，不做跨数据集并列或差值。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python tools/plot_curves.py --runs baseline=outputs/logs/baseline_metrics.csv opt_combo=outputs/logs/opt_combo_metrics.csv --out outputs/curves/opt_compare.png</a:t>
            </a:r>
          </a:p>
          <a:p>
            <a:r>
              <a:t>元信息：模型 RepViT-M0.9（timm 实现，num_classes=37）；输入 224×224；训练 batch 64 / 评价 batch 128；硬件 RTX 4060 Laptop GPU（CUDA 12.6）；推理后端 PyTorch 2.14.0+cu126；精度 bf16 autocast（评价 FP32）；测试集 3669 张，评价次数 Baseline=1、组合=2（落盘 eval_count）。</a:t>
            </a:r>
          </a:p>
          <a:p>
            <a:r>
              <a:t>曲线直接来自 CSV；epoch 从 0 开始。Mixup/CutMix、Label Smoothing 影响 train loss，不直接把训练损失高低当作泛化优劣。</a:t>
            </a:r>
          </a:p>
          <a:p>
            <a:r>
              <a:t>单种子、同一测试集上的小差异不能证明统计显著或稳定提升。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python tools/check_cm.py --pred-csv outputs/predictions/baseline_test_preds.csv --classes labels/pet_classes.txt --out-dir outputs/confusion_matrix</a:t>
            </a:r>
          </a:p>
          <a:p>
            <a:r>
              <a:t>左图按真实类别逐行归一化；中间柱状图是 37 类的每类 F1（数据源 outputs/confusion_matrix/baseline_per_class.csv）。</a:t>
            </a:r>
          </a:p>
          <a:p>
            <a:r>
              <a:t>正确的案例见第 11 页（8 张测试集预测）与第 10 页 Grad-CAM；本页只保留 2 个典型失败案例，不回避失败。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python tools/gradcam.py --help</a:t>
            </a:r>
          </a:p>
          <a:p>
            <a:r>
              <a:t>挂载点与原始图生成配置见 outputs/gradcam/ 下的 JSON。</a:t>
            </a:r>
          </a:p>
          <a:p>
            <a:r>
              <a:t>外部实拍样本来自 ImageNet 跨集合图片，8/8 判对只是小样本观察，不能证明跨域泛化或没有过拟合。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本页三个面板的出图命令：</a:t>
            </a:r>
          </a:p>
          <a:p>
            <a:r>
              <a:t>python tools/plot_predictions.py --pred-csv outputs/predictions/baseline_test_preds.csv --classes labels/pet_classes.txt --num 8 --cols 4 --out outputs/predictions/test_top5_baseline_grid8.png --tag baseline</a:t>
            </a:r>
          </a:p>
          <a:p>
            <a:r>
              <a:t>python tools/plot_side_by_side.py --pred-csv-a outputs/predictions/baseline_test_preds.csv --pred-csv-b outputs/predictions/opt_combo_test_preds.csv --name-a baseline --name-b opt_combo --num 4 --out outputs/predictions/compare_baseline_vs_opt_combo_grid4.png</a:t>
            </a:r>
          </a:p>
          <a:p>
            <a:r>
              <a:t>python tools/predict_external.py --model repvit_m0_9_pet37 --dir external --num 8  → outputs/benchmarks/external_top5_repvit_m0_9_pet37.csv</a:t>
            </a:r>
          </a:p>
          <a:p>
            <a:r>
              <a:t>python tools/plot_predictions.py --images external/*.JPEG --pred-csv outputs/benchmarks/external_top5_repvit_m0_9_pet37.csv --num 5 --out outputs/predictions/external_top5_pet37_grid5.png --tag pet37</a:t>
            </a:r>
          </a:p>
          <a:p>
            <a:r>
              <a:t>数据源：outputs/predictions/baseline_test_preds.csv（3669 行）、baseline_vs_opt_combo_predict_compare.json、pet_compare_ids.json、outputs/benchmarks/external_top5_repvit_m0_9_pet37.csv、distribution_compare_summary.csv。</a:t>
            </a:r>
          </a:p>
          <a:p>
            <a:r>
              <a:t>同图对比按 image_id 做 inner join（不能按行号对齐）；外部图片没有 GT，只看 Top-5 与置信度。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python tools/reparam_verify.py --model repvit_m0_9_pet37 --weights checkpoints/baseline_best.pt --num-samples 32 --batch-size 8 --seed 20240912 --skip-onnx --out-dir outputs/verification/reparam_pet37</a:t>
            </a:r>
          </a:p>
          <a:p>
            <a:r>
              <a:t>元信息：模型 RepViT-M0.9（num_classes=37）；输入 1×3×224×224；batch 8；n=32 个 torch.randn 固定输入（seed=20240912）；硬件 i7-13650HX / Windows 11；后端 PyTorch 2.14.0+cu126（CPU 侧 FP32 对比）；1 次完整对比。</a:t>
            </a:r>
          </a:p>
          <a:p>
            <a:r>
              <a:t>max_abs_err=7.092952728271484e-06；mean_abs_err=2.030726818702533e-06。32 个输入是 torch.randn，不是真实测试图片。</a:t>
            </a:r>
          </a:p>
          <a:p>
            <a:r>
              <a:t>权重 missing=0 / unexpected=0。BN 模块 107→0；ONNX 图的 BN 节点 24→0 是另一种统计，不可混用。</a:t>
            </a:r>
          </a:p>
          <a:p>
            <a:r>
              <a:t>历史官方 C=1000 报告存在权重键不匹配，不纳入结论；见 report/LOGITS_AUDIT.md。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python deploy/compare_torch_onnx.py --model repvit_m0_9_pet37 --images datasets/lists/pet_test.txt --limit 12 --out outputs/verification/consistency_repvit_m0_9_pet37_n12.json</a:t>
            </a:r>
          </a:p>
          <a:p>
            <a:r>
              <a:t>元信息：输入 1×3×224×224；batch 1；硬件 i7-13650HX / Windows 11；后端 ONNX Runtime 1.30.0 CPUExecutionProvider；精度 FP32；入库的 5 个型号各 12 张真实图片、每张只跑一次。</a:t>
            </a:r>
          </a:p>
          <a:p>
            <a:r>
              <a:t>Pet-37 与 ImageNet 型号各自按固定列表顺序取前 12 张（图片列表从落盘 JSON 的 images 字段现读：imagenetv2_mf_1000.txt / pet_test.txt）；每张预处理一次，同一 numpy 张量送入两端。</a:t>
            </a:r>
          </a:p>
          <a:p>
            <a:r>
              <a:t>max=6.198883056640625e-06；mean=1.5006899711048998e-06；Top-1/Top-5 集合均 1.0（Pet-37）。</a:t>
            </a:r>
          </a:p>
          <a:p>
            <a:r>
              <a:t>5.25e-06 是未找到对应完整产物的旧引用；旧命令写 limit=8 不能证明该值来自 n=8。当前权重跑 n=8 也不能复现旧值。</a:t>
            </a:r>
          </a:p>
          <a:p>
            <a:r>
              <a:t>不是全测试集一致率，不验证两套预处理独立实现等价，也不能排除所有部署错误；只有入库的 5 个型号各 12 张，不代表全部六个 ONNX 型号（M2.3 因体积未入库，只做导出检查与性能结果）。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python deploy/benchmark.py --model repvit_m0_9_in1k --model repvit_m0_9_pet37 --model repvit_m1_0_in1k --model repvit_m1_1_in1k --model repvit_m1_5_in1k --model repvit_m2_3_in1k --warmup 10 --runs 50 --threads 4 --out-dir outputs/verification/benchmarks</a:t>
            </a:r>
          </a:p>
          <a:p>
            <a:r>
              <a:t>元信息：6 个 ONNX 模型（M0.9 / M0.9-Pet37 / M1.0 / M1.1 / M1.5 / M2.3）；输入 1×3×224×224；batch 1；硬件 13th Gen Intel(R) Core(TM) i7-13650HX / Windows-11-10.0.26200-SP0；后端 ONNX Runtime 1.30.0 CPUExecutionProvider；精度 FP32；每个模型预热 10 次 + 正式 50 次（threads=4）。</a:t>
            </a:r>
          </a:p>
          <a:p>
            <a:r>
              <a:t>左图含六个部署模型，只比速度；右图只放 ImageNetV2 固定子集的五个官方型号（准确率来自 PyTorch，延迟来自 ONNX Runtime CPU）。</a:t>
            </a:r>
          </a:p>
          <a:p>
            <a:r>
              <a:t>P50 区间（同一台机器 / ORT CPU）：官方预训练型号 7.68（M0.9） ~ 34.41（M2.3）ms；把自训练 Pet-37 也算进来时最小 7.55 ms。</a:t>
            </a:r>
          </a:p>
          <a:p>
            <a:r>
              <a:t>官方 iPhone 延迟与本机 CPU 延迟不可直接比较。性能数据是历史落盘值，现场新测会有波动。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repvit-defense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repvit-defense —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7" Type="http://schemas.openxmlformats.org/officeDocument/2006/relationships/chart" Target="../charts/chart5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chart" Target="../charts/chart4.xml"/><Relationship Id="rId5" Type="http://schemas.openxmlformats.org/officeDocument/2006/relationships/chart" Target="../charts/chart3.xml"/><Relationship Id="rId4" Type="http://schemas.openxmlformats.org/officeDocument/2006/relationships/chart" Target="../charts/char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6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7.xm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8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2" name="Line 2"/>
            <p:cNvSpPr/>
            <p:nvPr/>
          </p:nvSpPr>
          <p:spPr>
            <a:xfrm>
              <a:off x="0" y="1714500"/>
              <a:ext cx="12192000" cy="9525"/>
            </a:xfrm>
            <a:custGeom>
              <a:avLst/>
              <a:gdLst/>
              <a:ahLst/>
              <a:cxnLst/>
              <a:rect l="l" t="t" r="r" b="b"/>
              <a:pathLst>
                <a:path w="12192000" h="9525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w="9525">
              <a:solidFill>
                <a:srgbClr val="16233A"/>
              </a:solidFill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" name="Line 3"/>
            <p:cNvSpPr/>
            <p:nvPr/>
          </p:nvSpPr>
          <p:spPr>
            <a:xfrm>
              <a:off x="0" y="5143500"/>
              <a:ext cx="12192000" cy="9525"/>
            </a:xfrm>
            <a:custGeom>
              <a:avLst/>
              <a:gdLst/>
              <a:ahLst/>
              <a:cxnLst/>
              <a:rect l="l" t="t" r="r" b="b"/>
              <a:pathLst>
                <a:path w="12192000" h="9525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w="9525">
              <a:solidFill>
                <a:srgbClr val="16233A"/>
              </a:solidFill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" name="Line 4"/>
            <p:cNvSpPr/>
            <p:nvPr/>
          </p:nvSpPr>
          <p:spPr>
            <a:xfrm>
              <a:off x="9334500" y="0"/>
              <a:ext cx="9525" cy="6858000"/>
            </a:xfrm>
            <a:custGeom>
              <a:avLst/>
              <a:gdLst/>
              <a:ahLst/>
              <a:cxnLst/>
              <a:rect l="l" t="t" r="r" b="b"/>
              <a:pathLst>
                <a:path w="9525" h="685800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w="9525">
              <a:solidFill>
                <a:srgbClr val="16233A"/>
              </a:solidFill>
            </a:ln>
          </p:spPr>
          <p:txBody>
            <a:bodyPr/>
            <a:lstStyle/>
            <a:p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9448800" y="381000"/>
            <a:ext cx="2438400" cy="2438400"/>
            <a:chOff x="9448800" y="381000"/>
            <a:chExt cx="2438400" cy="2438400"/>
          </a:xfrm>
        </p:grpSpPr>
        <p:sp>
          <p:nvSpPr>
            <p:cNvPr id="6" name="Ellipse 6"/>
            <p:cNvSpPr/>
            <p:nvPr/>
          </p:nvSpPr>
          <p:spPr>
            <a:xfrm>
              <a:off x="9448800" y="381000"/>
              <a:ext cx="2438400" cy="2438400"/>
            </a:xfrm>
            <a:prstGeom prst="ellipse">
              <a:avLst/>
            </a:prstGeom>
            <a:noFill/>
            <a:ln w="19050">
              <a:solidFill>
                <a:srgbClr val="1E3050"/>
              </a:solidFill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" name="Ellipse 7"/>
            <p:cNvSpPr/>
            <p:nvPr/>
          </p:nvSpPr>
          <p:spPr>
            <a:xfrm>
              <a:off x="9848850" y="781050"/>
              <a:ext cx="1638300" cy="1638300"/>
            </a:xfrm>
            <a:prstGeom prst="ellipse">
              <a:avLst/>
            </a:prstGeom>
            <a:noFill/>
            <a:ln w="19050">
              <a:solidFill>
                <a:srgbClr val="24406B"/>
              </a:solidFill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" name="Ellipse 8"/>
            <p:cNvSpPr/>
            <p:nvPr/>
          </p:nvSpPr>
          <p:spPr>
            <a:xfrm>
              <a:off x="10534650" y="1466850"/>
              <a:ext cx="266700" cy="266700"/>
            </a:xfrm>
            <a:prstGeom prst="ellipse">
              <a:avLst/>
            </a:prstGeom>
            <a:solidFill>
              <a:srgbClr val="35D0F0"/>
            </a:soli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" name="Line 9"/>
            <p:cNvSpPr/>
            <p:nvPr/>
          </p:nvSpPr>
          <p:spPr>
            <a:xfrm>
              <a:off x="9448800" y="1600200"/>
              <a:ext cx="2438400" cy="9525"/>
            </a:xfrm>
            <a:custGeom>
              <a:avLst/>
              <a:gdLst/>
              <a:ahLst/>
              <a:cxnLst/>
              <a:rect l="l" t="t" r="r" b="b"/>
              <a:pathLst>
                <a:path w="2438400" h="9525">
                  <a:moveTo>
                    <a:pt x="0" y="0"/>
                  </a:moveTo>
                  <a:lnTo>
                    <a:pt x="2438400" y="0"/>
                  </a:lnTo>
                </a:path>
              </a:pathLst>
            </a:custGeom>
            <a:noFill/>
            <a:ln w="19050">
              <a:solidFill>
                <a:srgbClr val="2A4A78"/>
              </a:solidFill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" name="Line 10"/>
            <p:cNvSpPr/>
            <p:nvPr/>
          </p:nvSpPr>
          <p:spPr>
            <a:xfrm>
              <a:off x="10668000" y="381000"/>
              <a:ext cx="9525" cy="2438400"/>
            </a:xfrm>
            <a:custGeom>
              <a:avLst/>
              <a:gdLst/>
              <a:ahLst/>
              <a:cxnLst/>
              <a:rect l="l" t="t" r="r" b="b"/>
              <a:pathLst>
                <a:path w="9525" h="2438400">
                  <a:moveTo>
                    <a:pt x="0" y="0"/>
                  </a:moveTo>
                  <a:lnTo>
                    <a:pt x="0" y="2438400"/>
                  </a:lnTo>
                </a:path>
              </a:pathLst>
            </a:custGeom>
            <a:noFill/>
            <a:ln w="19050">
              <a:solidFill>
                <a:srgbClr val="2A4A78"/>
              </a:solidFill>
            </a:ln>
          </p:spPr>
          <p:txBody>
            <a:bodyPr/>
            <a:lstStyle/>
            <a:p>
              <a:endParaRPr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896874" y="1299210"/>
            <a:ext cx="7256526" cy="1860613"/>
            <a:chOff x="896874" y="1299210"/>
            <a:chExt cx="7256526" cy="1860613"/>
          </a:xfrm>
        </p:grpSpPr>
        <p:sp>
          <p:nvSpPr>
            <p:cNvPr id="12" name="TextBox 12"/>
            <p:cNvSpPr txBox="1"/>
            <p:nvPr/>
          </p:nvSpPr>
          <p:spPr>
            <a:xfrm>
              <a:off x="908304" y="1299210"/>
              <a:ext cx="259043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b="1" spc="300" dirty="0">
                  <a:solidFill>
                    <a:srgbClr val="35D0F0"/>
                  </a:solidFill>
                  <a:latin typeface="Consolas"/>
                  <a:ea typeface="Consolas"/>
                  <a:cs typeface="Consolas"/>
                </a:rPr>
                <a:t>REPVIT REPRODUCTION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896874" y="1894522"/>
              <a:ext cx="5256705" cy="126530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4650"/>
                </a:lnSpc>
              </a:pPr>
              <a:r>
                <a:rPr lang="zh-CN" sz="3450" b="1" dirty="0">
                  <a:solidFill>
                    <a:srgbClr val="E6EDF7"/>
                  </a:solidFill>
                  <a:latin typeface="Microsoft YaHei"/>
                  <a:ea typeface="Microsoft YaHei"/>
                  <a:cs typeface="Microsoft YaHei"/>
                </a:rPr>
                <a:t>RepViT 轻量图像分类模型</a:t>
              </a:r>
              <a:br/>
              <a:r>
                <a:rPr lang="zh-CN" sz="3450" b="1" dirty="0">
                  <a:solidFill>
                    <a:srgbClr val="E6EDF7"/>
                  </a:solidFill>
                  <a:latin typeface="Microsoft YaHei"/>
                  <a:ea typeface="Microsoft YaHei"/>
                  <a:cs typeface="Microsoft YaHei"/>
                </a:rPr>
                <a:t>复现、优化与多模型部署</a:t>
              </a:r>
            </a:p>
          </p:txBody>
        </p:sp>
        <p:sp>
          <p:nvSpPr>
            <p:cNvPr id="14" name="Line 14"/>
            <p:cNvSpPr/>
            <p:nvPr/>
          </p:nvSpPr>
          <p:spPr>
            <a:xfrm>
              <a:off x="914400" y="3143250"/>
              <a:ext cx="7239000" cy="9525"/>
            </a:xfrm>
            <a:custGeom>
              <a:avLst/>
              <a:gdLst/>
              <a:ahLst/>
              <a:cxnLst/>
              <a:rect l="l" t="t" r="r" b="b"/>
              <a:pathLst>
                <a:path w="7239000" h="9525">
                  <a:moveTo>
                    <a:pt x="0" y="0"/>
                  </a:moveTo>
                  <a:lnTo>
                    <a:pt x="7239000" y="0"/>
                  </a:lnTo>
                </a:path>
              </a:pathLst>
            </a:custGeom>
            <a:noFill/>
            <a:ln w="28575">
              <a:solidFill>
                <a:srgbClr val="35D0F0"/>
              </a:solidFill>
            </a:ln>
          </p:spPr>
          <p:txBody>
            <a:bodyPr/>
            <a:lstStyle/>
            <a:p>
              <a:endParaRPr/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906780" y="3171825"/>
            <a:ext cx="6102096" cy="971931"/>
            <a:chOff x="906780" y="3171825"/>
            <a:chExt cx="6102096" cy="971931"/>
          </a:xfrm>
        </p:grpSpPr>
        <p:sp>
          <p:nvSpPr>
            <p:cNvPr id="16" name="TextBox 16"/>
            <p:cNvSpPr txBox="1"/>
            <p:nvPr/>
          </p:nvSpPr>
          <p:spPr>
            <a:xfrm>
              <a:off x="906780" y="3171825"/>
              <a:ext cx="401105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2026 秋 one 团队 AI 算法组考核 · 答辩汇报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08304" y="3604260"/>
              <a:ext cx="6100572" cy="5394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400"/>
                </a:lnSpc>
              </a:pPr>
              <a:r>
                <a:rPr lang="en-US" sz="1200" dirty="0">
                  <a:solidFill>
                    <a:srgbClr val="5C7096"/>
                  </a:solidFill>
                  <a:latin typeface="Consolas"/>
                  <a:ea typeface="Consolas"/>
                  <a:cs typeface="Consolas"/>
                </a:rPr>
                <a:t>RepViT: Revisiting Mobile CNN From ViT Perspective · CVPR 2024 · arXiv:2307.09283</a:t>
              </a:r>
              <a:br/>
              <a:r>
                <a:rPr lang="en-US" sz="1200" dirty="0">
                  <a:solidFill>
                    <a:srgbClr val="5C7096"/>
                  </a:solidFill>
                  <a:latin typeface="Consolas"/>
                  <a:ea typeface="Consolas"/>
                  <a:cs typeface="Consolas"/>
                </a:rPr>
                <a:t>github.com/8ga-tech/RepViT-Reproduction</a:t>
              </a:r>
            </a:p>
          </p:txBody>
        </p:sp>
      </p:grpSp>
      <p:grpSp>
        <p:nvGrpSpPr>
          <p:cNvPr id="32" name="Group 32"/>
          <p:cNvGrpSpPr/>
          <p:nvPr/>
        </p:nvGrpSpPr>
        <p:grpSpPr>
          <a:xfrm>
            <a:off x="899922" y="5334000"/>
            <a:ext cx="10377678" cy="879634"/>
            <a:chOff x="899922" y="5334000"/>
            <a:chExt cx="10377678" cy="879634"/>
          </a:xfrm>
        </p:grpSpPr>
        <p:sp>
          <p:nvSpPr>
            <p:cNvPr id="19" name="Line 19"/>
            <p:cNvSpPr/>
            <p:nvPr/>
          </p:nvSpPr>
          <p:spPr>
            <a:xfrm>
              <a:off x="914400" y="5334000"/>
              <a:ext cx="10363200" cy="9525"/>
            </a:xfrm>
            <a:custGeom>
              <a:avLst/>
              <a:gdLst/>
              <a:ahLst/>
              <a:cxnLst/>
              <a:rect l="l" t="t" r="r" b="b"/>
              <a:pathLst>
                <a:path w="10363200" h="9525">
                  <a:moveTo>
                    <a:pt x="0" y="0"/>
                  </a:moveTo>
                  <a:lnTo>
                    <a:pt x="10363200" y="0"/>
                  </a:lnTo>
                </a:path>
              </a:pathLst>
            </a:custGeom>
            <a:noFill/>
            <a:ln w="19050">
              <a:solidFill>
                <a:srgbClr val="1E3050"/>
              </a:solidFill>
            </a:ln>
          </p:spPr>
          <p:txBody>
            <a:bodyPr/>
            <a:lstStyle/>
            <a:p>
              <a:endParaRPr/>
            </a:p>
          </p:txBody>
        </p:sp>
        <p:grpSp>
          <p:nvGrpSpPr>
            <p:cNvPr id="22" name="Group 22"/>
            <p:cNvGrpSpPr/>
            <p:nvPr/>
          </p:nvGrpSpPr>
          <p:grpSpPr>
            <a:xfrm>
              <a:off x="899922" y="5483542"/>
              <a:ext cx="1505282" cy="730092"/>
              <a:chOff x="899922" y="5483542"/>
              <a:chExt cx="1505282" cy="730092"/>
            </a:xfrm>
          </p:grpSpPr>
          <p:sp>
            <p:nvSpPr>
              <p:cNvPr id="20" name="TextBox 20"/>
              <p:cNvSpPr txBox="1"/>
              <p:nvPr/>
            </p:nvSpPr>
            <p:spPr>
              <a:xfrm>
                <a:off x="899922" y="5483542"/>
                <a:ext cx="1438932" cy="55740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2850" b="1" dirty="0">
                    <a:solidFill>
                      <a:srgbClr val="35D0F0"/>
                    </a:solidFill>
                    <a:latin typeface="Consolas"/>
                    <a:ea typeface="Consolas"/>
                    <a:cs typeface="Consolas"/>
                  </a:rPr>
                  <a:t>68.70%</a:t>
                </a:r>
              </a:p>
            </p:txBody>
          </p:sp>
          <p:sp>
            <p:nvSpPr>
              <p:cNvPr id="21" name="TextBox 21"/>
              <p:cNvSpPr txBox="1"/>
              <p:nvPr/>
            </p:nvSpPr>
            <p:spPr>
              <a:xfrm>
                <a:off x="908685" y="5993606"/>
                <a:ext cx="1496519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0" dirty="0">
                    <a:solidFill>
                      <a:srgbClr val="93A4C0"/>
                    </a:solidFill>
                    <a:latin typeface="Microsoft YaHei"/>
                    <a:ea typeface="Microsoft YaHei"/>
                    <a:cs typeface="Microsoft YaHei"/>
                  </a:rPr>
                  <a:t>ImageNetV2 固定子集 Top-1</a:t>
                </a:r>
              </a:p>
            </p:txBody>
          </p:sp>
        </p:grpSp>
        <p:grpSp>
          <p:nvGrpSpPr>
            <p:cNvPr id="25" name="Group 25"/>
            <p:cNvGrpSpPr/>
            <p:nvPr/>
          </p:nvGrpSpPr>
          <p:grpSpPr>
            <a:xfrm>
              <a:off x="3414522" y="5483542"/>
              <a:ext cx="1438932" cy="730092"/>
              <a:chOff x="3414522" y="5483542"/>
              <a:chExt cx="1438932" cy="730092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3414522" y="5483542"/>
                <a:ext cx="1438932" cy="55740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2850" b="1" dirty="0">
                    <a:solidFill>
                      <a:srgbClr val="3FDB9B"/>
                    </a:solidFill>
                    <a:latin typeface="Consolas"/>
                    <a:ea typeface="Consolas"/>
                    <a:cs typeface="Consolas"/>
                  </a:rPr>
                  <a:t>92.34%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3423285" y="5993606"/>
                <a:ext cx="1360889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120" dirty="0">
                    <a:solidFill>
                      <a:srgbClr val="93A4C0"/>
                    </a:solidFill>
                    <a:latin typeface="Microsoft YaHei"/>
                    <a:ea typeface="Microsoft YaHei"/>
                    <a:cs typeface="Microsoft YaHei"/>
                  </a:rPr>
                  <a:t>Pet-37 test Top-1</a:t>
                </a:r>
              </a:p>
            </p:txBody>
          </p:sp>
        </p:grpSp>
        <p:grpSp>
          <p:nvGrpSpPr>
            <p:cNvPr id="28" name="Group 28"/>
            <p:cNvGrpSpPr/>
            <p:nvPr/>
          </p:nvGrpSpPr>
          <p:grpSpPr>
            <a:xfrm>
              <a:off x="5929122" y="5483542"/>
              <a:ext cx="1579930" cy="730092"/>
              <a:chOff x="5929122" y="5483542"/>
              <a:chExt cx="1579930" cy="730092"/>
            </a:xfrm>
          </p:grpSpPr>
          <p:sp>
            <p:nvSpPr>
              <p:cNvPr id="26" name="TextBox 26"/>
              <p:cNvSpPr txBox="1"/>
              <p:nvPr/>
            </p:nvSpPr>
            <p:spPr>
              <a:xfrm>
                <a:off x="5929122" y="5483542"/>
                <a:ext cx="1579930" cy="55740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2850" b="1" dirty="0">
                    <a:solidFill>
                      <a:srgbClr val="FFC857"/>
                    </a:solidFill>
                    <a:latin typeface="Consolas"/>
                    <a:ea typeface="Consolas"/>
                    <a:cs typeface="Consolas"/>
                  </a:rPr>
                  <a:t>7.093e-06</a:t>
                </a:r>
              </a:p>
            </p:txBody>
          </p:sp>
          <p:sp>
            <p:nvSpPr>
              <p:cNvPr id="27" name="TextBox 27"/>
              <p:cNvSpPr txBox="1"/>
              <p:nvPr/>
            </p:nvSpPr>
            <p:spPr>
              <a:xfrm>
                <a:off x="5937885" y="5993606"/>
                <a:ext cx="1542871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0" dirty="0">
                    <a:solidFill>
                      <a:srgbClr val="93A4C0"/>
                    </a:solidFill>
                    <a:latin typeface="Microsoft YaHei"/>
                    <a:ea typeface="Microsoft YaHei"/>
                    <a:cs typeface="Microsoft YaHei"/>
                  </a:rPr>
                  <a:t>结构重参数化（32 随机输入）max|Δ|</a:t>
                </a:r>
              </a:p>
            </p:txBody>
          </p:sp>
        </p:grpSp>
        <p:grpSp>
          <p:nvGrpSpPr>
            <p:cNvPr id="31" name="Group 31"/>
            <p:cNvGrpSpPr/>
            <p:nvPr/>
          </p:nvGrpSpPr>
          <p:grpSpPr>
            <a:xfrm>
              <a:off x="8443722" y="5483542"/>
              <a:ext cx="1903948" cy="730092"/>
              <a:chOff x="8443722" y="5483542"/>
              <a:chExt cx="1903948" cy="730092"/>
            </a:xfrm>
          </p:grpSpPr>
          <p:sp>
            <p:nvSpPr>
              <p:cNvPr id="29" name="TextBox 29"/>
              <p:cNvSpPr txBox="1"/>
              <p:nvPr/>
            </p:nvSpPr>
            <p:spPr>
              <a:xfrm>
                <a:off x="8443722" y="5483542"/>
                <a:ext cx="995797" cy="55740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2850" b="1" dirty="0">
                    <a:solidFill>
                      <a:srgbClr val="C79BFF"/>
                    </a:solidFill>
                    <a:latin typeface="Consolas"/>
                    <a:ea typeface="Consolas"/>
                    <a:cs typeface="Consolas"/>
                  </a:rPr>
                  <a:t>100%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8452485" y="5993606"/>
                <a:ext cx="1895185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0" dirty="0">
                    <a:solidFill>
                      <a:srgbClr val="93A4C0"/>
                    </a:solidFill>
                    <a:latin typeface="Microsoft YaHei"/>
                    <a:ea typeface="Microsoft YaHei"/>
                    <a:cs typeface="Microsoft YaHei"/>
                  </a:rPr>
                  <a:t>ONNX 一致（入库 5 型号各 12 张）</a:t>
                </a:r>
              </a:p>
            </p:txBody>
          </p:sp>
        </p:grpSp>
      </p:grpSp>
      <p:sp>
        <p:nvSpPr>
          <p:cNvPr id="33" name="TextBox 32"/>
          <p:cNvSpPr txBox="1"/>
          <p:nvPr/>
        </p:nvSpPr>
        <p:spPr>
          <a:xfrm>
            <a:off x="896112" y="6327648"/>
            <a:ext cx="103784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100" b="0">
                <a:solidFill>
                  <a:srgbClr val="B6C5DC"/>
                </a:solidFill>
                <a:latin typeface="Microsoft YaHei"/>
              </a:defRPr>
            </a:pPr>
            <a:r>
              <a:t>口径分开：结构重参数化 = 32 个固定随机输入（max|Δ| 7.093e-06，Top-1 32/32）；ONNX 一致性 = 入库的 5 个型号（M0.9-Pet37 / M0.9 / M1.0 / M1.1 / M1.5）各 12 张真实图片（第 13 页，5 份 n=12 落盘），只覆盖这些图片，不代表全部六个 ONNX 型号（M2.3 未入库）。旧的 5.25e-06 未找到配套产物。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672846" y="543878"/>
            <a:ext cx="10833354" cy="799147"/>
            <a:chOff x="672846" y="543878"/>
            <a:chExt cx="10833354" cy="799147"/>
          </a:xfrm>
        </p:grpSpPr>
        <p:sp>
          <p:nvSpPr>
            <p:cNvPr id="2" name="TextBox 2"/>
            <p:cNvSpPr txBox="1"/>
            <p:nvPr/>
          </p:nvSpPr>
          <p:spPr>
            <a:xfrm>
              <a:off x="672846" y="543878"/>
              <a:ext cx="7793499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E6EDF7"/>
                  </a:solidFill>
                  <a:latin typeface="Microsoft YaHei"/>
                  <a:ea typeface="Microsoft YaHei"/>
                  <a:cs typeface="Microsoft YaHei"/>
                </a:rPr>
                <a:t>六个考核环节全部交付，34 条验收项自检 0 失败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679704" y="1032510"/>
              <a:ext cx="546430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运行 → 迁移 → 优化 → 可视化 → 重参数化 → 部署，每个数字都可在仓库中溯源</a:t>
              </a:r>
            </a:p>
          </p:txBody>
        </p:sp>
        <p:sp>
          <p:nvSpPr>
            <p:cNvPr id="4" name="Line 4"/>
            <p:cNvSpPr/>
            <p:nvPr/>
          </p:nvSpPr>
          <p:spPr>
            <a:xfrm>
              <a:off x="685800" y="133350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19050">
              <a:solidFill>
                <a:srgbClr val="1E3050"/>
              </a:solidFill>
            </a:ln>
          </p:spPr>
          <p:txBody>
            <a:bodyPr/>
            <a:lstStyle/>
            <a:p>
              <a:endParaRPr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685800" y="1676400"/>
            <a:ext cx="3409950" cy="1981200"/>
            <a:chOff x="685800" y="1676400"/>
            <a:chExt cx="3409950" cy="1981200"/>
          </a:xfrm>
        </p:grpSpPr>
        <p:sp>
          <p:nvSpPr>
            <p:cNvPr id="6" name="Rectangle 6"/>
            <p:cNvSpPr/>
            <p:nvPr/>
          </p:nvSpPr>
          <p:spPr>
            <a:xfrm>
              <a:off x="685800" y="1676400"/>
              <a:ext cx="3409950" cy="1981200"/>
            </a:xfrm>
            <a:prstGeom prst="roundRect">
              <a:avLst>
                <a:gd name="adj" fmla="val 4808"/>
              </a:avLst>
            </a:prstGeom>
            <a:solidFill>
              <a:srgbClr val="131C2E"/>
            </a:solidFill>
            <a:ln w="9525">
              <a:solidFill>
                <a:srgbClr val="1E3050"/>
              </a:solidFill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927735" y="1955006"/>
              <a:ext cx="1855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35D0F0"/>
                  </a:solidFill>
                  <a:latin typeface="Consolas"/>
                  <a:ea typeface="Consolas"/>
                  <a:cs typeface="Consolas"/>
                </a:rPr>
                <a:t>01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925068" y="2260282"/>
              <a:ext cx="141613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E6EDF7"/>
                  </a:solidFill>
                  <a:latin typeface="Microsoft YaHei"/>
                  <a:ea typeface="Microsoft YaHei"/>
                  <a:cs typeface="Microsoft YaHei"/>
                </a:rPr>
                <a:t>官方模型评价</a:t>
              </a:r>
            </a:p>
          </p:txBody>
        </p:sp>
        <p:sp>
          <p:nvSpPr>
            <p:cNvPr id="9" name="Line 9"/>
            <p:cNvSpPr/>
            <p:nvPr/>
          </p:nvSpPr>
          <p:spPr>
            <a:xfrm>
              <a:off x="933450" y="2609850"/>
              <a:ext cx="2914650" cy="9525"/>
            </a:xfrm>
            <a:custGeom>
              <a:avLst/>
              <a:gdLst/>
              <a:ahLst/>
              <a:cxnLst/>
              <a:rect l="l" t="t" r="r" b="b"/>
              <a:pathLst>
                <a:path w="2914650" h="9525">
                  <a:moveTo>
                    <a:pt x="0" y="0"/>
                  </a:moveTo>
                  <a:lnTo>
                    <a:pt x="2914650" y="0"/>
                  </a:lnTo>
                </a:path>
              </a:pathLst>
            </a:custGeom>
            <a:noFill/>
            <a:ln w="9525">
              <a:solidFill>
                <a:srgbClr val="1E3050"/>
              </a:solidFill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27354" y="2785110"/>
              <a:ext cx="170840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5 个型号 · ImageNetV2 1000 张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27354" y="3051810"/>
              <a:ext cx="154876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3FDB9B"/>
                  </a:solidFill>
                  <a:latin typeface="Consolas"/>
                  <a:ea typeface="Consolas"/>
                  <a:cs typeface="Consolas"/>
                </a:rPr>
                <a:t>M0.9 Top-1 68.70%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928116" y="3334702"/>
              <a:ext cx="180582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5C7096"/>
                  </a:solidFill>
                  <a:latin typeface="Microsoft YaHei"/>
                  <a:ea typeface="Microsoft YaHei"/>
                  <a:cs typeface="Microsoft YaHei"/>
                </a:rPr>
                <a:t>outputs/pretrained_eval/</a:t>
              </a:r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4381500" y="1676400"/>
            <a:ext cx="3409950" cy="1981200"/>
            <a:chOff x="4381500" y="1676400"/>
            <a:chExt cx="3409950" cy="1981200"/>
          </a:xfrm>
        </p:grpSpPr>
        <p:sp>
          <p:nvSpPr>
            <p:cNvPr id="14" name="Rectangle 14"/>
            <p:cNvSpPr/>
            <p:nvPr/>
          </p:nvSpPr>
          <p:spPr>
            <a:xfrm>
              <a:off x="4381500" y="1676400"/>
              <a:ext cx="3409950" cy="1981200"/>
            </a:xfrm>
            <a:prstGeom prst="roundRect">
              <a:avLst>
                <a:gd name="adj" fmla="val 4808"/>
              </a:avLst>
            </a:prstGeom>
            <a:solidFill>
              <a:srgbClr val="131C2E"/>
            </a:solidFill>
            <a:ln w="9525">
              <a:solidFill>
                <a:srgbClr val="1E3050"/>
              </a:solidFill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4623435" y="1955006"/>
              <a:ext cx="1855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35D0F0"/>
                  </a:solidFill>
                  <a:latin typeface="Consolas"/>
                  <a:ea typeface="Consolas"/>
                  <a:cs typeface="Consolas"/>
                </a:rPr>
                <a:t>02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4620768" y="2260282"/>
              <a:ext cx="166785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E6EDF7"/>
                  </a:solidFill>
                  <a:latin typeface="Microsoft YaHei"/>
                  <a:ea typeface="Microsoft YaHei"/>
                  <a:cs typeface="Microsoft YaHei"/>
                </a:rPr>
                <a:t>M0.9 迁移训练</a:t>
              </a:r>
            </a:p>
          </p:txBody>
        </p:sp>
        <p:sp>
          <p:nvSpPr>
            <p:cNvPr id="17" name="Line 17"/>
            <p:cNvSpPr/>
            <p:nvPr/>
          </p:nvSpPr>
          <p:spPr>
            <a:xfrm>
              <a:off x="4629150" y="2609850"/>
              <a:ext cx="2914650" cy="9525"/>
            </a:xfrm>
            <a:custGeom>
              <a:avLst/>
              <a:gdLst/>
              <a:ahLst/>
              <a:cxnLst/>
              <a:rect l="l" t="t" r="r" b="b"/>
              <a:pathLst>
                <a:path w="2914650" h="9525">
                  <a:moveTo>
                    <a:pt x="0" y="0"/>
                  </a:moveTo>
                  <a:lnTo>
                    <a:pt x="2914650" y="0"/>
                  </a:lnTo>
                </a:path>
              </a:pathLst>
            </a:custGeom>
            <a:noFill/>
            <a:ln w="9525">
              <a:solidFill>
                <a:srgbClr val="1E3050"/>
              </a:solidFill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623054" y="2785110"/>
              <a:ext cx="158212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Pet 37 类 · 40 epoch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4623054" y="3051810"/>
              <a:ext cx="148598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3FDB9B"/>
                  </a:solidFill>
                  <a:latin typeface="Consolas"/>
                  <a:ea typeface="Consolas"/>
                  <a:cs typeface="Consolas"/>
                </a:rPr>
                <a:t>test Top-1 92.34%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4623816" y="3334702"/>
              <a:ext cx="208146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5C7096"/>
                  </a:solidFill>
                  <a:latin typeface="Microsoft YaHei"/>
                  <a:ea typeface="Microsoft YaHei"/>
                  <a:cs typeface="Microsoft YaHei"/>
                </a:rPr>
                <a:t>checkpoints/baseline_best.pt</a:t>
              </a:r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8077200" y="1676400"/>
            <a:ext cx="3429000" cy="1981200"/>
            <a:chOff x="8077200" y="1676400"/>
            <a:chExt cx="3429000" cy="1981200"/>
          </a:xfrm>
        </p:grpSpPr>
        <p:sp>
          <p:nvSpPr>
            <p:cNvPr id="22" name="Rectangle 22"/>
            <p:cNvSpPr/>
            <p:nvPr/>
          </p:nvSpPr>
          <p:spPr>
            <a:xfrm>
              <a:off x="8077200" y="1676400"/>
              <a:ext cx="3429000" cy="1981200"/>
            </a:xfrm>
            <a:prstGeom prst="roundRect">
              <a:avLst>
                <a:gd name="adj" fmla="val 4808"/>
              </a:avLst>
            </a:prstGeom>
            <a:solidFill>
              <a:srgbClr val="131C2E"/>
            </a:solidFill>
            <a:ln w="9525">
              <a:solidFill>
                <a:srgbClr val="1E3050"/>
              </a:solidFill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8319135" y="1955006"/>
              <a:ext cx="1855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35D0F0"/>
                  </a:solidFill>
                  <a:latin typeface="Consolas"/>
                  <a:ea typeface="Consolas"/>
                  <a:cs typeface="Consolas"/>
                </a:rPr>
                <a:t>03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8316468" y="2260282"/>
              <a:ext cx="141613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E6EDF7"/>
                  </a:solidFill>
                  <a:latin typeface="Microsoft YaHei"/>
                  <a:ea typeface="Microsoft YaHei"/>
                  <a:cs typeface="Microsoft YaHei"/>
                </a:rPr>
                <a:t>控制变量优化</a:t>
              </a:r>
            </a:p>
          </p:txBody>
        </p:sp>
        <p:sp>
          <p:nvSpPr>
            <p:cNvPr id="25" name="Line 25"/>
            <p:cNvSpPr/>
            <p:nvPr/>
          </p:nvSpPr>
          <p:spPr>
            <a:xfrm>
              <a:off x="8324850" y="2609850"/>
              <a:ext cx="2933700" cy="9525"/>
            </a:xfrm>
            <a:custGeom>
              <a:avLst/>
              <a:gdLst/>
              <a:ahLst/>
              <a:cxnLst/>
              <a:rect l="l" t="t" r="r" b="b"/>
              <a:pathLst>
                <a:path w="2933700" h="9525">
                  <a:moveTo>
                    <a:pt x="0" y="0"/>
                  </a:moveTo>
                  <a:lnTo>
                    <a:pt x="2933700" y="0"/>
                  </a:lnTo>
                </a:path>
              </a:pathLst>
            </a:custGeom>
            <a:noFill/>
            <a:ln w="9525">
              <a:solidFill>
                <a:srgbClr val="1E3050"/>
              </a:solidFill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8318754" y="2785110"/>
              <a:ext cx="128031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4 方案 + 3 组消融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8318754" y="3051810"/>
              <a:ext cx="148010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FFC857"/>
                  </a:solidFill>
                  <a:latin typeface="Consolas"/>
                  <a:ea typeface="Microsoft YaHei"/>
                  <a:cs typeface="Consolas"/>
                </a:rPr>
                <a:t>7 份配置 DIFF PASS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8319516" y="3334702"/>
              <a:ext cx="136763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5C7096"/>
                  </a:solidFill>
                  <a:latin typeface="Microsoft YaHei"/>
                  <a:ea typeface="Microsoft YaHei"/>
                  <a:cs typeface="Microsoft YaHei"/>
                </a:rPr>
                <a:t>configs/opt_*.yaml</a:t>
              </a:r>
            </a:p>
          </p:txBody>
        </p:sp>
      </p:grpSp>
      <p:grpSp>
        <p:nvGrpSpPr>
          <p:cNvPr id="37" name="Group 37"/>
          <p:cNvGrpSpPr/>
          <p:nvPr/>
        </p:nvGrpSpPr>
        <p:grpSpPr>
          <a:xfrm>
            <a:off x="685800" y="3848100"/>
            <a:ext cx="3409950" cy="1981200"/>
            <a:chOff x="685800" y="3848100"/>
            <a:chExt cx="3409950" cy="1981200"/>
          </a:xfrm>
        </p:grpSpPr>
        <p:sp>
          <p:nvSpPr>
            <p:cNvPr id="30" name="Rectangle 30"/>
            <p:cNvSpPr/>
            <p:nvPr/>
          </p:nvSpPr>
          <p:spPr>
            <a:xfrm>
              <a:off x="685800" y="3848100"/>
              <a:ext cx="3409950" cy="1981200"/>
            </a:xfrm>
            <a:prstGeom prst="roundRect">
              <a:avLst>
                <a:gd name="adj" fmla="val 4808"/>
              </a:avLst>
            </a:prstGeom>
            <a:solidFill>
              <a:srgbClr val="131C2E"/>
            </a:solidFill>
            <a:ln w="9525">
              <a:solidFill>
                <a:srgbClr val="1E3050"/>
              </a:solidFill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927735" y="4126706"/>
              <a:ext cx="1855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35D0F0"/>
                  </a:solidFill>
                  <a:latin typeface="Consolas"/>
                  <a:ea typeface="Consolas"/>
                  <a:cs typeface="Consolas"/>
                </a:rPr>
                <a:t>04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925068" y="4431982"/>
              <a:ext cx="188259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E6EDF7"/>
                  </a:solidFill>
                  <a:latin typeface="Microsoft YaHei"/>
                  <a:ea typeface="Microsoft YaHei"/>
                  <a:cs typeface="Microsoft YaHei"/>
                </a:rPr>
                <a:t>可视化与可解释性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933450" y="4781550"/>
              <a:ext cx="2914650" cy="9525"/>
            </a:xfrm>
            <a:custGeom>
              <a:avLst/>
              <a:gdLst/>
              <a:ahLst/>
              <a:cxnLst/>
              <a:rect l="l" t="t" r="r" b="b"/>
              <a:pathLst>
                <a:path w="2914650" h="9525">
                  <a:moveTo>
                    <a:pt x="0" y="0"/>
                  </a:moveTo>
                  <a:lnTo>
                    <a:pt x="2914650" y="0"/>
                  </a:lnTo>
                </a:path>
              </a:pathLst>
            </a:custGeom>
            <a:noFill/>
            <a:ln w="9525">
              <a:solidFill>
                <a:srgbClr val="1E3050"/>
              </a:solidFill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27354" y="4956810"/>
              <a:ext cx="233028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五条曲线 · 混淆矩阵 · Grad-CAM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927354" y="5223510"/>
              <a:ext cx="150647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3FDB9B"/>
                  </a:solidFill>
                  <a:latin typeface="Consolas"/>
                  <a:ea typeface="Microsoft YaHei"/>
                  <a:cs typeface="Consolas"/>
                </a:rPr>
                <a:t>跨物种错误仅 3.56%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928116" y="5506402"/>
              <a:ext cx="128282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5C7096"/>
                  </a:solidFill>
                  <a:latin typeface="Microsoft YaHei"/>
                  <a:ea typeface="Microsoft YaHei"/>
                  <a:cs typeface="Microsoft YaHei"/>
                </a:rPr>
                <a:t>outputs/gradcam/</a:t>
              </a:r>
            </a:p>
          </p:txBody>
        </p:sp>
      </p:grpSp>
      <p:grpSp>
        <p:nvGrpSpPr>
          <p:cNvPr id="45" name="Group 45"/>
          <p:cNvGrpSpPr/>
          <p:nvPr/>
        </p:nvGrpSpPr>
        <p:grpSpPr>
          <a:xfrm>
            <a:off x="4381500" y="3848100"/>
            <a:ext cx="3409950" cy="1981200"/>
            <a:chOff x="4381500" y="3848100"/>
            <a:chExt cx="3409950" cy="1981200"/>
          </a:xfrm>
        </p:grpSpPr>
        <p:sp>
          <p:nvSpPr>
            <p:cNvPr id="38" name="Rectangle 38"/>
            <p:cNvSpPr/>
            <p:nvPr/>
          </p:nvSpPr>
          <p:spPr>
            <a:xfrm>
              <a:off x="4381500" y="3848100"/>
              <a:ext cx="3409950" cy="1981200"/>
            </a:xfrm>
            <a:prstGeom prst="roundRect">
              <a:avLst>
                <a:gd name="adj" fmla="val 4808"/>
              </a:avLst>
            </a:prstGeom>
            <a:solidFill>
              <a:srgbClr val="131C2E"/>
            </a:solidFill>
            <a:ln w="9525">
              <a:solidFill>
                <a:srgbClr val="1E3050"/>
              </a:solidFill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4623435" y="4126706"/>
              <a:ext cx="1855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35D0F0"/>
                  </a:solidFill>
                  <a:latin typeface="Consolas"/>
                  <a:ea typeface="Consolas"/>
                  <a:cs typeface="Consolas"/>
                </a:rPr>
                <a:t>05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4620768" y="4431982"/>
              <a:ext cx="141613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E6EDF7"/>
                  </a:solidFill>
                  <a:latin typeface="Microsoft YaHei"/>
                  <a:ea typeface="Microsoft YaHei"/>
                  <a:cs typeface="Microsoft YaHei"/>
                </a:rPr>
                <a:t>结构重参数化</a:t>
              </a:r>
            </a:p>
          </p:txBody>
        </p:sp>
        <p:sp>
          <p:nvSpPr>
            <p:cNvPr id="41" name="Line 41"/>
            <p:cNvSpPr/>
            <p:nvPr/>
          </p:nvSpPr>
          <p:spPr>
            <a:xfrm>
              <a:off x="4629150" y="4781550"/>
              <a:ext cx="2914650" cy="9525"/>
            </a:xfrm>
            <a:custGeom>
              <a:avLst/>
              <a:gdLst/>
              <a:ahLst/>
              <a:cxnLst/>
              <a:rect l="l" t="t" r="r" b="b"/>
              <a:pathLst>
                <a:path w="2914650" h="9525">
                  <a:moveTo>
                    <a:pt x="0" y="0"/>
                  </a:moveTo>
                  <a:lnTo>
                    <a:pt x="2914650" y="0"/>
                  </a:lnTo>
                </a:path>
              </a:pathLst>
            </a:custGeom>
            <a:noFill/>
            <a:ln w="9525">
              <a:solidFill>
                <a:srgbClr val="1E3050"/>
              </a:solidFill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4623054" y="4956810"/>
              <a:ext cx="214678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BN 107 → 0 · Conv 126 → 103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4623054" y="5223510"/>
              <a:ext cx="232219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l-GR" sz="1200" dirty="0">
                  <a:solidFill>
                    <a:srgbClr val="3FDB9B"/>
                  </a:solidFill>
                  <a:latin typeface="Consolas"/>
                  <a:ea typeface="Consolas"/>
                  <a:cs typeface="Consolas"/>
                </a:rPr>
                <a:t>max|Δ| 7.093e-06 · 32/32 一致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4623816" y="5506402"/>
              <a:ext cx="128282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5C7096"/>
                  </a:solidFill>
                  <a:latin typeface="Microsoft YaHei"/>
                  <a:ea typeface="Microsoft YaHei"/>
                  <a:cs typeface="Microsoft YaHei"/>
                </a:rPr>
                <a:t>outputs/reparam/</a:t>
              </a:r>
            </a:p>
          </p:txBody>
        </p:sp>
      </p:grpSp>
      <p:grpSp>
        <p:nvGrpSpPr>
          <p:cNvPr id="53" name="Group 53"/>
          <p:cNvGrpSpPr/>
          <p:nvPr/>
        </p:nvGrpSpPr>
        <p:grpSpPr>
          <a:xfrm>
            <a:off x="8077200" y="3848100"/>
            <a:ext cx="3429000" cy="1981200"/>
            <a:chOff x="8077200" y="3848100"/>
            <a:chExt cx="3429000" cy="1981200"/>
          </a:xfrm>
        </p:grpSpPr>
        <p:sp>
          <p:nvSpPr>
            <p:cNvPr id="46" name="Rectangle 46"/>
            <p:cNvSpPr/>
            <p:nvPr/>
          </p:nvSpPr>
          <p:spPr>
            <a:xfrm>
              <a:off x="8077200" y="3848100"/>
              <a:ext cx="3429000" cy="1981200"/>
            </a:xfrm>
            <a:prstGeom prst="roundRect">
              <a:avLst>
                <a:gd name="adj" fmla="val 4808"/>
              </a:avLst>
            </a:prstGeom>
            <a:solidFill>
              <a:srgbClr val="131C2E"/>
            </a:solidFill>
            <a:ln w="9525">
              <a:solidFill>
                <a:srgbClr val="1E3050"/>
              </a:solidFill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8319135" y="4126706"/>
              <a:ext cx="1855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35D0F0"/>
                  </a:solidFill>
                  <a:latin typeface="Consolas"/>
                  <a:ea typeface="Consolas"/>
                  <a:cs typeface="Consolas"/>
                </a:rPr>
                <a:t>06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8316468" y="4431982"/>
              <a:ext cx="191428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E6EDF7"/>
                  </a:solidFill>
                  <a:latin typeface="Microsoft YaHei"/>
                  <a:ea typeface="Microsoft YaHei"/>
                  <a:cs typeface="Microsoft YaHei"/>
                </a:rPr>
                <a:t>ONNX 多模型部署</a:t>
              </a:r>
            </a:p>
          </p:txBody>
        </p:sp>
        <p:sp>
          <p:nvSpPr>
            <p:cNvPr id="49" name="Line 49"/>
            <p:cNvSpPr/>
            <p:nvPr/>
          </p:nvSpPr>
          <p:spPr>
            <a:xfrm>
              <a:off x="8324850" y="4781550"/>
              <a:ext cx="2933700" cy="9525"/>
            </a:xfrm>
            <a:custGeom>
              <a:avLst/>
              <a:gdLst/>
              <a:ahLst/>
              <a:cxnLst/>
              <a:rect l="l" t="t" r="r" b="b"/>
              <a:pathLst>
                <a:path w="2933700" h="9525">
                  <a:moveTo>
                    <a:pt x="0" y="0"/>
                  </a:moveTo>
                  <a:lnTo>
                    <a:pt x="2933700" y="0"/>
                  </a:lnTo>
                </a:path>
              </a:pathLst>
            </a:custGeom>
            <a:noFill/>
            <a:ln w="9525">
              <a:solidFill>
                <a:srgbClr val="1E3050"/>
              </a:solidFill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8318754" y="4956810"/>
              <a:ext cx="163372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6 个 ONNX · ORT CPU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8318754" y="5223510"/>
              <a:ext cx="141945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3FDB9B"/>
                  </a:solidFill>
                  <a:latin typeface="Consolas"/>
                  <a:ea typeface="Consolas"/>
                  <a:cs typeface="Consolas"/>
                </a:rPr>
                <a:t>P50 7.68 ~ 34.41 ms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8319516" y="5506402"/>
              <a:ext cx="86584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5C7096"/>
                  </a:solidFill>
                  <a:latin typeface="Microsoft YaHei"/>
                  <a:ea typeface="Microsoft YaHei"/>
                  <a:cs typeface="Microsoft YaHei"/>
                </a:rPr>
                <a:t>onnx/*.onnx</a:t>
              </a:r>
            </a:p>
          </p:txBody>
        </p:sp>
      </p:grpSp>
      <p:grpSp>
        <p:nvGrpSpPr>
          <p:cNvPr id="57" name="Group 57"/>
          <p:cNvGrpSpPr/>
          <p:nvPr/>
        </p:nvGrpSpPr>
        <p:grpSpPr>
          <a:xfrm>
            <a:off x="680466" y="6057900"/>
            <a:ext cx="10831068" cy="358711"/>
            <a:chOff x="680466" y="6057900"/>
            <a:chExt cx="10831068" cy="358711"/>
          </a:xfrm>
        </p:grpSpPr>
        <p:sp>
          <p:nvSpPr>
            <p:cNvPr id="54" name="Line 54"/>
            <p:cNvSpPr/>
            <p:nvPr/>
          </p:nvSpPr>
          <p:spPr>
            <a:xfrm>
              <a:off x="685800" y="605790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9525">
              <a:solidFill>
                <a:srgbClr val="1E3050"/>
              </a:solidFill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680466" y="6211252"/>
              <a:ext cx="732891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C7096"/>
                  </a:solidFill>
                  <a:latin typeface="Microsoft YaHei"/>
                  <a:ea typeface="Microsoft YaHei"/>
                  <a:cs typeface="Microsoft YaHei"/>
                </a:rPr>
                <a:t>范围声明：不做第八章拓展任务（INT8 量化 / 知识蒸馏 / 剪枝 / 多随机种子 / 边缘部署 / 核心模块独立实现）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11345380" y="6211252"/>
              <a:ext cx="16615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050" dirty="0">
                  <a:solidFill>
                    <a:srgbClr val="5C7096"/>
                  </a:solidFill>
                  <a:latin typeface="Consolas"/>
                  <a:ea typeface="Consolas"/>
                  <a:cs typeface="Consolas"/>
                </a:rPr>
                <a:t>02</a:t>
              </a:r>
            </a:p>
          </p:txBody>
        </p:sp>
      </p:grpSp>
      <p:sp>
        <p:nvSpPr>
          <p:cNvPr id="58" name="TextBox 57"/>
          <p:cNvSpPr txBox="1"/>
          <p:nvPr/>
        </p:nvSpPr>
        <p:spPr>
          <a:xfrm>
            <a:off x="676656" y="6446520"/>
            <a:ext cx="1083564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050" b="0">
                <a:solidFill>
                  <a:srgbClr val="B6C5DC"/>
                </a:solidFill>
                <a:latin typeface="Microsoft YaHei"/>
              </a:defRPr>
            </a:pPr>
            <a:r>
              <a:t>口径与边界：PyTorch 与 ONNX 的 Top-1 一致率只测了入库的 5 个型号（M0.9-Pet37 / M0.9 / M1.0 / M1.1 / M1.5）各 12 张（均为 100%）；其余型号（M2.3 未入库）只有导出检查与性能结果，不做同口径一致性声明。重参数化 7.093e-06 来自 32 个固定随机输入，与上面这批 ONNX 实验不是同一批。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B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2500" b="1">
                <a:solidFill>
                  <a:srgbClr val="E6EDF7"/>
                </a:solidFill>
                <a:latin typeface="Microsoft YaHei"/>
              </a:defRPr>
            </a:pPr>
            <a:r>
              <a:t>M0.9 是纯卷积流水线：名字里有 ViT，结构里没有注意力算子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41832"/>
            <a:ext cx="11064240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B6C5DC"/>
                </a:solidFill>
                <a:latin typeface="Microsoft YaHei"/>
              </a:defRPr>
            </a:pPr>
            <a:r>
              <a:t>环节 2 + 环节 3 合并页 · 左：M0.9 结构（形状由 forward hook 现测）；右：标准 ViT 与 RepViT 逐项对应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55664"/>
            <a:ext cx="1083564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900" b="0">
                <a:solidFill>
                  <a:srgbClr val="B6C5DC"/>
                </a:solidFill>
                <a:latin typeface="Microsoft YaHei"/>
              </a:defRPr>
            </a:pPr>
            <a:r>
              <a:t>数据来源：outputs/architecture/repvit_m0_9_arch.md/.png（python tools/draw_arch.py）· outputs/reparam/repvit_m0_9_onnx_nodes.json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2823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200" b="0">
                <a:solidFill>
                  <a:srgbClr val="B6C5DC"/>
                </a:solidFill>
                <a:latin typeface="Microsoft YaHei"/>
              </a:defRPr>
            </a:pPr>
            <a:r>
              <a:t>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81328"/>
            <a:ext cx="53492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55C5EF"/>
                </a:solidFill>
                <a:latin typeface="Microsoft YaHei"/>
              </a:defRPr>
            </a:pPr>
            <a:r>
              <a:t>左栏 · 环节 2：M0.9 是一条纯卷积流水线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810512"/>
            <a:ext cx="5349240" cy="2103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300" b="0">
                <a:solidFill>
                  <a:srgbClr val="E6EDF7"/>
                </a:solidFill>
                <a:latin typeface="Microsoft YaHei"/>
              </a:defRPr>
            </a:pPr>
            <a:r>
              <a:t>输入　224×224×3 RGB</a:t>
            </a:r>
          </a:p>
          <a:p>
            <a:pPr>
              <a:spcAft>
                <a:spcPts val="600"/>
              </a:spcAft>
              <a:defRPr sz="1300" b="0">
                <a:solidFill>
                  <a:srgbClr val="E6EDF7"/>
                </a:solidFill>
                <a:latin typeface="Microsoft YaHei"/>
              </a:defRPr>
            </a:pPr>
            <a:r>
              <a:t>Stem　conv1 3×3 s2 → 24ch 112×112；conv2 3×3 s2 → 48ch 56×56</a:t>
            </a:r>
          </a:p>
          <a:p>
            <a:pPr>
              <a:spcAft>
                <a:spcPts val="600"/>
              </a:spcAft>
              <a:defRPr sz="1300" b="0">
                <a:solidFill>
                  <a:srgbClr val="E6EDF7"/>
                </a:solidFill>
                <a:latin typeface="Microsoft YaHei"/>
              </a:defRPr>
            </a:pPr>
            <a:r>
              <a:t>Stage 0　2 × RepViT Block　48ch 56×56</a:t>
            </a:r>
          </a:p>
          <a:p>
            <a:pPr>
              <a:spcAft>
                <a:spcPts val="600"/>
              </a:spcAft>
              <a:defRPr sz="1300" b="0">
                <a:solidFill>
                  <a:srgbClr val="E6EDF7"/>
                </a:solidFill>
                <a:latin typeface="Microsoft YaHei"/>
              </a:defRPr>
            </a:pPr>
            <a:r>
              <a:t>Stage 1　2 × RepViT Block　96ch 28×28</a:t>
            </a:r>
          </a:p>
          <a:p>
            <a:pPr>
              <a:spcAft>
                <a:spcPts val="600"/>
              </a:spcAft>
              <a:defRPr sz="1300" b="0">
                <a:solidFill>
                  <a:srgbClr val="E6EDF7"/>
                </a:solidFill>
                <a:latin typeface="Microsoft YaHei"/>
              </a:defRPr>
            </a:pPr>
            <a:r>
              <a:t>Stage 2　14 × RepViT Block　192ch 14×14（Block 最多）</a:t>
            </a:r>
          </a:p>
          <a:p>
            <a:pPr>
              <a:spcAft>
                <a:spcPts val="600"/>
              </a:spcAft>
              <a:defRPr sz="1300" b="0">
                <a:solidFill>
                  <a:srgbClr val="E6EDF7"/>
                </a:solidFill>
                <a:latin typeface="Microsoft YaHei"/>
              </a:defRPr>
            </a:pPr>
            <a:r>
              <a:t>Stage 3　2 × RepViT Block　384ch 7×7</a:t>
            </a:r>
          </a:p>
          <a:p>
            <a:pPr>
              <a:spcAft>
                <a:spcPts val="600"/>
              </a:spcAft>
              <a:defRPr sz="1300" b="0">
                <a:solidFill>
                  <a:srgbClr val="E6EDF7"/>
                </a:solidFill>
                <a:latin typeface="Microsoft YaHei"/>
              </a:defRPr>
            </a:pPr>
            <a:r>
              <a:t>GAP → 384 维　Head RepVitClassifier（NormLinear）→ 37 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968496"/>
            <a:ext cx="53492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55C5EF"/>
                </a:solidFill>
                <a:latin typeface="Microsoft YaHei"/>
              </a:defRPr>
            </a:pPr>
            <a:r>
              <a:t>单个 RepViT Block 内部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279392"/>
            <a:ext cx="5349240" cy="12344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300" b="0">
                <a:solidFill>
                  <a:srgbClr val="E6EDF7"/>
                </a:solidFill>
                <a:latin typeface="Microsoft YaHei"/>
              </a:defRPr>
            </a:pPr>
            <a:r>
              <a:t>空间混合（Token Mixer）：RepVGGDW = 3×3 dw + 1×1 dw</a:t>
            </a:r>
          </a:p>
          <a:p>
            <a:pPr>
              <a:spcAft>
                <a:spcPts val="600"/>
              </a:spcAft>
              <a:defRPr sz="1300" b="0">
                <a:solidFill>
                  <a:srgbClr val="E6EDF7"/>
                </a:solidFill>
                <a:latin typeface="Microsoft YaHei"/>
              </a:defRPr>
            </a:pPr>
            <a:r>
              <a:t>通道混合（Channel Mixer）：1×1 升维 → GELU → 1×1 降维</a:t>
            </a:r>
          </a:p>
          <a:p>
            <a:pPr>
              <a:spcAft>
                <a:spcPts val="600"/>
              </a:spcAft>
              <a:defRPr sz="1300" b="0">
                <a:solidFill>
                  <a:srgbClr val="E6EDF7"/>
                </a:solidFill>
                <a:latin typeface="Microsoft YaHei"/>
              </a:defRPr>
            </a:pPr>
            <a:r>
              <a:t>残差连接；SE 只放在部分 Block（全局池化有真实延迟）</a:t>
            </a:r>
          </a:p>
          <a:p>
            <a:pPr>
              <a:spcAft>
                <a:spcPts val="600"/>
              </a:spcAft>
              <a:defRPr sz="1300" b="0">
                <a:solidFill>
                  <a:srgbClr val="E6EDF7"/>
                </a:solidFill>
                <a:latin typeface="Microsoft YaHei"/>
              </a:defRPr>
            </a:pPr>
            <a:r>
              <a:t>训练态：3×3 dw 分支 + 1×1 dw 分支，各自带 BatchNorm</a:t>
            </a:r>
          </a:p>
          <a:p>
            <a:pPr>
              <a:spcAft>
                <a:spcPts val="600"/>
              </a:spcAft>
              <a:defRPr sz="1300" b="0">
                <a:solidFill>
                  <a:srgbClr val="E6EDF7"/>
                </a:solidFill>
                <a:latin typeface="Microsoft YaHei"/>
              </a:defRPr>
            </a:pPr>
            <a:r>
              <a:t>推理态：BN 折进卷积核后相加 → 单个 3×3 depthwise 卷积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669280"/>
            <a:ext cx="5349240" cy="40011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300" b="0">
                <a:solidFill>
                  <a:srgbClr val="48D9AE"/>
                </a:solidFill>
                <a:latin typeface="Microsoft YaHei"/>
              </a:defRPr>
            </a:pPr>
            <a:r>
              <a:rPr dirty="0" err="1"/>
              <a:t>整条链路只有卷积</a:t>
            </a:r>
            <a:r>
              <a:rPr dirty="0"/>
              <a:t> / GELU / </a:t>
            </a:r>
            <a:r>
              <a:rPr dirty="0" err="1"/>
              <a:t>池化，没有注意力；名字里的</a:t>
            </a:r>
            <a:r>
              <a:rPr dirty="0"/>
              <a:t> </a:t>
            </a:r>
            <a:r>
              <a:rPr dirty="0" err="1"/>
              <a:t>ViT</a:t>
            </a:r>
            <a:r>
              <a:rPr dirty="0"/>
              <a:t> </a:t>
            </a:r>
            <a:r>
              <a:rPr dirty="0" err="1"/>
              <a:t>说的是宏观架构选择</a:t>
            </a:r>
            <a:r>
              <a:rPr dirty="0"/>
              <a:t>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81328"/>
            <a:ext cx="56235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55C5EF"/>
                </a:solidFill>
                <a:latin typeface="Microsoft YaHei"/>
              </a:defRPr>
            </a:pPr>
            <a:r>
              <a:t>右栏 · 环节 3：标准 ViT 与 RepViT 的对应关系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080760" y="1792224"/>
          <a:ext cx="562356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517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3528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环节</a:t>
                      </a:r>
                    </a:p>
                  </a:txBody>
                  <a:tcPr marL="109728" marR="109728">
                    <a:solidFill>
                      <a:srgbClr val="233A5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标准 ViT</a:t>
                      </a:r>
                    </a:p>
                  </a:txBody>
                  <a:tcPr marL="109728" marR="109728">
                    <a:solidFill>
                      <a:srgbClr val="233A5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RepViT</a:t>
                      </a:r>
                    </a:p>
                  </a:txBody>
                  <a:tcPr marL="109728" marR="109728">
                    <a:solidFill>
                      <a:srgbClr val="233A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528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空间混合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Multi-Head Self-Attention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RepVGGDW（3×3 dw + 1×1 dw）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528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通道混合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MLP / FFN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Channel Mixer（1×1→GELU）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528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下采样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patchify（stride=16 大核）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Early Conv Stem（两组 stride=2）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528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归纳偏置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弱，依赖大数据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强（卷积自带局部性 / 平移等变）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3528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ONNX 图内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MatMul + Softmax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无注意力算子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6080760" y="4114800"/>
            <a:ext cx="5623560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100" b="0">
                <a:solidFill>
                  <a:srgbClr val="E6EDF7"/>
                </a:solidFill>
                <a:latin typeface="Microsoft YaHei"/>
              </a:defRPr>
            </a:pPr>
            <a:r>
              <a:t>实证：onnx/*.onnx 的算子直方图里只有 Conv / Gemm / Add / Mul / Div / Clip / Relu，没有 MatMul + Softmax 这一对注意力算子组合（outputs/reparam/repvit_m0_9_onnx_nodes.json）。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80760" y="4828032"/>
            <a:ext cx="56235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55C5EF"/>
                </a:solidFill>
                <a:latin typeface="Microsoft YaHei"/>
              </a:defRPr>
            </a:pPr>
            <a:r>
              <a:t>四个关键设计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80760" y="5138928"/>
            <a:ext cx="562356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200" b="0">
                <a:solidFill>
                  <a:srgbClr val="E6EDF7"/>
                </a:solidFill>
                <a:latin typeface="Microsoft YaHei"/>
              </a:defRPr>
            </a:pPr>
            <a:r>
              <a:t>① 分离 Token / Channel Mixer —— 空间与通道容量可独立调节</a:t>
            </a:r>
          </a:p>
          <a:p>
            <a:pPr>
              <a:spcAft>
                <a:spcPts val="600"/>
              </a:spcAft>
              <a:defRPr sz="1200" b="0">
                <a:solidFill>
                  <a:srgbClr val="E6EDF7"/>
                </a:solidFill>
                <a:latin typeface="Microsoft YaHei"/>
              </a:defRPr>
            </a:pPr>
            <a:r>
              <a:t>② 扩张比降到约 2 并同时加宽 —— 省下的 MACs 换成通道数</a:t>
            </a:r>
          </a:p>
          <a:p>
            <a:pPr>
              <a:spcAft>
                <a:spcPts val="600"/>
              </a:spcAft>
              <a:defRPr sz="1200" b="0">
                <a:solidFill>
                  <a:srgbClr val="E6EDF7"/>
                </a:solidFill>
                <a:latin typeface="Microsoft YaHei"/>
              </a:defRPr>
            </a:pPr>
            <a:r>
              <a:t>③ SE 不做每块都放 —— 全局池化的延迟不可忽略</a:t>
            </a:r>
          </a:p>
          <a:p>
            <a:pPr>
              <a:spcAft>
                <a:spcPts val="600"/>
              </a:spcAft>
              <a:defRPr sz="1200" b="0">
                <a:solidFill>
                  <a:srgbClr val="E6EDF7"/>
                </a:solidFill>
                <a:latin typeface="Microsoft YaHei"/>
              </a:defRPr>
            </a:pPr>
            <a:r>
              <a:t>④ 简单分类头 —— 单个 BN + Linear，省真实延迟</a:t>
            </a:r>
          </a:p>
          <a:p>
            <a:pPr>
              <a:spcAft>
                <a:spcPts val="600"/>
              </a:spcAft>
              <a:defRPr sz="1200" b="0">
                <a:solidFill>
                  <a:srgbClr val="E6EDF7"/>
                </a:solidFill>
                <a:latin typeface="Microsoft YaHei"/>
              </a:defRPr>
            </a:pPr>
            <a:r>
              <a:t>M0.9 实测：20 个 Block，按 Stage 分布 [2, 2, 14, 2]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B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2900" b="1">
                <a:solidFill>
                  <a:srgbClr val="E6EDF7"/>
                </a:solidFill>
                <a:latin typeface="Microsoft YaHei"/>
              </a:defRPr>
            </a:pPr>
            <a:r>
              <a:t>官方权重在 ImageNetV2 固定子集上的实际表现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41832"/>
            <a:ext cx="11064240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B6C5DC"/>
                </a:solidFill>
                <a:latin typeface="Microsoft YaHei"/>
              </a:defRPr>
            </a:pPr>
            <a:r>
              <a:t>5 个官方型号 · ImageNetV2 matched-frequency 固定子集 1000 张（1000 类各 1 张，确定性选取）· 224×224 · batch 64 · FP32 · NVIDIA GeForce RTX 4060 Laptop GPU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55664"/>
            <a:ext cx="1083564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900" b="0">
                <a:solidFill>
                  <a:srgbClr val="B6C5DC"/>
                </a:solidFill>
                <a:latin typeface="Microsoft YaHei"/>
              </a:defRPr>
            </a:pPr>
            <a:r>
              <a:t>数据来源：outputs/pretrained_eval/&lt;model&gt;/metrics.json（Top-1/Top-5/参数量/MACs/文件大小）· 清单 datasets/lists/imagenetv2_mf_1000.txt（SHA-256 见 report/IMAGENETV2_PROVENANCE.md）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2823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200" b="0">
                <a:solidFill>
                  <a:srgbClr val="B6C5DC"/>
                </a:solidFill>
                <a:latin typeface="Microsoft YaHei"/>
              </a:defRPr>
            </a:pPr>
            <a:r>
              <a:t>04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94360" y="1554480"/>
          <a:ext cx="7680960" cy="24917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88620"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型号</a:t>
                      </a:r>
                    </a:p>
                  </a:txBody>
                  <a:tcPr marL="109728" marR="109728">
                    <a:solidFill>
                      <a:srgbClr val="233A5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参数量 (M)</a:t>
                      </a:r>
                    </a:p>
                  </a:txBody>
                  <a:tcPr marL="109728" marR="109728">
                    <a:solidFill>
                      <a:srgbClr val="233A5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MACs (G)</a:t>
                      </a:r>
                    </a:p>
                  </a:txBody>
                  <a:tcPr marL="109728" marR="109728">
                    <a:solidFill>
                      <a:srgbClr val="233A5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文件大小 (MB)</a:t>
                      </a:r>
                    </a:p>
                  </a:txBody>
                  <a:tcPr marL="109728" marR="109728">
                    <a:solidFill>
                      <a:srgbClr val="233A5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Top-1</a:t>
                      </a:r>
                    </a:p>
                  </a:txBody>
                  <a:tcPr marL="109728" marR="109728">
                    <a:solidFill>
                      <a:srgbClr val="233A5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Top-5</a:t>
                      </a:r>
                    </a:p>
                  </a:txBody>
                  <a:tcPr marL="109728" marR="109728">
                    <a:solidFill>
                      <a:srgbClr val="233A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8620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M0.9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5.067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0.847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21.38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68.70%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85.70%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8620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M1.0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6.810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1.143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28.30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69.20%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86.40%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8620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M1.1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8.244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1.377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34.02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70.80%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87.20%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8620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M1.5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14.050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2.340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56.62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71.40%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89.00%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8620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M2.3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22.927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4.626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91.42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73.60%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89.90%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549640" y="1572768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55C5EF"/>
                </a:solidFill>
                <a:latin typeface="Microsoft YaHei"/>
              </a:defRPr>
            </a:pPr>
            <a:r>
              <a:t>预处理口径必须标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1901952"/>
            <a:ext cx="3063240" cy="1920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200" b="0">
                <a:solidFill>
                  <a:srgbClr val="B6C5DC"/>
                </a:solidFill>
                <a:latin typeface="Microsoft YaHei"/>
              </a:defRPr>
            </a:pPr>
            <a:r>
              <a:t>crop_pct = 0.875 → Resize(256) + CenterCrop(224)</a:t>
            </a:r>
          </a:p>
          <a:p>
            <a:pPr>
              <a:spcAft>
                <a:spcPts val="600"/>
              </a:spcAft>
              <a:defRPr sz="1200" b="0">
                <a:solidFill>
                  <a:srgbClr val="B6C5DC"/>
                </a:solidFill>
                <a:latin typeface="Microsoft YaHei"/>
              </a:defRPr>
            </a:pPr>
            <a:r>
              <a:t>crop_pct = 0.95 → Resize(235) + CenterCrop(224)</a:t>
            </a:r>
          </a:p>
          <a:p>
            <a:pPr>
              <a:spcAft>
                <a:spcPts val="600"/>
              </a:spcAft>
              <a:defRPr sz="1200" b="0">
                <a:solidFill>
                  <a:srgbClr val="B6C5DC"/>
                </a:solidFill>
                <a:latin typeface="Microsoft YaHei"/>
              </a:defRPr>
            </a:pPr>
            <a:r>
              <a:t>M0.9：68.70 / 68.30</a:t>
            </a:r>
          </a:p>
          <a:p>
            <a:pPr>
              <a:spcAft>
                <a:spcPts val="600"/>
              </a:spcAft>
              <a:defRPr sz="1200" b="0">
                <a:solidFill>
                  <a:srgbClr val="B6C5DC"/>
                </a:solidFill>
                <a:latin typeface="Microsoft YaHei"/>
              </a:defRPr>
            </a:pPr>
            <a:r>
              <a:t>M1.0：69.20 / 69.40</a:t>
            </a:r>
          </a:p>
          <a:p>
            <a:pPr>
              <a:spcAft>
                <a:spcPts val="600"/>
              </a:spcAft>
              <a:defRPr sz="1200" b="0">
                <a:solidFill>
                  <a:srgbClr val="B6C5DC"/>
                </a:solidFill>
                <a:latin typeface="Microsoft YaHei"/>
              </a:defRPr>
            </a:pPr>
            <a:r>
              <a:t>两套口径差 0.2~1.9 个点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4041648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55C5EF"/>
                </a:solidFill>
                <a:latin typeface="Microsoft YaHei"/>
              </a:defRPr>
            </a:pPr>
            <a:r>
              <a:t>必须声明的口径边界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4370832"/>
            <a:ext cx="10881360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250" b="0">
                <a:solidFill>
                  <a:srgbClr val="B6C5DC"/>
                </a:solidFill>
                <a:latin typeface="Microsoft YaHei"/>
              </a:defRPr>
            </a:pPr>
            <a:r>
              <a:t>· ImageNetV2 是独立重采样的测试集，不代表论文完整 ImageNet-1K 验证集结果；本页 Top-1/Top-5 与论文/官方的 ImageNet-1K 公布值不可直接比较。</a:t>
            </a:r>
          </a:p>
          <a:p>
            <a:pPr>
              <a:spcAft>
                <a:spcPts val="600"/>
              </a:spcAft>
              <a:defRPr sz="1250" b="0">
                <a:solidFill>
                  <a:srgbClr val="B6C5DC"/>
                </a:solidFill>
                <a:latin typeface="Microsoft YaHei"/>
              </a:defRPr>
            </a:pPr>
            <a:r>
              <a:t>· 清单固定可复现：1000 类各 1 张、按类目录内文件名 sorted() 取第一个、无随机种子（datasets/lists/imagenetv2_mf_1000.txt）。</a:t>
            </a:r>
          </a:p>
          <a:p>
            <a:pPr>
              <a:spcAft>
                <a:spcPts val="600"/>
              </a:spcAft>
              <a:defRPr sz="1250" b="0">
                <a:solidFill>
                  <a:srgbClr val="B6C5DC"/>
                </a:solidFill>
                <a:latin typeface="Microsoft YaHei"/>
              </a:defRPr>
            </a:pPr>
            <a:r>
              <a:t>· 参数量取「融合后单头」口径；MACs 取 thop「未融合」口径（不乘 2）；官方 iPhone 12 延迟（0.9 / 1.0 ms）与本机结果不可横向比较，延迟口径见第 14 页。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6" y="6071616"/>
            <a:ext cx="108356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050" b="0">
                <a:solidFill>
                  <a:srgbClr val="B6C5DC"/>
                </a:solidFill>
                <a:latin typeface="Microsoft YaHei"/>
              </a:defRPr>
            </a:pPr>
            <a:r>
              <a:t>元信息补全：推理后端 PyTorch 2.14.0+cu126（CUDA，逐型号评价）；测试次数：主口径 crop_pct=0.875 每型号评价次数 1 次（1000 张），另有 crop_pct=0.95 口径对照 1 次（仅额外推断，两套口径结果不可比）。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672846" y="505778"/>
            <a:ext cx="10833354" cy="799147"/>
            <a:chOff x="672846" y="505778"/>
            <a:chExt cx="10833354" cy="799147"/>
          </a:xfrm>
        </p:grpSpPr>
        <p:sp>
          <p:nvSpPr>
            <p:cNvPr id="2" name="TextBox 2"/>
            <p:cNvSpPr txBox="1"/>
            <p:nvPr/>
          </p:nvSpPr>
          <p:spPr>
            <a:xfrm>
              <a:off x="672846" y="505778"/>
              <a:ext cx="5793029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E6EDF7"/>
                  </a:solidFill>
                  <a:latin typeface="Microsoft YaHei"/>
                  <a:ea typeface="Microsoft YaHei"/>
                  <a:cs typeface="Microsoft YaHei"/>
                </a:rPr>
                <a:t>两套数据两套标签，三层划分零泄漏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679704" y="994410"/>
              <a:ext cx="569884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37 类与 1000 类必须分别使用各自的标签文件；混用会让 Top-5 名称整体错乱</a:t>
              </a:r>
            </a:p>
          </p:txBody>
        </p:sp>
        <p:sp>
          <p:nvSpPr>
            <p:cNvPr id="4" name="Line 4"/>
            <p:cNvSpPr/>
            <p:nvPr/>
          </p:nvSpPr>
          <p:spPr>
            <a:xfrm>
              <a:off x="685800" y="129540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19050">
              <a:solidFill>
                <a:srgbClr val="1E3050"/>
              </a:solidFill>
            </a:ln>
          </p:spPr>
          <p:txBody>
            <a:bodyPr/>
            <a:lstStyle/>
            <a:p>
              <a:endParaRPr/>
            </a:p>
          </p:txBody>
        </p:sp>
      </p:grpSp>
      <p:grpSp>
        <p:nvGrpSpPr>
          <p:cNvPr id="33" name="Group 33"/>
          <p:cNvGrpSpPr/>
          <p:nvPr/>
        </p:nvGrpSpPr>
        <p:grpSpPr>
          <a:xfrm>
            <a:off x="685800" y="1600200"/>
            <a:ext cx="6667500" cy="2552700"/>
            <a:chOff x="685800" y="1600200"/>
            <a:chExt cx="6667500" cy="2552700"/>
          </a:xfrm>
        </p:grpSpPr>
        <p:sp>
          <p:nvSpPr>
            <p:cNvPr id="6" name="Rectangle 6"/>
            <p:cNvSpPr/>
            <p:nvPr/>
          </p:nvSpPr>
          <p:spPr>
            <a:xfrm>
              <a:off x="685800" y="1600200"/>
              <a:ext cx="6667500" cy="2552700"/>
            </a:xfrm>
            <a:prstGeom prst="roundRect">
              <a:avLst>
                <a:gd name="adj" fmla="val 3731"/>
              </a:avLst>
            </a:prstGeom>
            <a:solidFill>
              <a:srgbClr val="0F1728"/>
            </a:solidFill>
            <a:ln w="9525">
              <a:solidFill>
                <a:srgbClr val="1E3050"/>
              </a:solidFill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945642" y="1797368"/>
              <a:ext cx="441249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E6EDF7"/>
                  </a:solidFill>
                  <a:latin typeface="Microsoft YaHei"/>
                  <a:ea typeface="Microsoft YaHei"/>
                  <a:cs typeface="Microsoft YaHei"/>
                </a:rPr>
                <a:t>Oxford-IIIT Pet 划分（唯一划分脚本，seed=42）</a:t>
              </a:r>
            </a:p>
          </p:txBody>
        </p:sp>
        <p:sp>
          <p:nvSpPr>
            <p:cNvPr id="8" name="Line 8"/>
            <p:cNvSpPr/>
            <p:nvPr/>
          </p:nvSpPr>
          <p:spPr>
            <a:xfrm>
              <a:off x="952500" y="2076450"/>
              <a:ext cx="6134100" cy="9525"/>
            </a:xfrm>
            <a:custGeom>
              <a:avLst/>
              <a:gdLst/>
              <a:ahLst/>
              <a:cxnLst/>
              <a:rect l="l" t="t" r="r" b="b"/>
              <a:pathLst>
                <a:path w="6134100" h="9525">
                  <a:moveTo>
                    <a:pt x="0" y="0"/>
                  </a:moveTo>
                  <a:lnTo>
                    <a:pt x="6134100" y="0"/>
                  </a:lnTo>
                </a:path>
              </a:pathLst>
            </a:custGeom>
            <a:noFill/>
            <a:ln w="9525">
              <a:solidFill>
                <a:srgbClr val="1E3050"/>
              </a:solidFill>
            </a:ln>
          </p:spPr>
          <p:txBody>
            <a:bodyPr/>
            <a:lstStyle/>
            <a:p>
              <a:endParaRPr/>
            </a:p>
          </p:txBody>
        </p:sp>
        <p:grpSp>
          <p:nvGrpSpPr>
            <p:cNvPr id="12" name="Group 12"/>
            <p:cNvGrpSpPr/>
            <p:nvPr/>
          </p:nvGrpSpPr>
          <p:grpSpPr>
            <a:xfrm>
              <a:off x="952500" y="2266950"/>
              <a:ext cx="1905000" cy="533400"/>
              <a:chOff x="952500" y="2266950"/>
              <a:chExt cx="1905000" cy="533400"/>
            </a:xfrm>
          </p:grpSpPr>
          <p:sp>
            <p:nvSpPr>
              <p:cNvPr id="9" name="Rectangle 9"/>
              <p:cNvSpPr/>
              <p:nvPr/>
            </p:nvSpPr>
            <p:spPr>
              <a:xfrm>
                <a:off x="952500" y="2266950"/>
                <a:ext cx="1905000" cy="533400"/>
              </a:xfrm>
              <a:prstGeom prst="roundRect">
                <a:avLst>
                  <a:gd name="adj" fmla="val 10714"/>
                </a:avLst>
              </a:prstGeom>
              <a:solidFill>
                <a:srgbClr val="1B2740"/>
              </a:solidFill>
              <a:ln>
                <a:noFill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" name="TextBox 10"/>
              <p:cNvSpPr txBox="1"/>
              <p:nvPr/>
            </p:nvSpPr>
            <p:spPr>
              <a:xfrm>
                <a:off x="1439423" y="2393156"/>
                <a:ext cx="931154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120" dirty="0">
                    <a:solidFill>
                      <a:srgbClr val="93A4C0"/>
                    </a:solidFill>
                    <a:latin typeface="Consolas"/>
                    <a:ea typeface="Consolas"/>
                    <a:cs typeface="Consolas"/>
                  </a:rPr>
                  <a:t>trainval.txt</a:t>
                </a:r>
              </a:p>
            </p:txBody>
          </p:sp>
          <p:sp>
            <p:nvSpPr>
              <p:cNvPr id="11" name="TextBox 11"/>
              <p:cNvSpPr txBox="1"/>
              <p:nvPr/>
            </p:nvSpPr>
            <p:spPr>
              <a:xfrm>
                <a:off x="1652302" y="2591752"/>
                <a:ext cx="505397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C7096"/>
                    </a:solidFill>
                    <a:latin typeface="Consolas"/>
                    <a:ea typeface="Microsoft YaHei"/>
                    <a:cs typeface="Consolas"/>
                  </a:rPr>
                  <a:t>3680 行</a:t>
                </a:r>
              </a:p>
            </p:txBody>
          </p:sp>
        </p:grpSp>
        <p:grpSp>
          <p:nvGrpSpPr>
            <p:cNvPr id="16" name="Group 16"/>
            <p:cNvGrpSpPr/>
            <p:nvPr/>
          </p:nvGrpSpPr>
          <p:grpSpPr>
            <a:xfrm>
              <a:off x="3238500" y="2266950"/>
              <a:ext cx="1714500" cy="533400"/>
              <a:chOff x="3238500" y="2266950"/>
              <a:chExt cx="1714500" cy="533400"/>
            </a:xfrm>
          </p:grpSpPr>
          <p:sp>
            <p:nvSpPr>
              <p:cNvPr id="13" name="Rectangle 13"/>
              <p:cNvSpPr/>
              <p:nvPr/>
            </p:nvSpPr>
            <p:spPr>
              <a:xfrm>
                <a:off x="3238500" y="2266950"/>
                <a:ext cx="1714500" cy="533400"/>
              </a:xfrm>
              <a:prstGeom prst="roundRect">
                <a:avLst>
                  <a:gd name="adj" fmla="val 10714"/>
                </a:avLst>
              </a:prstGeom>
              <a:solidFill>
                <a:srgbClr val="12233A"/>
              </a:solidFill>
              <a:ln w="9525">
                <a:solidFill>
                  <a:srgbClr val="35D0F0"/>
                </a:solidFill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" name="TextBox 14"/>
              <p:cNvSpPr txBox="1"/>
              <p:nvPr/>
            </p:nvSpPr>
            <p:spPr>
              <a:xfrm>
                <a:off x="3569863" y="2393156"/>
                <a:ext cx="1051773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120" dirty="0">
                    <a:solidFill>
                      <a:srgbClr val="35D0F0"/>
                    </a:solidFill>
                    <a:latin typeface="Consolas"/>
                    <a:ea typeface="Consolas"/>
                    <a:cs typeface="Consolas"/>
                  </a:rPr>
                  <a:t>pet_train.txt</a:t>
                </a:r>
              </a:p>
            </p:txBody>
          </p:sp>
          <p:sp>
            <p:nvSpPr>
              <p:cNvPr id="15" name="TextBox 15"/>
              <p:cNvSpPr txBox="1"/>
              <p:nvPr/>
            </p:nvSpPr>
            <p:spPr>
              <a:xfrm>
                <a:off x="3404864" y="2591752"/>
                <a:ext cx="1381773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E6EDF7"/>
                    </a:solidFill>
                    <a:latin typeface="Consolas"/>
                    <a:ea typeface="Microsoft YaHei"/>
                    <a:cs typeface="Consolas"/>
                  </a:rPr>
                  <a:t>2940 行 · 每类 73~80</a:t>
                </a:r>
              </a:p>
            </p:txBody>
          </p:sp>
        </p:grpSp>
        <p:grpSp>
          <p:nvGrpSpPr>
            <p:cNvPr id="20" name="Group 20"/>
            <p:cNvGrpSpPr/>
            <p:nvPr/>
          </p:nvGrpSpPr>
          <p:grpSpPr>
            <a:xfrm>
              <a:off x="5334000" y="2266950"/>
              <a:ext cx="1714500" cy="533400"/>
              <a:chOff x="5334000" y="2266950"/>
              <a:chExt cx="1714500" cy="533400"/>
            </a:xfrm>
          </p:grpSpPr>
          <p:sp>
            <p:nvSpPr>
              <p:cNvPr id="17" name="Rectangle 17"/>
              <p:cNvSpPr/>
              <p:nvPr/>
            </p:nvSpPr>
            <p:spPr>
              <a:xfrm>
                <a:off x="5334000" y="2266950"/>
                <a:ext cx="1714500" cy="533400"/>
              </a:xfrm>
              <a:prstGeom prst="roundRect">
                <a:avLst>
                  <a:gd name="adj" fmla="val 10714"/>
                </a:avLst>
              </a:prstGeom>
              <a:solidFill>
                <a:srgbClr val="12233A"/>
              </a:solidFill>
              <a:ln w="9525">
                <a:solidFill>
                  <a:srgbClr val="35D0F0"/>
                </a:solidFill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" name="TextBox 18"/>
              <p:cNvSpPr txBox="1"/>
              <p:nvPr/>
            </p:nvSpPr>
            <p:spPr>
              <a:xfrm>
                <a:off x="5748289" y="2393156"/>
                <a:ext cx="885922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120" dirty="0">
                    <a:solidFill>
                      <a:srgbClr val="35D0F0"/>
                    </a:solidFill>
                    <a:latin typeface="Consolas"/>
                    <a:ea typeface="Consolas"/>
                    <a:cs typeface="Consolas"/>
                  </a:rPr>
                  <a:t>pet_val.txt</a:t>
                </a:r>
              </a:p>
            </p:txBody>
          </p:sp>
          <p:sp>
            <p:nvSpPr>
              <p:cNvPr id="19" name="TextBox 19"/>
              <p:cNvSpPr txBox="1"/>
              <p:nvPr/>
            </p:nvSpPr>
            <p:spPr>
              <a:xfrm>
                <a:off x="5514499" y="2591752"/>
                <a:ext cx="1353503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E6EDF7"/>
                    </a:solidFill>
                    <a:latin typeface="Consolas"/>
                    <a:ea typeface="Microsoft YaHei"/>
                    <a:cs typeface="Consolas"/>
                  </a:rPr>
                  <a:t>740 行 · 每类恰好 20</a:t>
                </a:r>
              </a:p>
            </p:txBody>
          </p:sp>
        </p:grpSp>
        <p:grpSp>
          <p:nvGrpSpPr>
            <p:cNvPr id="24" name="Group 24"/>
            <p:cNvGrpSpPr/>
            <p:nvPr/>
          </p:nvGrpSpPr>
          <p:grpSpPr>
            <a:xfrm>
              <a:off x="952500" y="3105150"/>
              <a:ext cx="1905000" cy="533400"/>
              <a:chOff x="952500" y="3105150"/>
              <a:chExt cx="1905000" cy="533400"/>
            </a:xfrm>
          </p:grpSpPr>
          <p:sp>
            <p:nvSpPr>
              <p:cNvPr id="21" name="Rectangle 21"/>
              <p:cNvSpPr/>
              <p:nvPr/>
            </p:nvSpPr>
            <p:spPr>
              <a:xfrm>
                <a:off x="952500" y="3105150"/>
                <a:ext cx="1905000" cy="533400"/>
              </a:xfrm>
              <a:prstGeom prst="roundRect">
                <a:avLst>
                  <a:gd name="adj" fmla="val 10714"/>
                </a:avLst>
              </a:prstGeom>
              <a:solidFill>
                <a:srgbClr val="1B2740"/>
              </a:solidFill>
              <a:ln>
                <a:noFill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" name="TextBox 22"/>
              <p:cNvSpPr txBox="1"/>
              <p:nvPr/>
            </p:nvSpPr>
            <p:spPr>
              <a:xfrm>
                <a:off x="1567581" y="3231356"/>
                <a:ext cx="674837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120" dirty="0">
                    <a:solidFill>
                      <a:srgbClr val="93A4C0"/>
                    </a:solidFill>
                    <a:latin typeface="Consolas"/>
                    <a:ea typeface="Consolas"/>
                    <a:cs typeface="Consolas"/>
                  </a:rPr>
                  <a:t>test.txt</a:t>
                </a:r>
              </a:p>
            </p:txBody>
          </p:sp>
          <p:sp>
            <p:nvSpPr>
              <p:cNvPr id="23" name="TextBox 23"/>
              <p:cNvSpPr txBox="1"/>
              <p:nvPr/>
            </p:nvSpPr>
            <p:spPr>
              <a:xfrm>
                <a:off x="1652302" y="3429952"/>
                <a:ext cx="505397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C7096"/>
                    </a:solidFill>
                    <a:latin typeface="Consolas"/>
                    <a:ea typeface="Microsoft YaHei"/>
                    <a:cs typeface="Consolas"/>
                  </a:rPr>
                  <a:t>3669 行</a:t>
                </a:r>
              </a:p>
            </p:txBody>
          </p:sp>
        </p:grpSp>
        <p:grpSp>
          <p:nvGrpSpPr>
            <p:cNvPr id="28" name="Group 28"/>
            <p:cNvGrpSpPr/>
            <p:nvPr/>
          </p:nvGrpSpPr>
          <p:grpSpPr>
            <a:xfrm>
              <a:off x="3238500" y="3105150"/>
              <a:ext cx="1714500" cy="533400"/>
              <a:chOff x="3238500" y="3105150"/>
              <a:chExt cx="1714500" cy="533400"/>
            </a:xfrm>
          </p:grpSpPr>
          <p:sp>
            <p:nvSpPr>
              <p:cNvPr id="25" name="Rectangle 25"/>
              <p:cNvSpPr/>
              <p:nvPr/>
            </p:nvSpPr>
            <p:spPr>
              <a:xfrm>
                <a:off x="3238500" y="3105150"/>
                <a:ext cx="1714500" cy="533400"/>
              </a:xfrm>
              <a:prstGeom prst="roundRect">
                <a:avLst>
                  <a:gd name="adj" fmla="val 10714"/>
                </a:avLst>
              </a:prstGeom>
              <a:solidFill>
                <a:srgbClr val="12233A"/>
              </a:solidFill>
              <a:ln w="9525">
                <a:solidFill>
                  <a:srgbClr val="3FDB9B"/>
                </a:solidFill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" name="TextBox 26"/>
              <p:cNvSpPr txBox="1"/>
              <p:nvPr/>
            </p:nvSpPr>
            <p:spPr>
              <a:xfrm>
                <a:off x="3592479" y="3231356"/>
                <a:ext cx="1006541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120" dirty="0">
                    <a:solidFill>
                      <a:srgbClr val="3FDB9B"/>
                    </a:solidFill>
                    <a:latin typeface="Consolas"/>
                    <a:ea typeface="Consolas"/>
                    <a:cs typeface="Consolas"/>
                  </a:rPr>
                  <a:t>pet_test.txt</a:t>
                </a:r>
              </a:p>
            </p:txBody>
          </p:sp>
          <p:sp>
            <p:nvSpPr>
              <p:cNvPr id="27" name="TextBox 27"/>
              <p:cNvSpPr txBox="1"/>
              <p:nvPr/>
            </p:nvSpPr>
            <p:spPr>
              <a:xfrm>
                <a:off x="3365992" y="3429952"/>
                <a:ext cx="1459516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E6EDF7"/>
                    </a:solidFill>
                    <a:latin typeface="Consolas"/>
                    <a:ea typeface="Microsoft YaHei"/>
                    <a:cs typeface="Consolas"/>
                  </a:rPr>
                  <a:t>3669 行 · 每类 88~100</a:t>
                </a:r>
              </a:p>
            </p:txBody>
          </p:sp>
        </p:grpSp>
        <p:grpSp>
          <p:nvGrpSpPr>
            <p:cNvPr id="32" name="Group 32"/>
            <p:cNvGrpSpPr/>
            <p:nvPr/>
          </p:nvGrpSpPr>
          <p:grpSpPr>
            <a:xfrm>
              <a:off x="947166" y="3239452"/>
              <a:ext cx="5901111" cy="776859"/>
              <a:chOff x="947166" y="3239452"/>
              <a:chExt cx="5901111" cy="776859"/>
            </a:xfrm>
          </p:grpSpPr>
          <p:sp>
            <p:nvSpPr>
              <p:cNvPr id="29" name="TextBox 29"/>
              <p:cNvSpPr txBox="1"/>
              <p:nvPr/>
            </p:nvSpPr>
            <p:spPr>
              <a:xfrm>
                <a:off x="5328666" y="3239452"/>
                <a:ext cx="1070801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FFC857"/>
                    </a:solidFill>
                    <a:latin typeface="Microsoft YaHei"/>
                    <a:ea typeface="Microsoft YaHei"/>
                    <a:cs typeface="Microsoft YaHei"/>
                  </a:rPr>
                  <a:t>Baseline 的 test 只评价 1 次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5328666" y="3429952"/>
                <a:ext cx="993057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050" dirty="0">
                    <a:solidFill>
                      <a:srgbClr val="93A4C0"/>
                    </a:solidFill>
                    <a:latin typeface="Consolas"/>
                    <a:ea typeface="Consolas"/>
                    <a:cs typeface="Consolas"/>
                  </a:rPr>
                  <a:t>eval_count = 1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947166" y="3810952"/>
                <a:ext cx="5901111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C7096"/>
                    </a:solidFill>
                    <a:latin typeface="Microsoft YaHei"/>
                    <a:ea typeface="Microsoft YaHei"/>
                    <a:cs typeface="Microsoft YaHei"/>
                  </a:rPr>
                  <a:t>官方 CLASS-ID 是 1-based，0-based 标签 = CLASS-ID − 1；类名用 rsplit('_', 1) 取前缀</a:t>
                </a:r>
              </a:p>
            </p:txBody>
          </p:sp>
        </p:grpSp>
      </p:grpSp>
      <p:grpSp>
        <p:nvGrpSpPr>
          <p:cNvPr id="47" name="Group 47"/>
          <p:cNvGrpSpPr/>
          <p:nvPr/>
        </p:nvGrpSpPr>
        <p:grpSpPr>
          <a:xfrm>
            <a:off x="7658100" y="1600200"/>
            <a:ext cx="3848100" cy="2552700"/>
            <a:chOff x="7658100" y="1600200"/>
            <a:chExt cx="3848100" cy="2552700"/>
          </a:xfrm>
        </p:grpSpPr>
        <p:sp>
          <p:nvSpPr>
            <p:cNvPr id="34" name="Rectangle 34"/>
            <p:cNvSpPr/>
            <p:nvPr/>
          </p:nvSpPr>
          <p:spPr>
            <a:xfrm>
              <a:off x="7658100" y="1600200"/>
              <a:ext cx="3848100" cy="2552700"/>
            </a:xfrm>
            <a:prstGeom prst="roundRect">
              <a:avLst>
                <a:gd name="adj" fmla="val 3731"/>
              </a:avLst>
            </a:prstGeom>
            <a:solidFill>
              <a:srgbClr val="131C2E"/>
            </a:solidFill>
            <a:ln w="9525">
              <a:solidFill>
                <a:srgbClr val="1E3050"/>
              </a:solidFill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7898892" y="1797368"/>
              <a:ext cx="233222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E6EDF7"/>
                  </a:solidFill>
                  <a:latin typeface="Microsoft YaHei"/>
                  <a:ea typeface="Microsoft YaHei"/>
                  <a:cs typeface="Microsoft YaHei"/>
                </a:rPr>
                <a:t>泄漏检查（三层 + 内容级）</a:t>
              </a:r>
            </a:p>
          </p:txBody>
        </p:sp>
        <p:sp>
          <p:nvSpPr>
            <p:cNvPr id="36" name="Line 36"/>
            <p:cNvSpPr/>
            <p:nvPr/>
          </p:nvSpPr>
          <p:spPr>
            <a:xfrm>
              <a:off x="7905750" y="2076450"/>
              <a:ext cx="3352800" cy="9525"/>
            </a:xfrm>
            <a:custGeom>
              <a:avLst/>
              <a:gdLst/>
              <a:ahLst/>
              <a:cxnLst/>
              <a:rect l="l" t="t" r="r" b="b"/>
              <a:pathLst>
                <a:path w="3352800" h="9525">
                  <a:moveTo>
                    <a:pt x="0" y="0"/>
                  </a:moveTo>
                  <a:lnTo>
                    <a:pt x="3352800" y="0"/>
                  </a:lnTo>
                </a:path>
              </a:pathLst>
            </a:custGeom>
            <a:noFill/>
            <a:ln w="9525">
              <a:solidFill>
                <a:srgbClr val="1E3050"/>
              </a:solidFill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7900035" y="2297906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文件名交集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10614355" y="2289810"/>
              <a:ext cx="65029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200" dirty="0">
                  <a:solidFill>
                    <a:srgbClr val="3FDB9B"/>
                  </a:solidFill>
                  <a:latin typeface="Consolas"/>
                  <a:ea typeface="Consolas"/>
                  <a:cs typeface="Consolas"/>
                </a:rPr>
                <a:t>0 / 0 / 0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7900035" y="2640806"/>
              <a:ext cx="146910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MD5 交集（防改名）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10614355" y="2632710"/>
              <a:ext cx="65029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200" dirty="0">
                  <a:solidFill>
                    <a:srgbClr val="3FDB9B"/>
                  </a:solidFill>
                  <a:latin typeface="Consolas"/>
                  <a:ea typeface="Consolas"/>
                  <a:cs typeface="Consolas"/>
                </a:rPr>
                <a:t>0 / 0 / 0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7900035" y="2983706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孤儿图误入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11163605" y="2975610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200" dirty="0">
                  <a:solidFill>
                    <a:srgbClr val="3FDB9B"/>
                  </a:solidFill>
                  <a:latin typeface="Consolas"/>
                  <a:ea typeface="Consolas"/>
                  <a:cs typeface="Consolas"/>
                </a:rPr>
                <a:t>0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7900035" y="3326606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划分内部重复图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11163605" y="3318510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200" dirty="0">
                  <a:solidFill>
                    <a:srgbClr val="3FDB9B"/>
                  </a:solidFill>
                  <a:latin typeface="Consolas"/>
                  <a:ea typeface="Consolas"/>
                  <a:cs typeface="Consolas"/>
                </a:rPr>
                <a:t>0</a:t>
              </a:r>
            </a:p>
          </p:txBody>
        </p:sp>
        <p:sp>
          <p:nvSpPr>
            <p:cNvPr id="45" name="Line 45"/>
            <p:cNvSpPr/>
            <p:nvPr/>
          </p:nvSpPr>
          <p:spPr>
            <a:xfrm>
              <a:off x="7905750" y="3657600"/>
              <a:ext cx="3352800" cy="9525"/>
            </a:xfrm>
            <a:custGeom>
              <a:avLst/>
              <a:gdLst/>
              <a:ahLst/>
              <a:cxnLst/>
              <a:rect l="l" t="t" r="r" b="b"/>
              <a:pathLst>
                <a:path w="3352800" h="9525">
                  <a:moveTo>
                    <a:pt x="0" y="0"/>
                  </a:moveTo>
                  <a:lnTo>
                    <a:pt x="3352800" y="0"/>
                  </a:lnTo>
                </a:path>
              </a:pathLst>
            </a:custGeom>
            <a:noFill/>
            <a:ln w="9525">
              <a:solidFill>
                <a:srgbClr val="1E3050"/>
              </a:solidFill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7900416" y="3830002"/>
              <a:ext cx="239243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5C7096"/>
                  </a:solidFill>
                  <a:latin typeface="Microsoft YaHei"/>
                  <a:ea typeface="Microsoft YaHei"/>
                  <a:cs typeface="Microsoft YaHei"/>
                </a:rPr>
                <a:t>python datasets/audit_leakage.py</a:t>
              </a:r>
            </a:p>
          </p:txBody>
        </p:sp>
      </p:grpSp>
      <p:grpSp>
        <p:nvGrpSpPr>
          <p:cNvPr id="67" name="Group 67"/>
          <p:cNvGrpSpPr/>
          <p:nvPr/>
        </p:nvGrpSpPr>
        <p:grpSpPr>
          <a:xfrm>
            <a:off x="685800" y="4343400"/>
            <a:ext cx="10820400" cy="1714500"/>
            <a:chOff x="685800" y="4343400"/>
            <a:chExt cx="10820400" cy="1714500"/>
          </a:xfrm>
        </p:grpSpPr>
        <p:sp>
          <p:nvSpPr>
            <p:cNvPr id="48" name="Rectangle 48"/>
            <p:cNvSpPr/>
            <p:nvPr/>
          </p:nvSpPr>
          <p:spPr>
            <a:xfrm>
              <a:off x="685800" y="4343400"/>
              <a:ext cx="10820400" cy="1714500"/>
            </a:xfrm>
            <a:prstGeom prst="roundRect">
              <a:avLst>
                <a:gd name="adj" fmla="val 5556"/>
              </a:avLst>
            </a:prstGeom>
            <a:solidFill>
              <a:srgbClr val="0F1728"/>
            </a:solidFill>
            <a:ln w="9525">
              <a:solidFill>
                <a:srgbClr val="1E3050"/>
              </a:solidFill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945642" y="4540568"/>
              <a:ext cx="268525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E6EDF7"/>
                  </a:solidFill>
                  <a:latin typeface="Microsoft YaHei"/>
                  <a:ea typeface="Microsoft YaHei"/>
                  <a:cs typeface="Microsoft YaHei"/>
                </a:rPr>
                <a:t>官方数据事实基线（全部实测）</a:t>
              </a:r>
            </a:p>
          </p:txBody>
        </p:sp>
        <p:sp>
          <p:nvSpPr>
            <p:cNvPr id="50" name="Line 50"/>
            <p:cNvSpPr/>
            <p:nvPr/>
          </p:nvSpPr>
          <p:spPr>
            <a:xfrm>
              <a:off x="952500" y="4819650"/>
              <a:ext cx="10287000" cy="9525"/>
            </a:xfrm>
            <a:custGeom>
              <a:avLst/>
              <a:gdLst/>
              <a:ahLst/>
              <a:cxnLst/>
              <a:rect l="l" t="t" r="r" b="b"/>
              <a:pathLst>
                <a:path w="10287000" h="9525">
                  <a:moveTo>
                    <a:pt x="0" y="0"/>
                  </a:moveTo>
                  <a:lnTo>
                    <a:pt x="10287000" y="0"/>
                  </a:lnTo>
                </a:path>
              </a:pathLst>
            </a:custGeom>
            <a:noFill/>
            <a:ln w="9525">
              <a:solidFill>
                <a:srgbClr val="1E3050"/>
              </a:solidFill>
            </a:ln>
          </p:spPr>
          <p:txBody>
            <a:bodyPr/>
            <a:lstStyle/>
            <a:p>
              <a:endParaRPr/>
            </a:p>
          </p:txBody>
        </p:sp>
        <p:grpSp>
          <p:nvGrpSpPr>
            <p:cNvPr id="53" name="Group 53"/>
            <p:cNvGrpSpPr/>
            <p:nvPr/>
          </p:nvGrpSpPr>
          <p:grpSpPr>
            <a:xfrm>
              <a:off x="941832" y="4954905"/>
              <a:ext cx="1118540" cy="585406"/>
              <a:chOff x="941832" y="4954905"/>
              <a:chExt cx="1118540" cy="585406"/>
            </a:xfrm>
          </p:grpSpPr>
          <p:sp>
            <p:nvSpPr>
              <p:cNvPr id="51" name="TextBox 51"/>
              <p:cNvSpPr txBox="1"/>
              <p:nvPr/>
            </p:nvSpPr>
            <p:spPr>
              <a:xfrm>
                <a:off x="941832" y="4954905"/>
                <a:ext cx="674378" cy="41071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2100" b="1" dirty="0">
                    <a:solidFill>
                      <a:srgbClr val="35D0F0"/>
                    </a:solidFill>
                    <a:latin typeface="Consolas"/>
                    <a:ea typeface="Consolas"/>
                    <a:cs typeface="Consolas"/>
                  </a:rPr>
                  <a:t>7390</a:t>
                </a:r>
              </a:p>
            </p:txBody>
          </p:sp>
          <p:sp>
            <p:nvSpPr>
              <p:cNvPr id="52" name="TextBox 52"/>
              <p:cNvSpPr txBox="1"/>
              <p:nvPr/>
            </p:nvSpPr>
            <p:spPr>
              <a:xfrm>
                <a:off x="947166" y="5334952"/>
                <a:ext cx="1113206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93A4C0"/>
                    </a:solidFill>
                    <a:latin typeface="Microsoft YaHei"/>
                    <a:ea typeface="Microsoft YaHei"/>
                    <a:cs typeface="Microsoft YaHei"/>
                  </a:rPr>
                  <a:t>images/ 下的 jpg</a:t>
                </a:r>
              </a:p>
            </p:txBody>
          </p:sp>
        </p:grpSp>
        <p:grpSp>
          <p:nvGrpSpPr>
            <p:cNvPr id="56" name="Group 56"/>
            <p:cNvGrpSpPr/>
            <p:nvPr/>
          </p:nvGrpSpPr>
          <p:grpSpPr>
            <a:xfrm>
              <a:off x="3132582" y="4954905"/>
              <a:ext cx="1203350" cy="585406"/>
              <a:chOff x="3132582" y="4954905"/>
              <a:chExt cx="1203350" cy="585406"/>
            </a:xfrm>
          </p:grpSpPr>
          <p:sp>
            <p:nvSpPr>
              <p:cNvPr id="54" name="TextBox 54"/>
              <p:cNvSpPr txBox="1"/>
              <p:nvPr/>
            </p:nvSpPr>
            <p:spPr>
              <a:xfrm>
                <a:off x="3132582" y="4954905"/>
                <a:ext cx="674378" cy="41071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2100" b="1" dirty="0">
                    <a:solidFill>
                      <a:srgbClr val="35D0F0"/>
                    </a:solidFill>
                    <a:latin typeface="Consolas"/>
                    <a:ea typeface="Consolas"/>
                    <a:cs typeface="Consolas"/>
                  </a:rPr>
                  <a:t>3680</a:t>
                </a:r>
              </a:p>
            </p:txBody>
          </p:sp>
          <p:sp>
            <p:nvSpPr>
              <p:cNvPr id="55" name="TextBox 55"/>
              <p:cNvSpPr txBox="1"/>
              <p:nvPr/>
            </p:nvSpPr>
            <p:spPr>
              <a:xfrm>
                <a:off x="3137916" y="5334952"/>
                <a:ext cx="1198016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93A4C0"/>
                    </a:solidFill>
                    <a:latin typeface="Microsoft YaHei"/>
                    <a:ea typeface="Microsoft YaHei"/>
                    <a:cs typeface="Microsoft YaHei"/>
                  </a:rPr>
                  <a:t>trainval.txt 行数</a:t>
                </a:r>
              </a:p>
            </p:txBody>
          </p:sp>
        </p:grpSp>
        <p:grpSp>
          <p:nvGrpSpPr>
            <p:cNvPr id="59" name="Group 59"/>
            <p:cNvGrpSpPr/>
            <p:nvPr/>
          </p:nvGrpSpPr>
          <p:grpSpPr>
            <a:xfrm>
              <a:off x="5323332" y="4954905"/>
              <a:ext cx="963054" cy="585406"/>
              <a:chOff x="5323332" y="4954905"/>
              <a:chExt cx="963054" cy="585406"/>
            </a:xfrm>
          </p:grpSpPr>
          <p:sp>
            <p:nvSpPr>
              <p:cNvPr id="57" name="TextBox 57"/>
              <p:cNvSpPr txBox="1"/>
              <p:nvPr/>
            </p:nvSpPr>
            <p:spPr>
              <a:xfrm>
                <a:off x="5323332" y="4954905"/>
                <a:ext cx="674378" cy="41071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2100" b="1" dirty="0">
                    <a:solidFill>
                      <a:srgbClr val="35D0F0"/>
                    </a:solidFill>
                    <a:latin typeface="Consolas"/>
                    <a:ea typeface="Consolas"/>
                    <a:cs typeface="Consolas"/>
                  </a:rPr>
                  <a:t>3669</a:t>
                </a:r>
              </a:p>
            </p:txBody>
          </p:sp>
          <p:sp>
            <p:nvSpPr>
              <p:cNvPr id="58" name="TextBox 58"/>
              <p:cNvSpPr txBox="1"/>
              <p:nvPr/>
            </p:nvSpPr>
            <p:spPr>
              <a:xfrm>
                <a:off x="5328666" y="5334952"/>
                <a:ext cx="957720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93A4C0"/>
                    </a:solidFill>
                    <a:latin typeface="Microsoft YaHei"/>
                    <a:ea typeface="Microsoft YaHei"/>
                    <a:cs typeface="Microsoft YaHei"/>
                  </a:rPr>
                  <a:t>test.txt 行数</a:t>
                </a:r>
              </a:p>
            </p:txBody>
          </p:sp>
        </p:grpSp>
        <p:grpSp>
          <p:nvGrpSpPr>
            <p:cNvPr id="62" name="Group 62"/>
            <p:cNvGrpSpPr/>
            <p:nvPr/>
          </p:nvGrpSpPr>
          <p:grpSpPr>
            <a:xfrm>
              <a:off x="7514082" y="4954905"/>
              <a:ext cx="1015740" cy="585406"/>
              <a:chOff x="7514082" y="4954905"/>
              <a:chExt cx="1015740" cy="585406"/>
            </a:xfrm>
          </p:grpSpPr>
          <p:sp>
            <p:nvSpPr>
              <p:cNvPr id="60" name="TextBox 60"/>
              <p:cNvSpPr txBox="1"/>
              <p:nvPr/>
            </p:nvSpPr>
            <p:spPr>
              <a:xfrm>
                <a:off x="7514082" y="4954905"/>
                <a:ext cx="1015740" cy="41071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2100" b="1" dirty="0">
                    <a:solidFill>
                      <a:srgbClr val="FFC857"/>
                    </a:solidFill>
                    <a:latin typeface="Consolas"/>
                    <a:ea typeface="Consolas"/>
                    <a:cs typeface="Consolas"/>
                  </a:rPr>
                  <a:t>12 / 25</a:t>
                </a:r>
              </a:p>
            </p:txBody>
          </p:sp>
          <p:sp>
            <p:nvSpPr>
              <p:cNvPr id="61" name="TextBox 61"/>
              <p:cNvSpPr txBox="1"/>
              <p:nvPr/>
            </p:nvSpPr>
            <p:spPr>
              <a:xfrm>
                <a:off x="7519416" y="5334952"/>
                <a:ext cx="922382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93A4C0"/>
                    </a:solidFill>
                    <a:latin typeface="Microsoft YaHei"/>
                    <a:ea typeface="Microsoft YaHei"/>
                    <a:cs typeface="Microsoft YaHei"/>
                  </a:rPr>
                  <a:t>猫 / 狗 类别数</a:t>
                </a:r>
              </a:p>
            </p:txBody>
          </p:sp>
        </p:grpSp>
        <p:grpSp>
          <p:nvGrpSpPr>
            <p:cNvPr id="65" name="Group 65"/>
            <p:cNvGrpSpPr/>
            <p:nvPr/>
          </p:nvGrpSpPr>
          <p:grpSpPr>
            <a:xfrm>
              <a:off x="9704832" y="4954905"/>
              <a:ext cx="1164159" cy="585406"/>
              <a:chOff x="9704832" y="4954905"/>
              <a:chExt cx="1164159" cy="585406"/>
            </a:xfrm>
          </p:grpSpPr>
          <p:sp>
            <p:nvSpPr>
              <p:cNvPr id="63" name="TextBox 63"/>
              <p:cNvSpPr txBox="1"/>
              <p:nvPr/>
            </p:nvSpPr>
            <p:spPr>
              <a:xfrm>
                <a:off x="9704832" y="4954905"/>
                <a:ext cx="1164159" cy="41071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2100" b="1" dirty="0">
                    <a:solidFill>
                      <a:srgbClr val="FFC857"/>
                    </a:solidFill>
                    <a:latin typeface="Consolas"/>
                    <a:ea typeface="Consolas"/>
                    <a:cs typeface="Consolas"/>
                  </a:rPr>
                  <a:t>1-based</a:t>
                </a:r>
              </a:p>
            </p:txBody>
          </p:sp>
          <p:sp>
            <p:nvSpPr>
              <p:cNvPr id="64" name="TextBox 64"/>
              <p:cNvSpPr txBox="1"/>
              <p:nvPr/>
            </p:nvSpPr>
            <p:spPr>
              <a:xfrm>
                <a:off x="9710166" y="5334952"/>
                <a:ext cx="973988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93A4C0"/>
                    </a:solidFill>
                    <a:latin typeface="Microsoft YaHei"/>
                    <a:ea typeface="Microsoft YaHei"/>
                    <a:cs typeface="Microsoft YaHei"/>
                  </a:rPr>
                  <a:t>官方 CLASS-ID</a:t>
                </a:r>
              </a:p>
            </p:txBody>
          </p:sp>
        </p:grpSp>
        <p:sp>
          <p:nvSpPr>
            <p:cNvPr id="66" name="TextBox 66"/>
            <p:cNvSpPr txBox="1"/>
            <p:nvPr/>
          </p:nvSpPr>
          <p:spPr>
            <a:xfrm>
              <a:off x="947166" y="5715952"/>
              <a:ext cx="621597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C7096"/>
                  </a:solidFill>
                  <a:latin typeface="Microsoft YaHei"/>
                  <a:ea typeface="Microsoft YaHei"/>
                  <a:cs typeface="Microsoft YaHei"/>
                </a:rPr>
                <a:t>官方不存在 train.txt / val.txt，只有 trainval.txt 与 test.txt；train/val 必须自行分层切分</a:t>
              </a:r>
            </a:p>
          </p:txBody>
        </p:sp>
      </p:grpSp>
      <p:grpSp>
        <p:nvGrpSpPr>
          <p:cNvPr id="71" name="Group 71"/>
          <p:cNvGrpSpPr/>
          <p:nvPr/>
        </p:nvGrpSpPr>
        <p:grpSpPr>
          <a:xfrm>
            <a:off x="680847" y="6210300"/>
            <a:ext cx="10830687" cy="358711"/>
            <a:chOff x="680847" y="6210300"/>
            <a:chExt cx="10830687" cy="358711"/>
          </a:xfrm>
        </p:grpSpPr>
        <p:sp>
          <p:nvSpPr>
            <p:cNvPr id="68" name="Line 68"/>
            <p:cNvSpPr/>
            <p:nvPr/>
          </p:nvSpPr>
          <p:spPr>
            <a:xfrm>
              <a:off x="685800" y="621030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9525">
              <a:solidFill>
                <a:srgbClr val="1E3050"/>
              </a:solidFill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" name="TextBox 69"/>
            <p:cNvSpPr txBox="1"/>
            <p:nvPr/>
          </p:nvSpPr>
          <p:spPr>
            <a:xfrm>
              <a:off x="680847" y="6371749"/>
              <a:ext cx="721315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C7096"/>
                  </a:solidFill>
                  <a:latin typeface="Microsoft YaHei"/>
                  <a:ea typeface="Microsoft YaHei"/>
                  <a:cs typeface="Microsoft YaHei"/>
                </a:rPr>
                <a:t>数据来源：outputs/metrics/leakage_check.json · dataset_report.json · pet_label_audit.json · split_audit.json</a:t>
              </a:r>
            </a:p>
          </p:txBody>
        </p:sp>
        <p:sp>
          <p:nvSpPr>
            <p:cNvPr id="70" name="TextBox 70"/>
            <p:cNvSpPr txBox="1"/>
            <p:nvPr/>
          </p:nvSpPr>
          <p:spPr>
            <a:xfrm>
              <a:off x="11345380" y="6363652"/>
              <a:ext cx="16615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050" dirty="0">
                  <a:solidFill>
                    <a:srgbClr val="5C7096"/>
                  </a:solidFill>
                  <a:latin typeface="Consolas"/>
                  <a:ea typeface="Consolas"/>
                  <a:cs typeface="Consolas"/>
                </a:rPr>
                <a:t>05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672846" y="505778"/>
            <a:ext cx="10833354" cy="799147"/>
            <a:chOff x="672846" y="505778"/>
            <a:chExt cx="10833354" cy="799147"/>
          </a:xfrm>
        </p:grpSpPr>
        <p:sp>
          <p:nvSpPr>
            <p:cNvPr id="2" name="TextBox 2"/>
            <p:cNvSpPr txBox="1"/>
            <p:nvPr/>
          </p:nvSpPr>
          <p:spPr>
            <a:xfrm>
              <a:off x="672846" y="505778"/>
              <a:ext cx="7667173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E6EDF7"/>
                  </a:solidFill>
                  <a:latin typeface="Microsoft YaHei"/>
                  <a:ea typeface="Microsoft YaHei"/>
                  <a:cs typeface="Microsoft YaHei"/>
                </a:rPr>
                <a:t>40 epoch 迁移训练把 test Top-1 做到 92.34%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679704" y="994410"/>
              <a:ext cx="699694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AdamW · cosine + 3ep warmup · Label Smoothing 0.1 · bf16 autocast · batch 64 · seed 42</a:t>
              </a:r>
            </a:p>
          </p:txBody>
        </p:sp>
        <p:sp>
          <p:nvSpPr>
            <p:cNvPr id="4" name="Line 4"/>
            <p:cNvSpPr/>
            <p:nvPr/>
          </p:nvSpPr>
          <p:spPr>
            <a:xfrm>
              <a:off x="685800" y="129540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19050">
              <a:solidFill>
                <a:srgbClr val="1E3050"/>
              </a:solidFill>
            </a:ln>
          </p:spPr>
          <p:txBody>
            <a:bodyPr/>
            <a:lstStyle/>
            <a:p>
              <a:endParaRPr/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685800" y="1600200"/>
            <a:ext cx="6667500" cy="2076450"/>
            <a:chOff x="685800" y="1600200"/>
            <a:chExt cx="6667500" cy="2076450"/>
          </a:xfrm>
        </p:grpSpPr>
        <p:sp>
          <p:nvSpPr>
            <p:cNvPr id="6" name="Rectangle 6"/>
            <p:cNvSpPr/>
            <p:nvPr/>
          </p:nvSpPr>
          <p:spPr>
            <a:xfrm>
              <a:off x="685800" y="1600200"/>
              <a:ext cx="6667500" cy="2076450"/>
            </a:xfrm>
            <a:prstGeom prst="roundRect">
              <a:avLst>
                <a:gd name="adj" fmla="val 4587"/>
              </a:avLst>
            </a:prstGeom>
            <a:solidFill>
              <a:srgbClr val="0F1728"/>
            </a:solidFill>
            <a:ln w="9525">
              <a:solidFill>
                <a:srgbClr val="1E3050"/>
              </a:solidFill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945642" y="1797368"/>
              <a:ext cx="278066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E6EDF7"/>
                  </a:solidFill>
                  <a:latin typeface="Microsoft YaHei"/>
                  <a:ea typeface="Microsoft YaHei"/>
                  <a:cs typeface="Microsoft YaHei"/>
                </a:rPr>
                <a:t>测试集（3669 张，只评价一次）</a:t>
              </a:r>
            </a:p>
          </p:txBody>
        </p:sp>
        <p:sp>
          <p:nvSpPr>
            <p:cNvPr id="8" name="Line 8"/>
            <p:cNvSpPr/>
            <p:nvPr/>
          </p:nvSpPr>
          <p:spPr>
            <a:xfrm>
              <a:off x="952500" y="2076450"/>
              <a:ext cx="6134100" cy="9525"/>
            </a:xfrm>
            <a:custGeom>
              <a:avLst/>
              <a:gdLst/>
              <a:ahLst/>
              <a:cxnLst/>
              <a:rect l="l" t="t" r="r" b="b"/>
              <a:pathLst>
                <a:path w="6134100" h="9525">
                  <a:moveTo>
                    <a:pt x="0" y="0"/>
                  </a:moveTo>
                  <a:lnTo>
                    <a:pt x="6134100" y="0"/>
                  </a:lnTo>
                </a:path>
              </a:pathLst>
            </a:custGeom>
            <a:noFill/>
            <a:ln w="9525">
              <a:solidFill>
                <a:srgbClr val="1E3050"/>
              </a:solidFill>
            </a:ln>
          </p:spPr>
          <p:txBody>
            <a:bodyPr/>
            <a:lstStyle/>
            <a:p>
              <a:endParaRPr/>
            </a:p>
          </p:txBody>
        </p:sp>
        <p:grpSp>
          <p:nvGrpSpPr>
            <p:cNvPr id="11" name="Group 11"/>
            <p:cNvGrpSpPr/>
            <p:nvPr/>
          </p:nvGrpSpPr>
          <p:grpSpPr>
            <a:xfrm>
              <a:off x="934974" y="2351722"/>
              <a:ext cx="1741865" cy="756762"/>
              <a:chOff x="934974" y="2351722"/>
              <a:chExt cx="1741865" cy="756762"/>
            </a:xfrm>
          </p:grpSpPr>
          <p:sp>
            <p:nvSpPr>
              <p:cNvPr id="9" name="TextBox 9"/>
              <p:cNvSpPr txBox="1"/>
              <p:nvPr/>
            </p:nvSpPr>
            <p:spPr>
              <a:xfrm>
                <a:off x="934974" y="2351722"/>
                <a:ext cx="1741865" cy="67475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3450" b="1" dirty="0">
                    <a:solidFill>
                      <a:srgbClr val="3FDB9B"/>
                    </a:solidFill>
                    <a:latin typeface="Consolas"/>
                    <a:ea typeface="Consolas"/>
                    <a:cs typeface="Consolas"/>
                  </a:rPr>
                  <a:t>92.34%</a:t>
                </a:r>
              </a:p>
            </p:txBody>
          </p:sp>
          <p:sp>
            <p:nvSpPr>
              <p:cNvPr id="10" name="TextBox 10"/>
              <p:cNvSpPr txBox="1"/>
              <p:nvPr/>
            </p:nvSpPr>
            <p:spPr>
              <a:xfrm>
                <a:off x="946785" y="2888456"/>
                <a:ext cx="1146260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120" dirty="0">
                    <a:solidFill>
                      <a:srgbClr val="93A4C0"/>
                    </a:solidFill>
                    <a:latin typeface="Microsoft YaHei"/>
                    <a:ea typeface="Microsoft YaHei"/>
                    <a:cs typeface="Microsoft YaHei"/>
                  </a:rPr>
                  <a:t>Top-1 Accuracy</a:t>
                </a:r>
              </a:p>
            </p:txBody>
          </p:sp>
        </p:grpSp>
        <p:grpSp>
          <p:nvGrpSpPr>
            <p:cNvPr id="14" name="Group 14"/>
            <p:cNvGrpSpPr/>
            <p:nvPr/>
          </p:nvGrpSpPr>
          <p:grpSpPr>
            <a:xfrm>
              <a:off x="3125724" y="2351722"/>
              <a:ext cx="1741865" cy="756762"/>
              <a:chOff x="3125724" y="2351722"/>
              <a:chExt cx="1741865" cy="756762"/>
            </a:xfrm>
          </p:grpSpPr>
          <p:sp>
            <p:nvSpPr>
              <p:cNvPr id="12" name="TextBox 12"/>
              <p:cNvSpPr txBox="1"/>
              <p:nvPr/>
            </p:nvSpPr>
            <p:spPr>
              <a:xfrm>
                <a:off x="3125724" y="2351722"/>
                <a:ext cx="1741865" cy="67475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3450" b="1" dirty="0">
                    <a:solidFill>
                      <a:srgbClr val="35D0F0"/>
                    </a:solidFill>
                    <a:latin typeface="Consolas"/>
                    <a:ea typeface="Consolas"/>
                    <a:cs typeface="Consolas"/>
                  </a:rPr>
                  <a:t>99.26%</a:t>
                </a:r>
              </a:p>
            </p:txBody>
          </p:sp>
          <p:sp>
            <p:nvSpPr>
              <p:cNvPr id="13" name="TextBox 13"/>
              <p:cNvSpPr txBox="1"/>
              <p:nvPr/>
            </p:nvSpPr>
            <p:spPr>
              <a:xfrm>
                <a:off x="3137535" y="2888456"/>
                <a:ext cx="1146260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120" dirty="0">
                    <a:solidFill>
                      <a:srgbClr val="93A4C0"/>
                    </a:solidFill>
                    <a:latin typeface="Microsoft YaHei"/>
                    <a:ea typeface="Microsoft YaHei"/>
                    <a:cs typeface="Microsoft YaHei"/>
                  </a:rPr>
                  <a:t>Top-5 Accuracy</a:t>
                </a:r>
              </a:p>
            </p:txBody>
          </p:sp>
        </p:grpSp>
        <p:grpSp>
          <p:nvGrpSpPr>
            <p:cNvPr id="17" name="Group 17"/>
            <p:cNvGrpSpPr/>
            <p:nvPr/>
          </p:nvGrpSpPr>
          <p:grpSpPr>
            <a:xfrm>
              <a:off x="5316474" y="2351722"/>
              <a:ext cx="1741865" cy="756762"/>
              <a:chOff x="5316474" y="2351722"/>
              <a:chExt cx="1741865" cy="756762"/>
            </a:xfrm>
          </p:grpSpPr>
          <p:sp>
            <p:nvSpPr>
              <p:cNvPr id="15" name="TextBox 15"/>
              <p:cNvSpPr txBox="1"/>
              <p:nvPr/>
            </p:nvSpPr>
            <p:spPr>
              <a:xfrm>
                <a:off x="5316474" y="2351722"/>
                <a:ext cx="1741865" cy="67475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3450" b="1" dirty="0">
                    <a:solidFill>
                      <a:srgbClr val="FFC857"/>
                    </a:solidFill>
                    <a:latin typeface="Consolas"/>
                    <a:ea typeface="Consolas"/>
                    <a:cs typeface="Consolas"/>
                  </a:rPr>
                  <a:t>92.22%</a:t>
                </a:r>
              </a:p>
            </p:txBody>
          </p:sp>
          <p:sp>
            <p:nvSpPr>
              <p:cNvPr id="16" name="TextBox 16"/>
              <p:cNvSpPr txBox="1"/>
              <p:nvPr/>
            </p:nvSpPr>
            <p:spPr>
              <a:xfrm>
                <a:off x="5328285" y="2888456"/>
                <a:ext cx="718078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120" dirty="0">
                    <a:solidFill>
                      <a:srgbClr val="93A4C0"/>
                    </a:solidFill>
                    <a:latin typeface="Microsoft YaHei"/>
                    <a:ea typeface="Microsoft YaHei"/>
                    <a:cs typeface="Microsoft YaHei"/>
                  </a:rPr>
                  <a:t>Macro-F1</a:t>
                </a:r>
              </a:p>
            </p:txBody>
          </p:sp>
        </p:grpSp>
        <p:sp>
          <p:nvSpPr>
            <p:cNvPr id="18" name="TextBox 18"/>
            <p:cNvSpPr txBox="1"/>
            <p:nvPr/>
          </p:nvSpPr>
          <p:spPr>
            <a:xfrm>
              <a:off x="947166" y="3296602"/>
              <a:ext cx="439961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C7096"/>
                  </a:solidFill>
                  <a:latin typeface="Microsoft YaHei"/>
                  <a:ea typeface="Microsoft YaHei"/>
                  <a:cs typeface="Microsoft YaHei"/>
                </a:rPr>
                <a:t>验证集（740 张）best 选模依据 val_macro_f1 = 0.9462 @ epoch 34</a:t>
              </a:r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7658100" y="1600200"/>
            <a:ext cx="3848100" cy="2076450"/>
            <a:chOff x="7658100" y="1600200"/>
            <a:chExt cx="3848100" cy="2076450"/>
          </a:xfrm>
        </p:grpSpPr>
        <p:sp>
          <p:nvSpPr>
            <p:cNvPr id="20" name="Rectangle 20"/>
            <p:cNvSpPr/>
            <p:nvPr/>
          </p:nvSpPr>
          <p:spPr>
            <a:xfrm>
              <a:off x="7658100" y="1600200"/>
              <a:ext cx="3848100" cy="2076450"/>
            </a:xfrm>
            <a:prstGeom prst="roundRect">
              <a:avLst>
                <a:gd name="adj" fmla="val 4587"/>
              </a:avLst>
            </a:prstGeom>
            <a:solidFill>
              <a:srgbClr val="131C2E"/>
            </a:solidFill>
            <a:ln w="9525">
              <a:solidFill>
                <a:srgbClr val="1E3050"/>
              </a:solidFill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898892" y="1797368"/>
              <a:ext cx="96783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E6EDF7"/>
                  </a:solidFill>
                  <a:latin typeface="Microsoft YaHei"/>
                  <a:ea typeface="Microsoft YaHei"/>
                  <a:cs typeface="Microsoft YaHei"/>
                </a:rPr>
                <a:t>训练检查</a:t>
              </a:r>
            </a:p>
          </p:txBody>
        </p:sp>
        <p:sp>
          <p:nvSpPr>
            <p:cNvPr id="22" name="Line 22"/>
            <p:cNvSpPr/>
            <p:nvPr/>
          </p:nvSpPr>
          <p:spPr>
            <a:xfrm>
              <a:off x="7905750" y="2076450"/>
              <a:ext cx="3352800" cy="9525"/>
            </a:xfrm>
            <a:custGeom>
              <a:avLst/>
              <a:gdLst/>
              <a:ahLst/>
              <a:cxnLst/>
              <a:rect l="l" t="t" r="r" b="b"/>
              <a:pathLst>
                <a:path w="3352800" h="9525">
                  <a:moveTo>
                    <a:pt x="0" y="0"/>
                  </a:moveTo>
                  <a:lnTo>
                    <a:pt x="3352800" y="0"/>
                  </a:lnTo>
                </a:path>
              </a:pathLst>
            </a:custGeom>
            <a:noFill/>
            <a:ln w="9525">
              <a:solidFill>
                <a:srgbClr val="1E3050"/>
              </a:solidFill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900035" y="2297906"/>
              <a:ext cx="126285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FDB9B"/>
                  </a:solidFill>
                  <a:latin typeface="Microsoft YaHei"/>
                  <a:ea typeface="Microsoft YaHei"/>
                  <a:cs typeface="Microsoft YaHei"/>
                </a:rPr>
                <a:t>✓ 骨干确实被训练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0694880" y="2306002"/>
              <a:ext cx="56900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050" dirty="0">
                  <a:solidFill>
                    <a:srgbClr val="93A4C0"/>
                  </a:solidFill>
                  <a:latin typeface="Consolas"/>
                  <a:ea typeface="Microsoft YaHei"/>
                  <a:cs typeface="Consolas"/>
                </a:rPr>
                <a:t>706 张量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900035" y="2621756"/>
              <a:ext cx="11120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FDB9B"/>
                  </a:solidFill>
                  <a:latin typeface="Microsoft YaHei"/>
                  <a:ea typeface="Microsoft YaHei"/>
                  <a:cs typeface="Microsoft YaHei"/>
                </a:rPr>
                <a:t>✓ 其中骨干张量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10836231" y="2629852"/>
              <a:ext cx="42765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050" dirty="0">
                  <a:solidFill>
                    <a:srgbClr val="93A4C0"/>
                  </a:solidFill>
                  <a:latin typeface="Consolas"/>
                  <a:ea typeface="Microsoft YaHei"/>
                  <a:cs typeface="Consolas"/>
                </a:rPr>
                <a:t>699 个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7900035" y="2945606"/>
              <a:ext cx="133824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FDB9B"/>
                  </a:solidFill>
                  <a:latin typeface="Microsoft YaHei"/>
                  <a:ea typeface="Microsoft YaHei"/>
                  <a:cs typeface="Microsoft YaHei"/>
                </a:rPr>
                <a:t>✓ Baseline 的 test 只评价 1 次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10355637" y="2953702"/>
              <a:ext cx="90824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050" dirty="0">
                  <a:solidFill>
                    <a:srgbClr val="93A4C0"/>
                  </a:solidFill>
                  <a:latin typeface="Consolas"/>
                  <a:ea typeface="Consolas"/>
                  <a:cs typeface="Consolas"/>
                </a:rPr>
                <a:t>eval_count=1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7900035" y="3269456"/>
              <a:ext cx="126285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FDB9B"/>
                  </a:solidFill>
                  <a:latin typeface="Microsoft YaHei"/>
                  <a:ea typeface="Microsoft YaHei"/>
                  <a:cs typeface="Microsoft YaHei"/>
                </a:rPr>
                <a:t>✓ 权重加载无异常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0320299" y="3277552"/>
              <a:ext cx="94358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050" dirty="0">
                  <a:solidFill>
                    <a:srgbClr val="93A4C0"/>
                  </a:solidFill>
                  <a:latin typeface="Consolas"/>
                  <a:ea typeface="Consolas"/>
                  <a:cs typeface="Consolas"/>
                </a:rPr>
                <a:t>unexpected=0</a:t>
              </a:r>
            </a:p>
          </p:txBody>
        </p:sp>
      </p:grpSp>
      <p:grpSp>
        <p:nvGrpSpPr>
          <p:cNvPr id="47" name="Group 47"/>
          <p:cNvGrpSpPr/>
          <p:nvPr/>
        </p:nvGrpSpPr>
        <p:grpSpPr>
          <a:xfrm>
            <a:off x="685800" y="3867150"/>
            <a:ext cx="10820400" cy="2190750"/>
            <a:chOff x="685800" y="3867150"/>
            <a:chExt cx="10820400" cy="2190750"/>
          </a:xfrm>
        </p:grpSpPr>
        <p:sp>
          <p:nvSpPr>
            <p:cNvPr id="32" name="Rectangle 32"/>
            <p:cNvSpPr/>
            <p:nvPr/>
          </p:nvSpPr>
          <p:spPr>
            <a:xfrm>
              <a:off x="685800" y="3867150"/>
              <a:ext cx="10820400" cy="2190750"/>
            </a:xfrm>
            <a:prstGeom prst="roundRect">
              <a:avLst>
                <a:gd name="adj" fmla="val 4348"/>
              </a:avLst>
            </a:prstGeom>
            <a:solidFill>
              <a:srgbClr val="0F1728"/>
            </a:solidFill>
            <a:ln w="9525">
              <a:solidFill>
                <a:srgbClr val="1E3050"/>
              </a:solidFill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945642" y="4064318"/>
              <a:ext cx="307643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E6EDF7"/>
                  </a:solidFill>
                  <a:latin typeface="Microsoft YaHei"/>
                  <a:ea typeface="Microsoft YaHei"/>
                  <a:cs typeface="Microsoft YaHei"/>
                </a:rPr>
                <a:t>1000 类 → 37 类：怎么做、差异在哪</a:t>
              </a:r>
            </a:p>
          </p:txBody>
        </p:sp>
        <p:sp>
          <p:nvSpPr>
            <p:cNvPr id="34" name="Line 34"/>
            <p:cNvSpPr/>
            <p:nvPr/>
          </p:nvSpPr>
          <p:spPr>
            <a:xfrm>
              <a:off x="952500" y="4343400"/>
              <a:ext cx="10287000" cy="9525"/>
            </a:xfrm>
            <a:custGeom>
              <a:avLst/>
              <a:gdLst/>
              <a:ahLst/>
              <a:cxnLst/>
              <a:rect l="l" t="t" r="r" b="b"/>
              <a:pathLst>
                <a:path w="10287000" h="9525">
                  <a:moveTo>
                    <a:pt x="0" y="0"/>
                  </a:moveTo>
                  <a:lnTo>
                    <a:pt x="10287000" y="0"/>
                  </a:lnTo>
                </a:path>
              </a:pathLst>
            </a:custGeom>
            <a:noFill/>
            <a:ln w="9525">
              <a:solidFill>
                <a:srgbClr val="1E3050"/>
              </a:solidFill>
            </a:ln>
          </p:spPr>
          <p:txBody>
            <a:bodyPr/>
            <a:lstStyle/>
            <a:p>
              <a:endParaRPr/>
            </a:p>
          </p:txBody>
        </p:sp>
        <p:grpSp>
          <p:nvGrpSpPr>
            <p:cNvPr id="40" name="Group 40"/>
            <p:cNvGrpSpPr/>
            <p:nvPr/>
          </p:nvGrpSpPr>
          <p:grpSpPr>
            <a:xfrm>
              <a:off x="946785" y="4564856"/>
              <a:ext cx="3550691" cy="1280255"/>
              <a:chOff x="946785" y="4564856"/>
              <a:chExt cx="3550691" cy="1280255"/>
            </a:xfrm>
          </p:grpSpPr>
          <p:sp>
            <p:nvSpPr>
              <p:cNvPr id="35" name="TextBox 35"/>
              <p:cNvSpPr txBox="1"/>
              <p:nvPr/>
            </p:nvSpPr>
            <p:spPr>
              <a:xfrm>
                <a:off x="946785" y="4564856"/>
                <a:ext cx="644682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0" b="1" dirty="0">
                    <a:solidFill>
                      <a:srgbClr val="3FDB9B"/>
                    </a:solidFill>
                    <a:latin typeface="Microsoft YaHei"/>
                    <a:ea typeface="Microsoft YaHei"/>
                    <a:cs typeface="Microsoft YaHei"/>
                  </a:rPr>
                  <a:t>正确做法</a:t>
                </a:r>
              </a:p>
            </p:txBody>
          </p:sp>
          <p:sp>
            <p:nvSpPr>
              <p:cNvPr id="36" name="TextBox 36"/>
              <p:cNvSpPr txBox="1"/>
              <p:nvPr/>
            </p:nvSpPr>
            <p:spPr>
              <a:xfrm>
                <a:off x="947166" y="4858702"/>
                <a:ext cx="2936634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050" dirty="0">
                    <a:solidFill>
                      <a:srgbClr val="E6EDF7"/>
                    </a:solidFill>
                    <a:latin typeface="Consolas"/>
                    <a:ea typeface="Consolas"/>
                    <a:cs typeface="Consolas"/>
                  </a:rPr>
                  <a:t>timm.create_model(..., num_classes=37,</a:t>
                </a:r>
              </a:p>
            </p:txBody>
          </p:sp>
          <p:sp>
            <p:nvSpPr>
              <p:cNvPr id="37" name="TextBox 37"/>
              <p:cNvSpPr txBox="1"/>
              <p:nvPr/>
            </p:nvSpPr>
            <p:spPr>
              <a:xfrm>
                <a:off x="947166" y="5087302"/>
                <a:ext cx="1279972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050" dirty="0">
                    <a:solidFill>
                      <a:srgbClr val="E6EDF7"/>
                    </a:solidFill>
                    <a:latin typeface="Consolas"/>
                    <a:ea typeface="Consolas"/>
                    <a:cs typeface="Consolas"/>
                  </a:rPr>
                  <a:t>distillation=False)</a:t>
                </a:r>
              </a:p>
            </p:txBody>
          </p:sp>
          <p:sp>
            <p:nvSpPr>
              <p:cNvPr id="38" name="TextBox 38"/>
              <p:cNvSpPr txBox="1"/>
              <p:nvPr/>
            </p:nvSpPr>
            <p:spPr>
              <a:xfrm>
                <a:off x="947166" y="5392102"/>
                <a:ext cx="3550310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93A4C0"/>
                    </a:solidFill>
                    <a:latin typeface="Microsoft YaHei"/>
                    <a:ea typeface="Microsoft YaHei"/>
                    <a:cs typeface="Microsoft YaHei"/>
                  </a:rPr>
                  <a:t>保留分类头的 BN 统计量（与类别数无关的迁移先验）</a:t>
                </a:r>
              </a:p>
            </p:txBody>
          </p:sp>
          <p:sp>
            <p:nvSpPr>
              <p:cNvPr id="39" name="TextBox 39"/>
              <p:cNvSpPr txBox="1"/>
              <p:nvPr/>
            </p:nvSpPr>
            <p:spPr>
              <a:xfrm>
                <a:off x="947166" y="5639752"/>
                <a:ext cx="3163468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93A4C0"/>
                    </a:solidFill>
                    <a:latin typeface="Microsoft YaHei"/>
                    <a:ea typeface="Microsoft YaHei"/>
                    <a:cs typeface="Microsoft YaHei"/>
                  </a:rPr>
                  <a:t>missing = 2（仅换头后的 Linear weight / bias）</a:t>
                </a:r>
              </a:p>
            </p:txBody>
          </p:sp>
        </p:grpSp>
        <p:grpSp>
          <p:nvGrpSpPr>
            <p:cNvPr id="46" name="Group 46"/>
            <p:cNvGrpSpPr/>
            <p:nvPr/>
          </p:nvGrpSpPr>
          <p:grpSpPr>
            <a:xfrm>
              <a:off x="5905500" y="4552950"/>
              <a:ext cx="5334000" cy="1333500"/>
              <a:chOff x="5905500" y="4552950"/>
              <a:chExt cx="5334000" cy="1333500"/>
            </a:xfrm>
          </p:grpSpPr>
          <p:sp>
            <p:nvSpPr>
              <p:cNvPr id="41" name="Rectangle 41"/>
              <p:cNvSpPr/>
              <p:nvPr/>
            </p:nvSpPr>
            <p:spPr>
              <a:xfrm>
                <a:off x="5905500" y="4552950"/>
                <a:ext cx="5334000" cy="1333500"/>
              </a:xfrm>
              <a:prstGeom prst="roundRect">
                <a:avLst>
                  <a:gd name="adj" fmla="val 5714"/>
                </a:avLst>
              </a:prstGeom>
              <a:solidFill>
                <a:srgbClr val="1F1114"/>
              </a:solidFill>
              <a:ln w="9525">
                <a:solidFill>
                  <a:srgbClr val="FF6B6B"/>
                </a:solidFill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" name="TextBox 42"/>
              <p:cNvSpPr txBox="1"/>
              <p:nvPr/>
            </p:nvSpPr>
            <p:spPr>
              <a:xfrm>
                <a:off x="6147435" y="4736306"/>
                <a:ext cx="644682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0" b="1" dirty="0">
                    <a:solidFill>
                      <a:srgbClr val="FF6B6B"/>
                    </a:solidFill>
                    <a:latin typeface="Microsoft YaHei"/>
                    <a:ea typeface="Microsoft YaHei"/>
                    <a:cs typeface="Microsoft YaHei"/>
                  </a:rPr>
                  <a:t>禁止做法</a:t>
                </a:r>
              </a:p>
            </p:txBody>
          </p:sp>
          <p:sp>
            <p:nvSpPr>
              <p:cNvPr id="43" name="TextBox 43"/>
              <p:cNvSpPr txBox="1"/>
              <p:nvPr/>
            </p:nvSpPr>
            <p:spPr>
              <a:xfrm>
                <a:off x="6147816" y="5030152"/>
                <a:ext cx="1918907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050" dirty="0">
                    <a:solidFill>
                      <a:srgbClr val="E6EDF7"/>
                    </a:solidFill>
                    <a:latin typeface="Consolas"/>
                    <a:ea typeface="Consolas"/>
                    <a:cs typeface="Consolas"/>
                  </a:rPr>
                  <a:t>model.reset_classifier(37)</a:t>
                </a:r>
              </a:p>
            </p:txBody>
          </p:sp>
          <p:sp>
            <p:nvSpPr>
              <p:cNvPr id="44" name="TextBox 44"/>
              <p:cNvSpPr txBox="1"/>
              <p:nvPr/>
            </p:nvSpPr>
            <p:spPr>
              <a:xfrm>
                <a:off x="6147816" y="5315902"/>
                <a:ext cx="3537687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93A4C0"/>
                    </a:solidFill>
                    <a:latin typeface="Microsoft YaHei"/>
                    <a:ea typeface="Microsoft YaHei"/>
                    <a:cs typeface="Microsoft YaHei"/>
                  </a:rPr>
                  <a:t>会丢掉 head.head.bn 的统计量；distillation=False 时</a:t>
                </a:r>
              </a:p>
            </p:txBody>
          </p:sp>
          <p:sp>
            <p:nvSpPr>
              <p:cNvPr id="45" name="TextBox 45"/>
              <p:cNvSpPr txBox="1"/>
              <p:nvPr/>
            </p:nvSpPr>
            <p:spPr>
              <a:xfrm>
                <a:off x="6147816" y="5544502"/>
                <a:ext cx="2979039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93A4C0"/>
                    </a:solidFill>
                    <a:latin typeface="Microsoft YaHei"/>
                    <a:ea typeface="Microsoft YaHei"/>
                    <a:cs typeface="Microsoft YaHei"/>
                  </a:rPr>
                  <a:t>head_dist 属性被整体删除，后续断言必然失败</a:t>
                </a:r>
              </a:p>
            </p:txBody>
          </p:sp>
        </p:grpSp>
      </p:grpSp>
      <p:grpSp>
        <p:nvGrpSpPr>
          <p:cNvPr id="51" name="Group 51"/>
          <p:cNvGrpSpPr/>
          <p:nvPr/>
        </p:nvGrpSpPr>
        <p:grpSpPr>
          <a:xfrm>
            <a:off x="680847" y="6210300"/>
            <a:ext cx="10830687" cy="358711"/>
            <a:chOff x="680847" y="6210300"/>
            <a:chExt cx="10830687" cy="358711"/>
          </a:xfrm>
        </p:grpSpPr>
        <p:sp>
          <p:nvSpPr>
            <p:cNvPr id="48" name="Line 48"/>
            <p:cNvSpPr/>
            <p:nvPr/>
          </p:nvSpPr>
          <p:spPr>
            <a:xfrm>
              <a:off x="685800" y="621030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9525">
              <a:solidFill>
                <a:srgbClr val="1E3050"/>
              </a:solidFill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680847" y="6371749"/>
              <a:ext cx="642158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C7096"/>
                  </a:solidFill>
                  <a:latin typeface="Microsoft YaHei"/>
                  <a:ea typeface="Microsoft YaHei"/>
                  <a:cs typeface="Microsoft YaHei"/>
                </a:rPr>
                <a:t>数据来源：outputs/metrics/baseline_test.json · backbone_updated.json · weight_load_report.json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11345380" y="6363652"/>
              <a:ext cx="16615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050" dirty="0">
                  <a:solidFill>
                    <a:srgbClr val="5C7096"/>
                  </a:solidFill>
                  <a:latin typeface="Consolas"/>
                  <a:ea typeface="Consolas"/>
                  <a:cs typeface="Consolas"/>
                </a:rPr>
                <a:t>06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672846" y="505778"/>
            <a:ext cx="10833354" cy="799147"/>
            <a:chOff x="672846" y="505778"/>
            <a:chExt cx="10833354" cy="799147"/>
          </a:xfrm>
        </p:grpSpPr>
        <p:sp>
          <p:nvSpPr>
            <p:cNvPr id="2" name="TextBox 2"/>
            <p:cNvSpPr txBox="1"/>
            <p:nvPr/>
          </p:nvSpPr>
          <p:spPr>
            <a:xfrm>
              <a:off x="672846" y="505778"/>
              <a:ext cx="7234809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E6EDF7"/>
                  </a:solidFill>
                  <a:latin typeface="Microsoft YaHei"/>
                  <a:ea typeface="Microsoft YaHei"/>
                  <a:cs typeface="Microsoft YaHei"/>
                </a:rPr>
                <a:t>四组优化各有假设，控制变量由工具强制校验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679704" y="994410"/>
              <a:ext cx="753646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Baseline 有两个问题：样本仅 2940 张而参数 473 万（过拟合风险）；主干前期被大学习率推离预训练解</a:t>
              </a:r>
            </a:p>
          </p:txBody>
        </p:sp>
        <p:sp>
          <p:nvSpPr>
            <p:cNvPr id="4" name="Line 4"/>
            <p:cNvSpPr/>
            <p:nvPr/>
          </p:nvSpPr>
          <p:spPr>
            <a:xfrm>
              <a:off x="685800" y="129540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19050">
              <a:solidFill>
                <a:srgbClr val="1E3050"/>
              </a:solidFill>
            </a:ln>
          </p:spPr>
          <p:txBody>
            <a:bodyPr/>
            <a:lstStyle/>
            <a:p>
              <a:endParaRPr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685800" y="1600200"/>
            <a:ext cx="5391150" cy="1238250"/>
            <a:chOff x="685800" y="1600200"/>
            <a:chExt cx="5391150" cy="1238250"/>
          </a:xfrm>
        </p:grpSpPr>
        <p:sp>
          <p:nvSpPr>
            <p:cNvPr id="6" name="Rectangle 6"/>
            <p:cNvSpPr/>
            <p:nvPr/>
          </p:nvSpPr>
          <p:spPr>
            <a:xfrm>
              <a:off x="685800" y="1600200"/>
              <a:ext cx="5391150" cy="1238250"/>
            </a:xfrm>
            <a:prstGeom prst="roundRect">
              <a:avLst>
                <a:gd name="adj" fmla="val 7692"/>
              </a:avLst>
            </a:prstGeom>
            <a:solidFill>
              <a:srgbClr val="131C2E"/>
            </a:solidFill>
            <a:ln w="9525">
              <a:solidFill>
                <a:srgbClr val="1E3050"/>
              </a:solidFill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926592" y="1778318"/>
              <a:ext cx="99159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35D0F0"/>
                  </a:solidFill>
                  <a:latin typeface="Microsoft YaHei"/>
                  <a:ea typeface="Microsoft YaHei"/>
                  <a:cs typeface="Microsoft YaHei"/>
                </a:rPr>
                <a:t>B 混合增强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4605014" y="1810702"/>
              <a:ext cx="69622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050" dirty="0">
                  <a:solidFill>
                    <a:srgbClr val="5C7096"/>
                  </a:solidFill>
                  <a:latin typeface="Consolas"/>
                  <a:ea typeface="Microsoft YaHei"/>
                  <a:cs typeface="Consolas"/>
                </a:rPr>
                <a:t>3 个差异键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927735" y="2107406"/>
              <a:ext cx="329127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Mixup α=0.2 + CutMix α=1.0，每个 batch 都做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27735" y="2374106"/>
              <a:ext cx="302691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假设：混合两张图片与标签，尝试减少对训练样本的记忆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28116" y="2629852"/>
              <a:ext cx="203905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FFC857"/>
                  </a:solidFill>
                  <a:latin typeface="Microsoft YaHei"/>
                  <a:ea typeface="Microsoft YaHei"/>
                  <a:cs typeface="Microsoft YaHei"/>
                </a:rPr>
                <a:t>代价：需要更多 epoch 才能收敛</a:t>
              </a:r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6153150" y="1600200"/>
            <a:ext cx="5353050" cy="1238250"/>
            <a:chOff x="6153150" y="1600200"/>
            <a:chExt cx="5353050" cy="1238250"/>
          </a:xfrm>
        </p:grpSpPr>
        <p:sp>
          <p:nvSpPr>
            <p:cNvPr id="13" name="Rectangle 13"/>
            <p:cNvSpPr/>
            <p:nvPr/>
          </p:nvSpPr>
          <p:spPr>
            <a:xfrm>
              <a:off x="6153150" y="1600200"/>
              <a:ext cx="5353050" cy="1238250"/>
            </a:xfrm>
            <a:prstGeom prst="roundRect">
              <a:avLst>
                <a:gd name="adj" fmla="val 7692"/>
              </a:avLst>
            </a:prstGeom>
            <a:solidFill>
              <a:srgbClr val="131C2E"/>
            </a:solidFill>
            <a:ln w="9525">
              <a:solidFill>
                <a:srgbClr val="1E3050"/>
              </a:solidFill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6393942" y="1778318"/>
              <a:ext cx="13948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35D0F0"/>
                  </a:solidFill>
                  <a:latin typeface="Microsoft YaHei"/>
                  <a:ea typeface="Microsoft YaHei"/>
                  <a:cs typeface="Microsoft YaHei"/>
                </a:rPr>
                <a:t>C 加强数据增强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10567664" y="1810702"/>
              <a:ext cx="69622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050" dirty="0">
                  <a:solidFill>
                    <a:srgbClr val="5C7096"/>
                  </a:solidFill>
                  <a:latin typeface="Consolas"/>
                  <a:ea typeface="Microsoft YaHei"/>
                  <a:cs typeface="Consolas"/>
                </a:rPr>
                <a:t>8 个差异键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395085" y="2107406"/>
              <a:ext cx="38086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RandAugment(n=2, m=9) + RRC scale 下限 0.35→0.25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6395085" y="2374106"/>
              <a:ext cx="337369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假设：覆盖旋转 / 剪切 / 色调变换，减少对局部纹理的依赖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6395466" y="2629852"/>
              <a:ext cx="177755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FFC857"/>
                  </a:solidFill>
                  <a:latin typeface="Microsoft YaHei"/>
                  <a:ea typeface="Microsoft YaHei"/>
                  <a:cs typeface="Microsoft YaHei"/>
                </a:rPr>
                <a:t>风险：2940 张下容易过增强</a:t>
              </a:r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685800" y="2990850"/>
            <a:ext cx="5391150" cy="1238250"/>
            <a:chOff x="685800" y="2990850"/>
            <a:chExt cx="5391150" cy="1238250"/>
          </a:xfrm>
        </p:grpSpPr>
        <p:sp>
          <p:nvSpPr>
            <p:cNvPr id="20" name="Rectangle 20"/>
            <p:cNvSpPr/>
            <p:nvPr/>
          </p:nvSpPr>
          <p:spPr>
            <a:xfrm>
              <a:off x="685800" y="2990850"/>
              <a:ext cx="5391150" cy="1238250"/>
            </a:xfrm>
            <a:prstGeom prst="roundRect">
              <a:avLst>
                <a:gd name="adj" fmla="val 7692"/>
              </a:avLst>
            </a:prstGeom>
            <a:solidFill>
              <a:srgbClr val="131C2E"/>
            </a:solidFill>
            <a:ln w="9525">
              <a:solidFill>
                <a:srgbClr val="1E3050"/>
              </a:solidFill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926592" y="3168968"/>
              <a:ext cx="13948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35D0F0"/>
                  </a:solidFill>
                  <a:latin typeface="Microsoft YaHei"/>
                  <a:ea typeface="Microsoft YaHei"/>
                  <a:cs typeface="Microsoft YaHei"/>
                </a:rPr>
                <a:t>D 差异化学习率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4605014" y="3201352"/>
              <a:ext cx="69622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050" dirty="0">
                  <a:solidFill>
                    <a:srgbClr val="5C7096"/>
                  </a:solidFill>
                  <a:latin typeface="Consolas"/>
                  <a:ea typeface="Microsoft YaHei"/>
                  <a:cs typeface="Consolas"/>
                </a:rPr>
                <a:t>1 个差异键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927735" y="3498056"/>
              <a:ext cx="307215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主干倍率 0.1 → 0.05（有效 lr 1e-4 → 5e-5）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927735" y="3764756"/>
              <a:ext cx="31776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假设：新头快速收敛，让主干更新幅度更小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928116" y="4020502"/>
              <a:ext cx="156552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FFC857"/>
                  </a:solidFill>
                  <a:latin typeface="Microsoft YaHei"/>
                  <a:ea typeface="Microsoft YaHei"/>
                  <a:cs typeface="Microsoft YaHei"/>
                </a:rPr>
                <a:t>代价：训练曲线整体右移</a:t>
              </a:r>
            </a:p>
          </p:txBody>
        </p:sp>
      </p:grpSp>
      <p:grpSp>
        <p:nvGrpSpPr>
          <p:cNvPr id="33" name="Group 33"/>
          <p:cNvGrpSpPr/>
          <p:nvPr/>
        </p:nvGrpSpPr>
        <p:grpSpPr>
          <a:xfrm>
            <a:off x="6153150" y="2990850"/>
            <a:ext cx="5353050" cy="1238250"/>
            <a:chOff x="6153150" y="2990850"/>
            <a:chExt cx="5353050" cy="1238250"/>
          </a:xfrm>
        </p:grpSpPr>
        <p:sp>
          <p:nvSpPr>
            <p:cNvPr id="27" name="Rectangle 27"/>
            <p:cNvSpPr/>
            <p:nvPr/>
          </p:nvSpPr>
          <p:spPr>
            <a:xfrm>
              <a:off x="6153150" y="2990850"/>
              <a:ext cx="5353050" cy="1238250"/>
            </a:xfrm>
            <a:prstGeom prst="roundRect">
              <a:avLst>
                <a:gd name="adj" fmla="val 7692"/>
              </a:avLst>
            </a:prstGeom>
            <a:solidFill>
              <a:srgbClr val="17304A"/>
            </a:solidFill>
            <a:ln w="19050">
              <a:solidFill>
                <a:srgbClr val="35D0F0"/>
              </a:solidFill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6393942" y="3168968"/>
              <a:ext cx="260460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35D0F0"/>
                  </a:solidFill>
                  <a:latin typeface="Microsoft YaHei"/>
                  <a:ea typeface="Microsoft YaHei"/>
                  <a:cs typeface="Microsoft YaHei"/>
                </a:rPr>
                <a:t>A 组合式（基础任务所选项）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10489921" y="3201352"/>
              <a:ext cx="77396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050" dirty="0">
                  <a:solidFill>
                    <a:srgbClr val="35D0F0"/>
                  </a:solidFill>
                  <a:latin typeface="Consolas"/>
                  <a:ea typeface="Microsoft YaHei"/>
                  <a:cs typeface="Consolas"/>
                </a:rPr>
                <a:t>12 个差异键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395085" y="3498056"/>
              <a:ext cx="100711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B + C + D 全开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6395085" y="3764756"/>
              <a:ext cx="28987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假设：三者机制互补，前段更稳 + 末段更高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6395466" y="4020502"/>
              <a:ext cx="170688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FFC857"/>
                  </a:solidFill>
                  <a:latin typeface="Microsoft YaHei"/>
                  <a:ea typeface="Microsoft YaHei"/>
                  <a:cs typeface="Microsoft YaHei"/>
                </a:rPr>
                <a:t>风险：正则叠加会延长收敛</a:t>
              </a:r>
            </a:p>
          </p:txBody>
        </p:sp>
      </p:grpSp>
      <p:grpSp>
        <p:nvGrpSpPr>
          <p:cNvPr id="47" name="Group 47"/>
          <p:cNvGrpSpPr/>
          <p:nvPr/>
        </p:nvGrpSpPr>
        <p:grpSpPr>
          <a:xfrm>
            <a:off x="685800" y="4381500"/>
            <a:ext cx="10820400" cy="1809750"/>
            <a:chOff x="685800" y="4381500"/>
            <a:chExt cx="10820400" cy="1809750"/>
          </a:xfrm>
        </p:grpSpPr>
        <p:sp>
          <p:nvSpPr>
            <p:cNvPr id="34" name="Rectangle 34"/>
            <p:cNvSpPr/>
            <p:nvPr/>
          </p:nvSpPr>
          <p:spPr>
            <a:xfrm>
              <a:off x="685800" y="4381500"/>
              <a:ext cx="10820400" cy="1809750"/>
            </a:xfrm>
            <a:prstGeom prst="roundRect">
              <a:avLst>
                <a:gd name="adj" fmla="val 5263"/>
              </a:avLst>
            </a:prstGeom>
            <a:solidFill>
              <a:srgbClr val="0F1728"/>
            </a:solidFill>
            <a:ln w="9525">
              <a:solidFill>
                <a:srgbClr val="1E3050"/>
              </a:solidFill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945642" y="4578668"/>
              <a:ext cx="325772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E6EDF7"/>
                  </a:solidFill>
                  <a:latin typeface="Microsoft YaHei"/>
                  <a:ea typeface="Microsoft YaHei"/>
                  <a:cs typeface="Microsoft YaHei"/>
                </a:rPr>
                <a:t>控制变量不是靠自觉，而是可执行校验</a:t>
              </a:r>
            </a:p>
          </p:txBody>
        </p:sp>
        <p:sp>
          <p:nvSpPr>
            <p:cNvPr id="36" name="Line 36"/>
            <p:cNvSpPr/>
            <p:nvPr/>
          </p:nvSpPr>
          <p:spPr>
            <a:xfrm>
              <a:off x="952500" y="4857750"/>
              <a:ext cx="10287000" cy="9525"/>
            </a:xfrm>
            <a:custGeom>
              <a:avLst/>
              <a:gdLst/>
              <a:ahLst/>
              <a:cxnLst/>
              <a:rect l="l" t="t" r="r" b="b"/>
              <a:pathLst>
                <a:path w="10287000" h="9525">
                  <a:moveTo>
                    <a:pt x="0" y="0"/>
                  </a:moveTo>
                  <a:lnTo>
                    <a:pt x="10287000" y="0"/>
                  </a:lnTo>
                </a:path>
              </a:pathLst>
            </a:custGeom>
            <a:noFill/>
            <a:ln w="9525">
              <a:solidFill>
                <a:srgbClr val="1E3050"/>
              </a:solidFill>
            </a:ln>
          </p:spPr>
          <p:txBody>
            <a:bodyPr/>
            <a:lstStyle/>
            <a:p>
              <a:endParaRPr/>
            </a:p>
          </p:txBody>
        </p:sp>
        <p:grpSp>
          <p:nvGrpSpPr>
            <p:cNvPr id="41" name="Group 41"/>
            <p:cNvGrpSpPr/>
            <p:nvPr/>
          </p:nvGrpSpPr>
          <p:grpSpPr>
            <a:xfrm>
              <a:off x="946785" y="5060156"/>
              <a:ext cx="6366077" cy="1039178"/>
              <a:chOff x="946785" y="5060156"/>
              <a:chExt cx="6366077" cy="1039178"/>
            </a:xfrm>
          </p:grpSpPr>
          <p:sp>
            <p:nvSpPr>
              <p:cNvPr id="37" name="TextBox 37"/>
              <p:cNvSpPr txBox="1"/>
              <p:nvPr/>
            </p:nvSpPr>
            <p:spPr>
              <a:xfrm>
                <a:off x="946785" y="5060156"/>
                <a:ext cx="5620238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120" dirty="0">
                    <a:solidFill>
                      <a:srgbClr val="35D0F0"/>
                    </a:solidFill>
                    <a:latin typeface="Consolas"/>
                    <a:ea typeface="Consolas"/>
                    <a:cs typeface="Consolas"/>
                  </a:rPr>
                  <a:t>python tools/diff_config.py configs/baseline.yaml configs/opt_combo.yaml</a:t>
                </a:r>
              </a:p>
            </p:txBody>
          </p:sp>
          <p:sp>
            <p:nvSpPr>
              <p:cNvPr id="38" name="TextBox 38"/>
              <p:cNvSpPr txBox="1"/>
              <p:nvPr/>
            </p:nvSpPr>
            <p:spPr>
              <a:xfrm>
                <a:off x="946785" y="5345906"/>
                <a:ext cx="4775901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0" dirty="0">
                    <a:solidFill>
                      <a:srgbClr val="93A4C0"/>
                    </a:solidFill>
                    <a:latin typeface="Microsoft YaHei"/>
                    <a:ea typeface="Microsoft YaHei"/>
                    <a:cs typeface="Microsoft YaHei"/>
                  </a:rPr>
                  <a:t>叶子级比对，实际差异键必须与配置声明的 _expected_diff_ 逐项一致</a:t>
                </a:r>
              </a:p>
            </p:txBody>
          </p:sp>
          <p:sp>
            <p:nvSpPr>
              <p:cNvPr id="39" name="TextBox 39"/>
              <p:cNvSpPr txBox="1"/>
              <p:nvPr/>
            </p:nvSpPr>
            <p:spPr>
              <a:xfrm>
                <a:off x="946785" y="5612606"/>
                <a:ext cx="4026012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0" dirty="0">
                    <a:solidFill>
                      <a:srgbClr val="3FDB9B"/>
                    </a:solidFill>
                    <a:latin typeface="Consolas"/>
                    <a:ea typeface="Microsoft YaHei"/>
                    <a:cs typeface="Consolas"/>
                  </a:rPr>
                  <a:t>7 份配置全部 DIFF PASS（3 / 8 / 1 / 12 / 8 / 1 / 9 键）</a:t>
                </a:r>
              </a:p>
            </p:txBody>
          </p:sp>
          <p:sp>
            <p:nvSpPr>
              <p:cNvPr id="40" name="TextBox 40"/>
              <p:cNvSpPr txBox="1"/>
              <p:nvPr/>
            </p:nvSpPr>
            <p:spPr>
              <a:xfrm>
                <a:off x="946785" y="5879306"/>
                <a:ext cx="6366077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0" dirty="0">
                    <a:solidFill>
                      <a:srgbClr val="3FDB9B"/>
                    </a:solidFill>
                    <a:latin typeface="Consolas"/>
                    <a:ea typeface="Microsoft YaHei"/>
                    <a:cs typeface="Consolas"/>
                  </a:rPr>
                  <a:t>python tools/same_budget.py → total_iters_equal=True（8 组均为 40 epoch × 45 step）</a:t>
                </a:r>
              </a:p>
            </p:txBody>
          </p:sp>
        </p:grpSp>
        <p:grpSp>
          <p:nvGrpSpPr>
            <p:cNvPr id="46" name="Group 46"/>
            <p:cNvGrpSpPr/>
            <p:nvPr/>
          </p:nvGrpSpPr>
          <p:grpSpPr>
            <a:xfrm>
              <a:off x="8382000" y="5048250"/>
              <a:ext cx="2857500" cy="952500"/>
              <a:chOff x="8382000" y="5048250"/>
              <a:chExt cx="2857500" cy="952500"/>
            </a:xfrm>
          </p:grpSpPr>
          <p:sp>
            <p:nvSpPr>
              <p:cNvPr id="42" name="Rectangle 42"/>
              <p:cNvSpPr/>
              <p:nvPr/>
            </p:nvSpPr>
            <p:spPr>
              <a:xfrm>
                <a:off x="8382000" y="5048250"/>
                <a:ext cx="2857500" cy="952500"/>
              </a:xfrm>
              <a:prstGeom prst="roundRect">
                <a:avLst>
                  <a:gd name="adj" fmla="val 8000"/>
                </a:avLst>
              </a:prstGeom>
              <a:solidFill>
                <a:srgbClr val="12233A"/>
              </a:solidFill>
              <a:ln w="9525">
                <a:solidFill>
                  <a:srgbClr val="35D0F0"/>
                </a:solidFill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" name="TextBox 43"/>
              <p:cNvSpPr txBox="1"/>
              <p:nvPr/>
            </p:nvSpPr>
            <p:spPr>
              <a:xfrm>
                <a:off x="8604885" y="5193506"/>
                <a:ext cx="644682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0" b="1" dirty="0">
                    <a:solidFill>
                      <a:srgbClr val="35D0F0"/>
                    </a:solidFill>
                    <a:latin typeface="Microsoft YaHei"/>
                    <a:ea typeface="Microsoft YaHei"/>
                    <a:cs typeface="Microsoft YaHei"/>
                  </a:rPr>
                  <a:t>保持不变</a:t>
                </a:r>
              </a:p>
            </p:txBody>
          </p:sp>
          <p:sp>
            <p:nvSpPr>
              <p:cNvPr id="44" name="TextBox 44"/>
              <p:cNvSpPr txBox="1"/>
              <p:nvPr/>
            </p:nvSpPr>
            <p:spPr>
              <a:xfrm>
                <a:off x="8605647" y="5457349"/>
                <a:ext cx="1764543" cy="19069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80" dirty="0">
                    <a:solidFill>
                      <a:srgbClr val="93A4C0"/>
                    </a:solidFill>
                    <a:latin typeface="Microsoft YaHei"/>
                    <a:ea typeface="Microsoft YaHei"/>
                    <a:cs typeface="Microsoft YaHei"/>
                  </a:rPr>
                  <a:t>数据划分 · 预训练权重 · 种子</a:t>
                </a:r>
              </a:p>
            </p:txBody>
          </p:sp>
          <p:sp>
            <p:nvSpPr>
              <p:cNvPr id="45" name="TextBox 45"/>
              <p:cNvSpPr txBox="1"/>
              <p:nvPr/>
            </p:nvSpPr>
            <p:spPr>
              <a:xfrm>
                <a:off x="8605647" y="5666899"/>
                <a:ext cx="1896471" cy="19069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80" dirty="0">
                    <a:solidFill>
                      <a:srgbClr val="93A4C0"/>
                    </a:solidFill>
                    <a:latin typeface="Microsoft YaHei"/>
                    <a:ea typeface="Microsoft YaHei"/>
                    <a:cs typeface="Microsoft YaHei"/>
                  </a:rPr>
                  <a:t>训练预算 · 评价方式 · 选模标准</a:t>
                </a:r>
              </a:p>
            </p:txBody>
          </p:sp>
        </p:grpSp>
      </p:grpSp>
      <p:grpSp>
        <p:nvGrpSpPr>
          <p:cNvPr id="51" name="Group 51"/>
          <p:cNvGrpSpPr/>
          <p:nvPr/>
        </p:nvGrpSpPr>
        <p:grpSpPr>
          <a:xfrm>
            <a:off x="680847" y="6210300"/>
            <a:ext cx="10830687" cy="358711"/>
            <a:chOff x="680847" y="6210300"/>
            <a:chExt cx="10830687" cy="358711"/>
          </a:xfrm>
        </p:grpSpPr>
        <p:sp>
          <p:nvSpPr>
            <p:cNvPr id="48" name="Line 48"/>
            <p:cNvSpPr/>
            <p:nvPr/>
          </p:nvSpPr>
          <p:spPr>
            <a:xfrm>
              <a:off x="685800" y="621030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9525">
              <a:solidFill>
                <a:srgbClr val="1E3050"/>
              </a:solidFill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680847" y="6371749"/>
              <a:ext cx="686354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C7096"/>
                  </a:solidFill>
                  <a:latin typeface="Microsoft YaHei"/>
                  <a:ea typeface="Microsoft YaHei"/>
                  <a:cs typeface="Microsoft YaHei"/>
                </a:rPr>
                <a:t>数据来源：configs/opt_*.yaml 的 _expected_diff_ · outputs/metrics/{check_opt_diff,same_budget}.json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11345380" y="6363652"/>
              <a:ext cx="16615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050" dirty="0">
                  <a:solidFill>
                    <a:srgbClr val="5C7096"/>
                  </a:solidFill>
                  <a:latin typeface="Consolas"/>
                  <a:ea typeface="Consolas"/>
                  <a:cs typeface="Consolas"/>
                </a:rPr>
                <a:t>07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B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2900" b="1">
                <a:solidFill>
                  <a:srgbClr val="E6EDF7"/>
                </a:solidFill>
                <a:latin typeface="Microsoft YaHei"/>
              </a:defRPr>
            </a:pPr>
            <a:r>
              <a:t>训练曲线：两组都收敛，组合方案未提高测试准确率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41832"/>
            <a:ext cx="11064240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B6C5DC"/>
                </a:solidFill>
                <a:latin typeface="Microsoft YaHei"/>
              </a:defRPr>
            </a:pPr>
            <a:r>
              <a:t>RepViT-M0.9 · Pet-37 · 输入 224×224 · batch 64 · NVIDIA GeForce RTX 4060 Laptop GPU · PyTorch 2.14.0+cu126（bf16 autocast）· 曲线共用坐标范围 · test 评价次数 Baseline 1 / 组合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55664"/>
            <a:ext cx="1083564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900" b="0">
                <a:solidFill>
                  <a:srgbClr val="B6C5DC"/>
                </a:solidFill>
                <a:latin typeface="Microsoft YaHei"/>
              </a:defRPr>
            </a:pPr>
            <a:r>
              <a:t>来源：outputs/logs/{baseline,opt_combo}_metrics.csv；outputs/metrics/{baseline,opt_combo}_test.json；outputs/logs/*_test_eval_count.json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2823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200" b="0">
                <a:solidFill>
                  <a:srgbClr val="B6C5DC"/>
                </a:solidFill>
                <a:latin typeface="Microsoft YaHei"/>
              </a:defRPr>
            </a:pPr>
            <a:r>
              <a:t>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72768"/>
            <a:ext cx="363931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55C5EF"/>
                </a:solidFill>
                <a:latin typeface="Microsoft YaHei"/>
              </a:defRPr>
            </a:pPr>
            <a:r>
              <a:t>训练损失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883664"/>
            <a:ext cx="3639312" cy="17007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548640" y="1883664"/>
          <a:ext cx="3639312" cy="170078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352544" y="1572768"/>
            <a:ext cx="363931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55C5EF"/>
                </a:solidFill>
                <a:latin typeface="Microsoft YaHei"/>
              </a:defRPr>
            </a:pPr>
            <a:r>
              <a:t>验证损失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52544" y="1883664"/>
            <a:ext cx="3639312" cy="17007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4352544" y="1883664"/>
          <a:ext cx="3639312" cy="170078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8156448" y="1572768"/>
            <a:ext cx="363931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55C5EF"/>
                </a:solidFill>
                <a:latin typeface="Microsoft YaHei"/>
              </a:defRPr>
            </a:pPr>
            <a:r>
              <a:t>验证 Top-1 (%)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56448" y="1883664"/>
            <a:ext cx="3639312" cy="17007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8156448" y="1883664"/>
          <a:ext cx="3639312" cy="170078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548640" y="3794760"/>
            <a:ext cx="363931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55C5EF"/>
                </a:solidFill>
                <a:latin typeface="Microsoft YaHei"/>
              </a:defRPr>
            </a:pPr>
            <a:r>
              <a:t>验证 Macro-F1 (%)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4105656"/>
            <a:ext cx="3639312" cy="17007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17" name="Chart 16"/>
          <p:cNvGraphicFramePr>
            <a:graphicFrameLocks noGrp="1"/>
          </p:cNvGraphicFramePr>
          <p:nvPr/>
        </p:nvGraphicFramePr>
        <p:xfrm>
          <a:off x="548640" y="4105656"/>
          <a:ext cx="3639312" cy="170078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4352544" y="3794760"/>
            <a:ext cx="363931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55C5EF"/>
                </a:solidFill>
                <a:latin typeface="Microsoft YaHei"/>
              </a:defRPr>
            </a:pPr>
            <a:r>
              <a:t>学习率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52544" y="4105656"/>
            <a:ext cx="3639312" cy="17007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20" name="Chart 19"/>
          <p:cNvGraphicFramePr>
            <a:graphicFrameLocks noGrp="1"/>
          </p:cNvGraphicFramePr>
          <p:nvPr/>
        </p:nvGraphicFramePr>
        <p:xfrm>
          <a:off x="4352544" y="4105656"/>
          <a:ext cx="3639312" cy="170078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sp>
        <p:nvSpPr>
          <p:cNvPr id="21" name="TextBox 20"/>
          <p:cNvSpPr txBox="1"/>
          <p:nvPr/>
        </p:nvSpPr>
        <p:spPr>
          <a:xfrm>
            <a:off x="8165592" y="3794760"/>
            <a:ext cx="34747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55C5EF"/>
                </a:solidFill>
                <a:latin typeface="Microsoft YaHei"/>
              </a:defRPr>
            </a:pPr>
            <a:r>
              <a:t>测试集结果（3669 张）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8165592" y="4197096"/>
          <a:ext cx="3474720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58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58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582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0861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指标</a:t>
                      </a:r>
                    </a:p>
                  </a:txBody>
                  <a:tcPr marL="109728" marR="109728">
                    <a:solidFill>
                      <a:srgbClr val="233A5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Baseline</a:t>
                      </a:r>
                    </a:p>
                  </a:txBody>
                  <a:tcPr marL="109728" marR="109728">
                    <a:solidFill>
                      <a:srgbClr val="233A5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组合</a:t>
                      </a:r>
                    </a:p>
                  </a:txBody>
                  <a:tcPr marL="109728" marR="109728">
                    <a:solidFill>
                      <a:srgbClr val="233A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861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Top-1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92.34%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92.12%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861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Top-5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99.26%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99.59%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861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Macro-F1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92.22%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92.01%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8165592" y="5577840"/>
            <a:ext cx="3474720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200" b="0">
                <a:solidFill>
                  <a:srgbClr val="B6C5DC"/>
                </a:solidFill>
                <a:latin typeface="Microsoft YaHei"/>
              </a:defRPr>
            </a:pPr>
            <a:r>
              <a:t>前几轮提升最快，后段逐渐稳定。</a:t>
            </a:r>
          </a:p>
          <a:p>
            <a:pPr>
              <a:spcAft>
                <a:spcPts val="600"/>
              </a:spcAft>
              <a:defRPr sz="1200" b="0">
                <a:solidFill>
                  <a:srgbClr val="B6C5DC"/>
                </a:solidFill>
                <a:latin typeface="Microsoft YaHei"/>
              </a:defRPr>
            </a:pPr>
            <a:r>
              <a:t>软标签改变 train loss，不能直接横比。</a:t>
            </a:r>
          </a:p>
          <a:p>
            <a:pPr>
              <a:spcAft>
                <a:spcPts val="600"/>
              </a:spcAft>
              <a:defRPr sz="1200" b="0">
                <a:solidFill>
                  <a:srgbClr val="B6C5DC"/>
                </a:solidFill>
                <a:latin typeface="Microsoft YaHei"/>
              </a:defRPr>
            </a:pPr>
            <a:r>
              <a:t>单种子结果不足以判断稳定提升。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B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2900" b="1">
                <a:solidFill>
                  <a:srgbClr val="E6EDF7"/>
                </a:solidFill>
                <a:latin typeface="Microsoft YaHei"/>
              </a:defRPr>
            </a:pPr>
            <a:r>
              <a:t>错在哪里：多数是同物种内的品种混淆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41832"/>
            <a:ext cx="11064240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B6C5DC"/>
                </a:solidFill>
                <a:latin typeface="Microsoft YaHei"/>
              </a:defRPr>
            </a:pPr>
            <a:r>
              <a:t>Baseline · Pet-37 test · 3669 张 · PyTorch 2.14.0+cu126 / CUDA / FP32 / 224×224 / 每张只推理一次 · 左：行归一化混淆矩阵；中：每类 F1 柱状图；右：失败案例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55664"/>
            <a:ext cx="1083564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900" b="0">
                <a:solidFill>
                  <a:srgbClr val="B6C5DC"/>
                </a:solidFill>
                <a:latin typeface="Microsoft YaHei"/>
              </a:defRPr>
            </a:pPr>
            <a:r>
              <a:t>来源：outputs/confusion_matrix/{baseline_cm.png,baseline_per_class.csv,baseline_per_class_f1.png,baseline_cat_dog_block.json}；outputs/predictions/case_wrong_baseline_case*.png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2823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200" b="0">
                <a:solidFill>
                  <a:srgbClr val="B6C5DC"/>
                </a:solidFill>
                <a:latin typeface="Microsoft YaHei"/>
              </a:defRPr>
            </a:pPr>
            <a:r>
              <a:t>09</a:t>
            </a:r>
          </a:p>
        </p:txBody>
      </p:sp>
      <p:pic>
        <p:nvPicPr>
          <p:cNvPr id="6" name="Picture 5" descr="baseline_c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778749"/>
            <a:ext cx="3977639" cy="3638829"/>
          </a:xfrm>
          <a:prstGeom prst="rect">
            <a:avLst/>
          </a:prstGeom>
        </p:spPr>
      </p:pic>
      <p:pic>
        <p:nvPicPr>
          <p:cNvPr id="7" name="Picture 6" descr="baseline_per_class_f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3440" y="1859062"/>
            <a:ext cx="2743200" cy="347820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680960" y="1600200"/>
            <a:ext cx="402336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55C5EF"/>
                </a:solidFill>
                <a:latin typeface="Microsoft YaHei"/>
              </a:defRPr>
            </a:pPr>
            <a:r>
              <a:t>281 个错误中，10 个跨猫狗物种（3.56%），其余 271 个是同物种品种判断错误。</a:t>
            </a:r>
          </a:p>
        </p:txBody>
      </p:sp>
      <p:pic>
        <p:nvPicPr>
          <p:cNvPr id="9" name="Picture 8" descr="case_wrong_baseline_case0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80960" y="2867230"/>
            <a:ext cx="1920240" cy="931514"/>
          </a:xfrm>
          <a:prstGeom prst="rect">
            <a:avLst/>
          </a:prstGeom>
        </p:spPr>
      </p:pic>
      <p:pic>
        <p:nvPicPr>
          <p:cNvPr id="10" name="Picture 9" descr="case_wrong_baseline_case0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38360" y="2894056"/>
            <a:ext cx="1920240" cy="877863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680960" y="4315968"/>
            <a:ext cx="402336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250" b="0">
                <a:solidFill>
                  <a:srgbClr val="E6EDF7"/>
                </a:solidFill>
                <a:latin typeface="Microsoft YaHei"/>
              </a:defRPr>
            </a:pPr>
            <a:r>
              <a:t>上面两张是失败案例：相似外形、遮挡和背景都会影响判断；热力图只能用来检查线索，不能仅凭它确定因果。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5669280"/>
            <a:ext cx="29260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000" b="0">
                <a:solidFill>
                  <a:srgbClr val="48D9AE"/>
                </a:solidFill>
                <a:latin typeface="Microsoft YaHei"/>
              </a:defRPr>
            </a:pPr>
            <a:r>
              <a:t>每类 F1：最低 0.696（Staffordshire Bull Terrier），最高 0.995（Japanese Chin）；37 类 Macro-F1 = 92.22%（数据源 baseline_per_class.csv）。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0" y="5943600"/>
            <a:ext cx="40233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200" b="0">
                <a:solidFill>
                  <a:srgbClr val="48D9AE"/>
                </a:solidFill>
                <a:latin typeface="Microsoft YaHei"/>
              </a:defRPr>
            </a:pPr>
            <a:r>
              <a:t>下一步：补充容易混淆的品种（上面这类）和不同拍摄角度。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B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2900" b="1">
                <a:solidFill>
                  <a:srgbClr val="E6EDF7"/>
                </a:solidFill>
                <a:latin typeface="Microsoft YaHei"/>
              </a:defRPr>
            </a:pPr>
            <a:r>
              <a:t>Grad-CAM：同时看判对和判错的图片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41832"/>
            <a:ext cx="11064240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B6C5DC"/>
                </a:solidFill>
                <a:latin typeface="Microsoft YaHei"/>
              </a:defRPr>
            </a:pPr>
            <a:r>
              <a:t>Baseline · 挂载 stages[-1].blocks[-1] · 原图 / 热力图 / 叠加图 · PyTorch 2.14.0+cu126 / CUDA / FP32 / 224×224 / 每张只推理一次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55664"/>
            <a:ext cx="1083564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900" b="0">
                <a:solidFill>
                  <a:srgbClr val="B6C5DC"/>
                </a:solidFill>
                <a:latin typeface="Microsoft YaHei"/>
              </a:defRPr>
            </a:pPr>
            <a:r>
              <a:t>来源：outputs/gradcam/gradcam_{correct,wrong}_baseline_*.png；实拍图片的完整 Top-5 见第 11 页（outputs/predictions/external_top5_pet37_grid5.png）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2823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200" b="0">
                <a:solidFill>
                  <a:srgbClr val="B6C5DC"/>
                </a:solidFill>
                <a:latin typeface="Microsoft YaHei"/>
              </a:defRPr>
            </a:pPr>
            <a: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581912"/>
            <a:ext cx="53035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48D9AE"/>
                </a:solidFill>
                <a:latin typeface="Microsoft YaHei"/>
              </a:defRPr>
            </a:pPr>
            <a:r>
              <a:t>正确：Bengal</a:t>
            </a:r>
          </a:p>
        </p:txBody>
      </p:sp>
      <p:pic>
        <p:nvPicPr>
          <p:cNvPr id="7" name="Picture 6" descr="gradcam_correct_baseline_Bengal_30_correc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19756" y="1929384"/>
            <a:ext cx="1389888" cy="138988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1581912"/>
            <a:ext cx="53035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48D9AE"/>
                </a:solidFill>
                <a:latin typeface="Microsoft YaHei"/>
              </a:defRPr>
            </a:pPr>
            <a:r>
              <a:t>正确：Russian Blue</a:t>
            </a:r>
          </a:p>
        </p:txBody>
      </p:sp>
      <p:pic>
        <p:nvPicPr>
          <p:cNvPr id="9" name="Picture 8" descr="gradcam_correct_baseline_Russian_Blue_205_correc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26196" y="1929384"/>
            <a:ext cx="1389888" cy="138988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4360" y="3502152"/>
            <a:ext cx="53035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F2B560"/>
                </a:solidFill>
                <a:latin typeface="Microsoft YaHei"/>
              </a:defRPr>
            </a:pPr>
            <a:r>
              <a:t>失败：Boxer</a:t>
            </a:r>
          </a:p>
        </p:txBody>
      </p:sp>
      <p:pic>
        <p:nvPicPr>
          <p:cNvPr id="11" name="Picture 10" descr="gradcam_wrong_baseline_boxer_2_wron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19756" y="3849624"/>
            <a:ext cx="1389888" cy="138988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400800" y="3502152"/>
            <a:ext cx="53035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F2B560"/>
                </a:solidFill>
                <a:latin typeface="Microsoft YaHei"/>
              </a:defRPr>
            </a:pPr>
            <a:r>
              <a:t>失败：Egyptian Mau</a:t>
            </a:r>
          </a:p>
        </p:txBody>
      </p:sp>
      <p:pic>
        <p:nvPicPr>
          <p:cNvPr id="13" name="Picture 12" descr="gradcam_wrong_baseline_Egyptian_Mau_204_wrong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26196" y="3849624"/>
            <a:ext cx="1389888" cy="138988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94360" y="5742432"/>
            <a:ext cx="1097280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E6EDF7"/>
                </a:solidFill>
                <a:latin typeface="Microsoft YaHei"/>
              </a:defRPr>
            </a:pPr>
            <a:r>
              <a:t>关注到主体 ≠ 品种一定判断正确。热力图用于检查线索，仍要结合失败案例和完整测试集（3669 张）。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B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2900" b="1">
                <a:solidFill>
                  <a:srgbClr val="E6EDF7"/>
                </a:solidFill>
                <a:latin typeface="Microsoft YaHei"/>
              </a:defRPr>
            </a:pPr>
            <a:r>
              <a:t>预测结果：8 张测试集 + 4 组同图对比 + 5 张实拍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41832"/>
            <a:ext cx="11064240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B6C5DC"/>
                </a:solidFill>
                <a:latin typeface="Microsoft YaHei"/>
              </a:defRPr>
            </a:pPr>
            <a:r>
              <a:t>Baseline = RepViT-M0.9 Pet-37（test Top-1 92.34%）· 逐张 Top-5 类别与置信度 · 每个面板下方标注该面板自己的推理口径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55664"/>
            <a:ext cx="1083564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900" b="0">
                <a:solidFill>
                  <a:srgbClr val="B6C5DC"/>
                </a:solidFill>
                <a:latin typeface="Microsoft YaHei"/>
              </a:defRPr>
            </a:pPr>
            <a:r>
              <a:t>来源：outputs/predictions/{baseline_test_preds,cases_test_baseline}.csv · baseline_vs_opt_combo_predict_compare.json · outputs/benchmarks/external_top5_repvit_m0_9_pet37.csv · distribution_compare_summary.csv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2823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200" b="0">
                <a:solidFill>
                  <a:srgbClr val="B6C5DC"/>
                </a:solidFill>
                <a:latin typeface="Microsoft YaHei"/>
              </a:defRPr>
            </a:pPr>
            <a: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63040"/>
            <a:ext cx="301752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55C5EF"/>
                </a:solidFill>
                <a:latin typeface="Microsoft YaHei"/>
              </a:defRPr>
            </a:pPr>
            <a:r>
              <a:t>① 同图对比 4 组</a:t>
            </a:r>
          </a:p>
          <a:p>
            <a:pPr>
              <a:spcAft>
                <a:spcPts val="600"/>
              </a:spcAft>
              <a:defRPr sz="1300" b="1">
                <a:solidFill>
                  <a:srgbClr val="55C5EF"/>
                </a:solidFill>
                <a:latin typeface="Microsoft YaHei"/>
              </a:defRPr>
            </a:pPr>
            <a:r>
              <a:t>Baseline vs 组合方案</a:t>
            </a:r>
          </a:p>
        </p:txBody>
      </p:sp>
      <p:pic>
        <p:nvPicPr>
          <p:cNvPr id="7" name="Picture 6" descr="compare_baseline_vs_opt_combo_grid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265" y="1956816"/>
            <a:ext cx="2042829" cy="28346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4882896"/>
            <a:ext cx="3017520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050" b="0">
                <a:solidFill>
                  <a:srgbClr val="B6C5DC"/>
                </a:solidFill>
                <a:latin typeface="Microsoft YaHei"/>
              </a:defRPr>
            </a:pPr>
            <a:r>
              <a:t>按 image_id 配对（不按行号）；全测试集里两模型预测不同的有 142 张。</a:t>
            </a:r>
          </a:p>
          <a:p>
            <a:pPr>
              <a:spcAft>
                <a:spcPts val="600"/>
              </a:spcAft>
              <a:defRPr sz="1050" b="0">
                <a:solidFill>
                  <a:srgbClr val="B6C5DC"/>
                </a:solidFill>
                <a:latin typeface="Microsoft YaHei"/>
              </a:defRPr>
            </a:pPr>
            <a:r>
              <a:t>落盘 JSON 另抽的 4 张两组都判对（both_correct=4、fixed_by_opt=0、broken_by_opt=0）——同图对比要看有差异的样本。</a:t>
            </a:r>
          </a:p>
          <a:p>
            <a:pPr>
              <a:spcAft>
                <a:spcPts val="600"/>
              </a:spcAft>
              <a:defRPr sz="1050" b="0">
                <a:solidFill>
                  <a:srgbClr val="B6C5DC"/>
                </a:solidFill>
                <a:latin typeface="Microsoft YaHei"/>
              </a:defRPr>
            </a:pPr>
            <a:r>
              <a:t>口径：PyTorch / CUDA / FP32 / 224×224 / eval batch 128 / 每张只推理一次。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11880" y="1463040"/>
            <a:ext cx="80924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55C5EF"/>
                </a:solidFill>
                <a:latin typeface="Microsoft YaHei"/>
              </a:defRPr>
            </a:pPr>
            <a:r>
              <a:t>② 测试集预测 8 张（Top-5 类别 + 置信度）</a:t>
            </a:r>
          </a:p>
        </p:txBody>
      </p:sp>
      <p:pic>
        <p:nvPicPr>
          <p:cNvPr id="10" name="Picture 9" descr="test_top5_baseline_grid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85189" y="1737360"/>
            <a:ext cx="7345821" cy="15544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611880" y="3328416"/>
            <a:ext cx="80924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050" b="0">
                <a:solidFill>
                  <a:srgbClr val="B6C5DC"/>
                </a:solidFill>
                <a:latin typeface="Microsoft YaHei"/>
              </a:defRPr>
            </a:pPr>
            <a:r>
              <a:t>取测试列表顺序前 8 张（Abyssinian_2 … Abyssinian_207）：8/8 判对，Top-1 置信度 0.508 ~ 0.900；顺序取样，不是挑出来的好例子。</a:t>
            </a:r>
          </a:p>
          <a:p>
            <a:pPr>
              <a:spcAft>
                <a:spcPts val="600"/>
              </a:spcAft>
              <a:defRPr sz="1050" b="0">
                <a:solidFill>
                  <a:srgbClr val="B6C5DC"/>
                </a:solidFill>
                <a:latin typeface="Microsoft YaHei"/>
              </a:defRPr>
            </a:pPr>
            <a:r>
              <a:t>口径：PyTorch / CUDA / FP32 / 224×224 / eval batch 128 / 每张只推理一次。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11880" y="3840480"/>
            <a:ext cx="80924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55C5EF"/>
                </a:solidFill>
                <a:latin typeface="Microsoft YaHei"/>
              </a:defRPr>
            </a:pPr>
            <a:r>
              <a:t>③ 训练集以外的实拍图片 5 张（Top-5 类别 + 置信度）</a:t>
            </a:r>
          </a:p>
        </p:txBody>
      </p:sp>
      <p:pic>
        <p:nvPicPr>
          <p:cNvPr id="13" name="Picture 12" descr="external_top5_pet37_grid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72083" y="4114800"/>
            <a:ext cx="7972032" cy="6858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611880" y="4846320"/>
            <a:ext cx="8092440" cy="1508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050" b="0">
                <a:solidFill>
                  <a:srgbClr val="B6C5DC"/>
                </a:solidFill>
                <a:latin typeface="Microsoft YaHei"/>
              </a:defRPr>
            </a:pPr>
            <a:r>
              <a:t>Top-1 置信度（图从左到右）：Beagle 0.903、Boxer 0.643、Chihuahua 0.680、Great Pyrenees 0.869、Newfoundland 0.771 —— 5 张都判到对应品种。</a:t>
            </a:r>
          </a:p>
          <a:p>
            <a:pPr>
              <a:spcAft>
                <a:spcPts val="600"/>
              </a:spcAft>
              <a:defRPr sz="1050" b="0">
                <a:solidFill>
                  <a:srgbClr val="B6C5DC"/>
                </a:solidFill>
                <a:latin typeface="Microsoft YaHei"/>
              </a:defRPr>
            </a:pPr>
            <a:r>
              <a:t>最低的 Boxer 只有 0.643：置信度低不等于判错，反过来高置信度也不保证一定可靠。</a:t>
            </a:r>
          </a:p>
          <a:p>
            <a:pPr>
              <a:spcAft>
                <a:spcPts val="600"/>
              </a:spcAft>
              <a:defRPr sz="1050" b="0">
                <a:solidFill>
                  <a:srgbClr val="B6C5DC"/>
                </a:solidFill>
                <a:latin typeface="Microsoft YaHei"/>
              </a:defRPr>
            </a:pPr>
            <a:r>
              <a:t>外部实拍共 8 张，本页展示按文件名排序的前 5 张（试题要求 ≥5 张）；没有 GT（真值），只看 Top-5 与置信度，不报准确率。</a:t>
            </a:r>
          </a:p>
          <a:p>
            <a:pPr>
              <a:spcAft>
                <a:spcPts val="600"/>
              </a:spcAft>
              <a:defRPr sz="1050" b="0">
                <a:solidFill>
                  <a:srgbClr val="B6C5DC"/>
                </a:solidFill>
                <a:latin typeface="Microsoft YaHei"/>
              </a:defRPr>
            </a:pPr>
            <a:r>
              <a:t>数据集 vs 外部图片的分布差异：短边均值 348 → 381 px，亮度均值 0.455 → 0.503，背景复杂度 0.478 → 0.593；分布不同，不能直接比准确率。</a:t>
            </a:r>
          </a:p>
          <a:p>
            <a:pPr>
              <a:spcAft>
                <a:spcPts val="600"/>
              </a:spcAft>
              <a:defRPr sz="1050" b="0">
                <a:solidFill>
                  <a:srgbClr val="B6C5DC"/>
                </a:solidFill>
                <a:latin typeface="Microsoft YaHei"/>
              </a:defRPr>
            </a:pPr>
            <a:r>
              <a:t>口径：ONNX Runtime 1.30.0 CPUExecutionProvider / FP32 / batch 1 / 224×224 / i7-13650HX / 每张只推理一次。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B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2900" b="1">
                <a:solidFill>
                  <a:srgbClr val="E6EDF7"/>
                </a:solidFill>
                <a:latin typeface="Microsoft YaHei"/>
              </a:defRPr>
            </a:pPr>
            <a:r>
              <a:t>重参数化：合并分支后，误差仍在设定阈值内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41832"/>
            <a:ext cx="11064240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B6C5DC"/>
                </a:solidFill>
                <a:latin typeface="Microsoft YaHei"/>
              </a:defRPr>
            </a:pPr>
            <a:r>
              <a:t>RepViT-M0.9 Pet-37（baseline_best.pt）· 1×3×224×224 · batch 8 · n=32 · i7-13650HX CPU · PyTorch 2.14.0+cu126 / FP32 · 1 次融合前后对比 · seed=20240912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55664"/>
            <a:ext cx="1083564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900" b="0">
                <a:solidFill>
                  <a:srgbClr val="B6C5DC"/>
                </a:solidFill>
                <a:latin typeface="Microsoft YaHei"/>
              </a:defRPr>
            </a:pPr>
            <a:r>
              <a:t>来源：outputs/reparam/repvit_m0_9_pet37_reparam_report.json；本页是 32 个固定随机输入的重参数化实验，与第 13 页 n=12 真实图片的 ONNX 实验分开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2823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200" b="0">
                <a:solidFill>
                  <a:srgbClr val="B6C5DC"/>
                </a:solidFill>
                <a:latin typeface="Microsoft YaHei"/>
              </a:defRPr>
            </a:pPr>
            <a: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6459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55C5EF"/>
                </a:solidFill>
                <a:latin typeface="Microsoft YaHei"/>
              </a:defRPr>
            </a:pPr>
            <a:r>
              <a:t>PyTorch 模块数量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1956816"/>
            <a:ext cx="5486400" cy="29352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594360" y="1956816"/>
          <a:ext cx="5486400" cy="293522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0" y="1783080"/>
          <a:ext cx="5120640" cy="297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95300">
                <a:tc>
                  <a:txBody>
                    <a:bodyPr/>
                    <a:lstStyle/>
                    <a:p>
                      <a:pPr>
                        <a:defRPr sz="1700" b="1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数值验证（32 个固定随机输入）</a:t>
                      </a:r>
                    </a:p>
                  </a:txBody>
                  <a:tcPr marL="109728" marR="109728">
                    <a:solidFill>
                      <a:srgbClr val="233A5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1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结果</a:t>
                      </a:r>
                    </a:p>
                  </a:txBody>
                  <a:tcPr marL="109728" marR="109728">
                    <a:solidFill>
                      <a:srgbClr val="233A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5300"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最大 |Δlogits|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7.093e-06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5300"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平均 |Δlogits|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2.031e-06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5300"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Top-1 一致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32 / 32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95300"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Top-5 最小交集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5 / 5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95300"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阈值 / 判定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max &lt; 1e-4 / PASS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94360" y="512064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E6EDF7"/>
                </a:solidFill>
                <a:latin typeface="Microsoft YaHei"/>
              </a:defRPr>
            </a:pPr>
            <a:r>
              <a:t>做法：把 BN 的均值方差折进卷积核，再把 3×3、1×1 与 identity 三条分支的核相加，必须在 eval() 之后做。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5541264"/>
            <a:ext cx="1097280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B6C5DC"/>
                </a:solidFill>
                <a:latin typeface="Microsoft YaHei"/>
              </a:defRPr>
            </a:pPr>
            <a:r>
              <a:t>看到：32 个固定随机输入 max|Δlogits| = 7.093e-06（&lt; 1e-4 阈值），Top-1 32/32 一致，BN 模块 107 → 0。</a:t>
            </a:r>
          </a:p>
          <a:p>
            <a:pPr>
              <a:spcAft>
                <a:spcPts val="600"/>
              </a:spcAft>
              <a:defRPr sz="1400" b="0">
                <a:solidFill>
                  <a:srgbClr val="B6C5DC"/>
                </a:solidFill>
                <a:latin typeface="Microsoft YaHei"/>
              </a:defRPr>
            </a:pPr>
            <a:r>
              <a:t>还不能说明：这是代数等价的替换 + 已测输入 + 设定阈值，不是位级完全相等，也不代表所有输入都如此。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B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2900" b="1">
                <a:solidFill>
                  <a:srgbClr val="E6EDF7"/>
                </a:solidFill>
                <a:latin typeface="Microsoft YaHei"/>
              </a:defRPr>
            </a:pPr>
            <a:r>
              <a:t>PyTorch ↔ ONNX：固定 n=12，比较同一输入张量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41832"/>
            <a:ext cx="11064240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B6C5DC"/>
                </a:solidFill>
                <a:latin typeface="Microsoft YaHei"/>
              </a:defRPr>
            </a:pPr>
            <a:r>
              <a:t>原模型 vs 融合后 ONNX · ORT 1.30.0 CPUExecutionProvider · FP32 · batch 1 · 1×3×224×224 · i7-13650HX / Windows 11 · 入库的 5 个型号各 12 张真实图片 · 每张只跑一次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55664"/>
            <a:ext cx="1083564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900" b="0">
                <a:solidFill>
                  <a:srgbClr val="B6C5DC"/>
                </a:solidFill>
                <a:latin typeface="Microsoft YaHei"/>
              </a:defRPr>
            </a:pPr>
            <a:r>
              <a:t>来源：outputs/metrics/consistency_{repvit_m0_9_pet37,repvit_m0_9_in1k,repvit_m1_0_in1k,repvit_m1_1_in1k,repvit_m1_5_in1k}.json（入库 5 个型号各 n=12）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2823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200" b="0">
                <a:solidFill>
                  <a:srgbClr val="B6C5DC"/>
                </a:solidFill>
                <a:latin typeface="Microsoft YaHei"/>
              </a:defRPr>
            </a:pPr>
            <a:r>
              <a:t>13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94360" y="1572768"/>
          <a:ext cx="109728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37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6974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模型 / 输入列表</a:t>
                      </a:r>
                    </a:p>
                  </a:txBody>
                  <a:tcPr marL="109728" marR="109728">
                    <a:solidFill>
                      <a:srgbClr val="233A5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n</a:t>
                      </a:r>
                    </a:p>
                  </a:txBody>
                  <a:tcPr marL="109728" marR="109728">
                    <a:solidFill>
                      <a:srgbClr val="233A5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最大 |Δlogits|</a:t>
                      </a:r>
                    </a:p>
                  </a:txBody>
                  <a:tcPr marL="109728" marR="109728">
                    <a:solidFill>
                      <a:srgbClr val="233A5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平均 |Δlogits|</a:t>
                      </a:r>
                    </a:p>
                  </a:txBody>
                  <a:tcPr marL="109728" marR="109728">
                    <a:solidFill>
                      <a:srgbClr val="233A5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Top-1 / Top-5</a:t>
                      </a:r>
                    </a:p>
                  </a:txBody>
                  <a:tcPr marL="109728" marR="109728">
                    <a:solidFill>
                      <a:srgbClr val="233A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M0.9 Pet-37 / pet_test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12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6.199e-06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1.501e-06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100% / 100%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M0.9 / ImageNetV2 子集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12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1.383e-05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2.334e-06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100% / 100%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M1.0 / ImageNetV2 子集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12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1.335e-05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2.215e-06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100% / 100%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M1.1 / ImageNetV2 子集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12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1.860e-05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2.219e-06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100% / 100%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M1.5 / ImageNetV2 子集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12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1.144e-05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1.876e-06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100% / 100%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3931920"/>
            <a:ext cx="10972800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E6EDF7"/>
                </a:solidFill>
                <a:latin typeface="Microsoft YaHei"/>
              </a:defRPr>
            </a:pPr>
            <a:r>
              <a:t>1  重参数化 7.093e-06（32 个随机输入）是第 12 页的另一批实验，不与本页并成一句结论。</a:t>
            </a:r>
          </a:p>
          <a:p>
            <a:pPr>
              <a:spcAft>
                <a:spcPts val="600"/>
              </a:spcAft>
              <a:defRPr sz="1700" b="0">
                <a:solidFill>
                  <a:srgbClr val="E6EDF7"/>
                </a:solidFill>
                <a:latin typeface="Microsoft YaHei"/>
              </a:defRPr>
            </a:pPr>
            <a:r>
              <a:t>2  部署预处理由 PIL 独立实现；本次对比把同一张量送入两个推理后端，因此这里不比预处理实现。</a:t>
            </a:r>
          </a:p>
          <a:p>
            <a:pPr>
              <a:spcAft>
                <a:spcPts val="600"/>
              </a:spcAft>
              <a:defRPr sz="1700" b="0">
                <a:solidFill>
                  <a:srgbClr val="E6EDF7"/>
                </a:solidFill>
                <a:latin typeface="Microsoft YaHei"/>
              </a:defRPr>
            </a:pPr>
            <a:r>
              <a:t>3  结论仅覆盖每型号这 12 张图片：不能说成完整测试集，也不能说成全部六个模型一致。</a:t>
            </a:r>
          </a:p>
          <a:p>
            <a:pPr>
              <a:spcAft>
                <a:spcPts val="600"/>
              </a:spcAft>
              <a:defRPr sz="1700" b="0">
                <a:solidFill>
                  <a:srgbClr val="E6EDF7"/>
                </a:solidFill>
                <a:latin typeface="Microsoft YaHei"/>
              </a:defRPr>
            </a:pPr>
            <a:r>
              <a:t>4  旧的 5.25e-06 缺少对应完整记录，当前统一引用上表落盘值（4 位有效数字）。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596128"/>
            <a:ext cx="10972800" cy="6675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48D9AE"/>
                </a:solidFill>
                <a:latin typeface="Microsoft YaHei"/>
              </a:defRPr>
            </a:pPr>
            <a:r>
              <a:t>复跑：python deploy/compare_torch_onnx.py --model repvit_m0_9_pet37 --limit 12</a:t>
            </a:r>
          </a:p>
          <a:p>
            <a:pPr>
              <a:spcAft>
                <a:spcPts val="600"/>
              </a:spcAft>
              <a:defRPr sz="1500" b="0">
                <a:solidFill>
                  <a:srgbClr val="48D9AE"/>
                </a:solidFill>
                <a:latin typeface="Microsoft YaHei"/>
              </a:defRPr>
            </a:pPr>
            <a:r>
              <a:t>完整命令、固定列表与输出路径已写入本页备注和 report/LOGITS_AUDIT.md。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B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2900" b="1">
                <a:solidFill>
                  <a:srgbClr val="E6EDF7"/>
                </a:solidFill>
                <a:latin typeface="Microsoft YaHei"/>
              </a:defRPr>
            </a:pPr>
            <a:r>
              <a:t>部署怎么选：先看同一机器上的延迟和准确率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41832"/>
            <a:ext cx="11064240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B6C5DC"/>
                </a:solidFill>
                <a:latin typeface="Microsoft YaHei"/>
              </a:defRPr>
            </a:pPr>
            <a:r>
              <a:t>型号：M0.9 / M0.9-Pet37 / M1.0 / M1.1 / M1.5 / M2.3 · 输入 1×3×224×224 · batch 1 · i7-13650HX · ORT 1.30.0 CPUExecutionProvider · FP32 · 预热 10 + 正式 50 次 · threads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55664"/>
            <a:ext cx="1083564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900" b="0">
                <a:solidFill>
                  <a:srgbClr val="B6C5DC"/>
                </a:solidFill>
                <a:latin typeface="Microsoft YaHei"/>
              </a:defRPr>
            </a:pPr>
            <a:r>
              <a:t>来源：outputs/benchmarks/summary.csv（含 cpu_model / os / ort_version / warmup / runs / threads 全字段）；outputs/pretrained_eval/&lt;model&gt;/metrics.json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2823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200" b="0">
                <a:solidFill>
                  <a:srgbClr val="B6C5DC"/>
                </a:solidFill>
                <a:latin typeface="Microsoft YaHei"/>
              </a:defRPr>
            </a:pPr>
            <a: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691640"/>
            <a:ext cx="55321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55C5EF"/>
                </a:solidFill>
                <a:latin typeface="Microsoft YaHei"/>
              </a:defRPr>
            </a:pPr>
            <a:r>
              <a:t>六个 ONNX 模型的推理耗时 (ms)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2002536"/>
            <a:ext cx="5532120" cy="33009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594360" y="2002536"/>
          <a:ext cx="5532120" cy="330098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46520" y="1691640"/>
            <a:ext cx="51206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55C5EF"/>
                </a:solidFill>
                <a:latin typeface="Microsoft YaHei"/>
              </a:defRPr>
            </a:pPr>
            <a:r>
              <a:t>ImageNetV2 固定子集（1000 张）：速度与准确率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46520" y="2011680"/>
            <a:ext cx="5120640" cy="3246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6446520" y="2011680"/>
          <a:ext cx="5120640" cy="32461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94360" y="5349240"/>
            <a:ext cx="10972800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300" b="0">
                <a:solidFill>
                  <a:srgbClr val="E6EDF7"/>
                </a:solidFill>
                <a:latin typeface="Microsoft YaHei"/>
              </a:defRPr>
            </a:pPr>
            <a:r>
              <a:t>右图只放 ImageNetV2 固定子集的五个官方型号，看的是「多花多少毫秒换多少点准确率」。更大模型的额外耗时，需要结合使用场景判断。</a:t>
            </a:r>
          </a:p>
          <a:p>
            <a:pPr>
              <a:spcAft>
                <a:spcPts val="600"/>
              </a:spcAft>
              <a:defRPr sz="1300" b="0">
                <a:solidFill>
                  <a:srgbClr val="E6EDF7"/>
                </a:solidFill>
                <a:latin typeface="Microsoft YaHei"/>
              </a:defRPr>
            </a:pPr>
            <a:r>
              <a:t>右图元信息：准确率来自 PyTorch 2.14.0+cu126（64 batch / cuda / fp32）在 ImageNetV2 固定子集（同一 1000 张）上的评价；延迟来自本机 ONNX Runtime CPU（batch 1）。两者口径不同，只做参考。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/>
          <p:cNvGrpSpPr/>
          <p:nvPr/>
        </p:nvGrpSpPr>
        <p:grpSpPr>
          <a:xfrm>
            <a:off x="0" y="1428750"/>
            <a:ext cx="12192000" cy="4295775"/>
            <a:chOff x="0" y="1428750"/>
            <a:chExt cx="12192000" cy="4295775"/>
          </a:xfrm>
        </p:grpSpPr>
        <p:sp>
          <p:nvSpPr>
            <p:cNvPr id="2" name="Line 2"/>
            <p:cNvSpPr/>
            <p:nvPr/>
          </p:nvSpPr>
          <p:spPr>
            <a:xfrm>
              <a:off x="0" y="1428750"/>
              <a:ext cx="12192000" cy="9525"/>
            </a:xfrm>
            <a:custGeom>
              <a:avLst/>
              <a:gdLst/>
              <a:ahLst/>
              <a:cxnLst/>
              <a:rect l="l" t="t" r="r" b="b"/>
              <a:pathLst>
                <a:path w="12192000" h="9525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w="9525">
              <a:solidFill>
                <a:srgbClr val="16233A"/>
              </a:solidFill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" name="Line 3"/>
            <p:cNvSpPr/>
            <p:nvPr/>
          </p:nvSpPr>
          <p:spPr>
            <a:xfrm>
              <a:off x="0" y="5715000"/>
              <a:ext cx="12192000" cy="9525"/>
            </a:xfrm>
            <a:custGeom>
              <a:avLst/>
              <a:gdLst/>
              <a:ahLst/>
              <a:cxnLst/>
              <a:rect l="l" t="t" r="r" b="b"/>
              <a:pathLst>
                <a:path w="12192000" h="9525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w="9525">
              <a:solidFill>
                <a:srgbClr val="16233A"/>
              </a:solidFill>
            </a:ln>
          </p:spPr>
          <p:txBody>
            <a:bodyPr/>
            <a:lstStyle/>
            <a:p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672846" y="505778"/>
            <a:ext cx="10833354" cy="799147"/>
            <a:chOff x="672846" y="505778"/>
            <a:chExt cx="10833354" cy="799147"/>
          </a:xfrm>
        </p:grpSpPr>
        <p:sp>
          <p:nvSpPr>
            <p:cNvPr id="5" name="TextBox 5"/>
            <p:cNvSpPr txBox="1"/>
            <p:nvPr/>
          </p:nvSpPr>
          <p:spPr>
            <a:xfrm>
              <a:off x="672846" y="505778"/>
              <a:ext cx="8316144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E6EDF7"/>
                  </a:solidFill>
                  <a:latin typeface="Microsoft YaHei"/>
                  <a:ea typeface="Microsoft YaHei"/>
                  <a:cs typeface="Microsoft YaHei"/>
                </a:rPr>
                <a:t>复现链路完整、数字可溯源、控制变量有工程化校验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679704" y="994410"/>
              <a:ext cx="623971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34 条验收项自检 0 失败；代码零写死绝对路径；关键数字与实验口径见 outputs/ 和审计说明</a:t>
              </a:r>
            </a:p>
          </p:txBody>
        </p:sp>
        <p:sp>
          <p:nvSpPr>
            <p:cNvPr id="7" name="Line 7"/>
            <p:cNvSpPr/>
            <p:nvPr/>
          </p:nvSpPr>
          <p:spPr>
            <a:xfrm>
              <a:off x="685800" y="129540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19050">
              <a:solidFill>
                <a:srgbClr val="1E3050"/>
              </a:solidFill>
            </a:ln>
          </p:spPr>
          <p:txBody>
            <a:bodyPr/>
            <a:lstStyle/>
            <a:p>
              <a:endParaRPr/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685800" y="1600200"/>
            <a:ext cx="10820400" cy="1866900"/>
            <a:chOff x="685800" y="1600200"/>
            <a:chExt cx="10820400" cy="1866900"/>
          </a:xfrm>
        </p:grpSpPr>
        <p:sp>
          <p:nvSpPr>
            <p:cNvPr id="9" name="Rectangle 9"/>
            <p:cNvSpPr/>
            <p:nvPr/>
          </p:nvSpPr>
          <p:spPr>
            <a:xfrm>
              <a:off x="685800" y="1600200"/>
              <a:ext cx="10820400" cy="1866900"/>
            </a:xfrm>
            <a:prstGeom prst="roundRect">
              <a:avLst>
                <a:gd name="adj" fmla="val 5102"/>
              </a:avLst>
            </a:prstGeom>
            <a:solidFill>
              <a:srgbClr val="0F1728"/>
            </a:solidFill>
            <a:ln w="9525">
              <a:solidFill>
                <a:srgbClr val="1E3050"/>
              </a:solidFill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45642" y="1797368"/>
              <a:ext cx="192195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E6EDF7"/>
                  </a:solidFill>
                  <a:latin typeface="Microsoft YaHei"/>
                  <a:ea typeface="Microsoft YaHei"/>
                  <a:cs typeface="Microsoft YaHei"/>
                </a:rPr>
                <a:t>三个最有代表性的问题</a:t>
              </a:r>
            </a:p>
          </p:txBody>
        </p:sp>
        <p:sp>
          <p:nvSpPr>
            <p:cNvPr id="11" name="Line 11"/>
            <p:cNvSpPr/>
            <p:nvPr/>
          </p:nvSpPr>
          <p:spPr>
            <a:xfrm>
              <a:off x="952500" y="2076450"/>
              <a:ext cx="10287000" cy="9525"/>
            </a:xfrm>
            <a:custGeom>
              <a:avLst/>
              <a:gdLst/>
              <a:ahLst/>
              <a:cxnLst/>
              <a:rect l="l" t="t" r="r" b="b"/>
              <a:pathLst>
                <a:path w="10287000" h="9525">
                  <a:moveTo>
                    <a:pt x="0" y="0"/>
                  </a:moveTo>
                  <a:lnTo>
                    <a:pt x="10287000" y="0"/>
                  </a:lnTo>
                </a:path>
              </a:pathLst>
            </a:custGeom>
            <a:noFill/>
            <a:ln w="9525">
              <a:solidFill>
                <a:srgbClr val="1E3050"/>
              </a:solidFill>
            </a:ln>
          </p:spPr>
          <p:txBody>
            <a:bodyPr/>
            <a:lstStyle/>
            <a:p>
              <a:endParaRPr/>
            </a:p>
          </p:txBody>
        </p:sp>
        <p:grpSp>
          <p:nvGrpSpPr>
            <p:cNvPr id="15" name="Group 15"/>
            <p:cNvGrpSpPr/>
            <p:nvPr/>
          </p:nvGrpSpPr>
          <p:grpSpPr>
            <a:xfrm>
              <a:off x="946785" y="2278856"/>
              <a:ext cx="5107210" cy="461105"/>
              <a:chOff x="946785" y="2278856"/>
              <a:chExt cx="5107210" cy="461105"/>
            </a:xfrm>
          </p:grpSpPr>
          <p:sp>
            <p:nvSpPr>
              <p:cNvPr id="12" name="TextBox 12"/>
              <p:cNvSpPr txBox="1"/>
              <p:nvPr/>
            </p:nvSpPr>
            <p:spPr>
              <a:xfrm>
                <a:off x="946785" y="2278856"/>
                <a:ext cx="185574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120" b="1" dirty="0">
                    <a:solidFill>
                      <a:srgbClr val="35D0F0"/>
                    </a:solidFill>
                    <a:latin typeface="Consolas"/>
                    <a:ea typeface="Consolas"/>
                    <a:cs typeface="Consolas"/>
                  </a:rPr>
                  <a:t>01</a:t>
                </a:r>
              </a:p>
            </p:txBody>
          </p:sp>
          <p:sp>
            <p:nvSpPr>
              <p:cNvPr id="13" name="TextBox 13"/>
              <p:cNvSpPr txBox="1"/>
              <p:nvPr/>
            </p:nvSpPr>
            <p:spPr>
              <a:xfrm>
                <a:off x="1423035" y="2278856"/>
                <a:ext cx="3268157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0" dirty="0">
                    <a:solidFill>
                      <a:srgbClr val="E6EDF7"/>
                    </a:solidFill>
                    <a:latin typeface="Microsoft YaHei"/>
                    <a:ea typeface="Microsoft YaHei"/>
                    <a:cs typeface="Microsoft YaHei"/>
                  </a:rPr>
                  <a:t>官方 .pth 与 timm 键名交集为 0（713 vs 389）</a:t>
                </a:r>
              </a:p>
            </p:txBody>
          </p:sp>
          <p:sp>
            <p:nvSpPr>
              <p:cNvPr id="14" name="TextBox 14"/>
              <p:cNvSpPr txBox="1"/>
              <p:nvPr/>
            </p:nvSpPr>
            <p:spPr>
              <a:xfrm>
                <a:off x="1423416" y="2534602"/>
                <a:ext cx="4630579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3FDB9B"/>
                    </a:solidFill>
                    <a:latin typeface="Microsoft YaHei"/>
                    <a:ea typeface="Microsoft YaHei"/>
                    <a:cs typeface="Microsoft YaHei"/>
                  </a:rPr>
                  <a:t>实测两条路线权重逐位相同（同进程同权重对比，max|Δlogits| = 0），省去手写键转换器</a:t>
                </a:r>
              </a:p>
            </p:txBody>
          </p:sp>
        </p:grpSp>
        <p:grpSp>
          <p:nvGrpSpPr>
            <p:cNvPr id="19" name="Group 19"/>
            <p:cNvGrpSpPr/>
            <p:nvPr/>
          </p:nvGrpSpPr>
          <p:grpSpPr>
            <a:xfrm>
              <a:off x="946785" y="2850356"/>
              <a:ext cx="5751957" cy="461105"/>
              <a:chOff x="946785" y="2850356"/>
              <a:chExt cx="5751957" cy="461105"/>
            </a:xfrm>
          </p:grpSpPr>
          <p:sp>
            <p:nvSpPr>
              <p:cNvPr id="16" name="TextBox 16"/>
              <p:cNvSpPr txBox="1"/>
              <p:nvPr/>
            </p:nvSpPr>
            <p:spPr>
              <a:xfrm>
                <a:off x="946785" y="2850356"/>
                <a:ext cx="185574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120" b="1" dirty="0">
                    <a:solidFill>
                      <a:srgbClr val="35D0F0"/>
                    </a:solidFill>
                    <a:latin typeface="Consolas"/>
                    <a:ea typeface="Consolas"/>
                    <a:cs typeface="Consolas"/>
                  </a:rPr>
                  <a:t>02</a:t>
                </a:r>
              </a:p>
            </p:txBody>
          </p:sp>
          <p:sp>
            <p:nvSpPr>
              <p:cNvPr id="17" name="TextBox 17"/>
              <p:cNvSpPr txBox="1"/>
              <p:nvPr/>
            </p:nvSpPr>
            <p:spPr>
              <a:xfrm>
                <a:off x="1423035" y="2850356"/>
                <a:ext cx="3167792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0" dirty="0">
                    <a:solidFill>
                      <a:srgbClr val="E6EDF7"/>
                    </a:solidFill>
                    <a:latin typeface="Microsoft YaHei"/>
                    <a:ea typeface="Microsoft YaHei"/>
                    <a:cs typeface="Microsoft YaHei"/>
                  </a:rPr>
                  <a:t>data/provided/ 在 29 页试题 PDF 中从未定义</a:t>
                </a:r>
              </a:p>
            </p:txBody>
          </p:sp>
          <p:sp>
            <p:nvSpPr>
              <p:cNvPr id="18" name="TextBox 18"/>
              <p:cNvSpPr txBox="1"/>
              <p:nvPr/>
            </p:nvSpPr>
            <p:spPr>
              <a:xfrm>
                <a:off x="1423416" y="3106102"/>
                <a:ext cx="5275326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3FDB9B"/>
                    </a:solidFill>
                    <a:latin typeface="Microsoft YaHei"/>
                    <a:ea typeface="Microsoft YaHei"/>
                    <a:cs typeface="Microsoft YaHei"/>
                  </a:rPr>
                  <a:t>改判为结构性偏差：改用官方归档构建的 ImageNetV2 固定子集与 Oxford-IIIT Pet，并在 README 与报告中显式声明</a:t>
                </a:r>
              </a:p>
            </p:txBody>
          </p:sp>
        </p:grpSp>
      </p:grpSp>
      <p:grpSp>
        <p:nvGrpSpPr>
          <p:cNvPr id="25" name="Group 25"/>
          <p:cNvGrpSpPr/>
          <p:nvPr/>
        </p:nvGrpSpPr>
        <p:grpSpPr>
          <a:xfrm>
            <a:off x="685800" y="3581400"/>
            <a:ext cx="10820400" cy="876300"/>
            <a:chOff x="685800" y="3581400"/>
            <a:chExt cx="10820400" cy="876300"/>
          </a:xfrm>
        </p:grpSpPr>
        <p:sp>
          <p:nvSpPr>
            <p:cNvPr id="21" name="Rectangle 21"/>
            <p:cNvSpPr/>
            <p:nvPr/>
          </p:nvSpPr>
          <p:spPr>
            <a:xfrm>
              <a:off x="685800" y="3581400"/>
              <a:ext cx="10820400" cy="876300"/>
            </a:xfrm>
            <a:prstGeom prst="roundRect">
              <a:avLst>
                <a:gd name="adj" fmla="val 10870"/>
              </a:avLst>
            </a:prstGeom>
            <a:solidFill>
              <a:srgbClr val="1A1408"/>
            </a:solidFill>
            <a:ln w="9525">
              <a:solidFill>
                <a:srgbClr val="FFC857"/>
              </a:solidFill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946785" y="3783806"/>
              <a:ext cx="1855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FFC857"/>
                  </a:solidFill>
                  <a:latin typeface="Consolas"/>
                  <a:ea typeface="Consolas"/>
                  <a:cs typeface="Consolas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1423035" y="3783806"/>
              <a:ext cx="55222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E6EDF7"/>
                  </a:solidFill>
                  <a:latin typeface="Microsoft YaHei"/>
                  <a:ea typeface="Microsoft YaHei"/>
                  <a:cs typeface="Microsoft YaHei"/>
                </a:rPr>
                <a:t>早停导致训练预算不等价（opt_mix 25 epoch vs baseline 40 epoch，差 37.5%）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423416" y="4058602"/>
              <a:ext cx="662589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处置：统一关闭早停，8 组实验全部 40 epoch 满预算；把预算等价性固化成可执行检查 same_budget.py</a:t>
              </a:r>
            </a:p>
          </p:txBody>
        </p:sp>
      </p:grpSp>
      <p:grpSp>
        <p:nvGrpSpPr>
          <p:cNvPr id="33" name="Group 33"/>
          <p:cNvGrpSpPr/>
          <p:nvPr/>
        </p:nvGrpSpPr>
        <p:grpSpPr>
          <a:xfrm>
            <a:off x="685800" y="4648200"/>
            <a:ext cx="6667500" cy="1638300"/>
            <a:chOff x="685800" y="4648200"/>
            <a:chExt cx="6667500" cy="1638300"/>
          </a:xfrm>
        </p:grpSpPr>
        <p:sp>
          <p:nvSpPr>
            <p:cNvPr id="26" name="Rectangle 26"/>
            <p:cNvSpPr/>
            <p:nvPr/>
          </p:nvSpPr>
          <p:spPr>
            <a:xfrm>
              <a:off x="685800" y="4648200"/>
              <a:ext cx="6667500" cy="1638300"/>
            </a:xfrm>
            <a:prstGeom prst="roundRect">
              <a:avLst>
                <a:gd name="adj" fmla="val 5814"/>
              </a:avLst>
            </a:prstGeom>
            <a:solidFill>
              <a:srgbClr val="131C2E"/>
            </a:solidFill>
            <a:ln w="9525">
              <a:solidFill>
                <a:srgbClr val="1E3050"/>
              </a:solidFill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945642" y="4845368"/>
              <a:ext cx="3953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E6EDF7"/>
                  </a:solidFill>
                  <a:latin typeface="Microsoft YaHei"/>
                  <a:ea typeface="Microsoft YaHei"/>
                  <a:cs typeface="Microsoft YaHei"/>
                </a:rPr>
                <a:t>结论</a:t>
              </a:r>
            </a:p>
          </p:txBody>
        </p:sp>
        <p:sp>
          <p:nvSpPr>
            <p:cNvPr id="28" name="Line 28"/>
            <p:cNvSpPr/>
            <p:nvPr/>
          </p:nvSpPr>
          <p:spPr>
            <a:xfrm>
              <a:off x="952500" y="5124450"/>
              <a:ext cx="6134100" cy="9525"/>
            </a:xfrm>
            <a:custGeom>
              <a:avLst/>
              <a:gdLst/>
              <a:ahLst/>
              <a:cxnLst/>
              <a:rect l="l" t="t" r="r" b="b"/>
              <a:pathLst>
                <a:path w="6134100" h="9525">
                  <a:moveTo>
                    <a:pt x="0" y="0"/>
                  </a:moveTo>
                  <a:lnTo>
                    <a:pt x="6134100" y="0"/>
                  </a:lnTo>
                </a:path>
              </a:pathLst>
            </a:custGeom>
            <a:noFill/>
            <a:ln w="9525">
              <a:solidFill>
                <a:srgbClr val="1E3050"/>
              </a:solidFill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946785" y="5307806"/>
              <a:ext cx="420623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① RepViT 确为纯卷积；M0.9 在 ImageNetV2 固定子集上实测 68.70%（与 ImageNet-1K 公布值不可比）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946785" y="5555456"/>
              <a:ext cx="36328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② Pet-37 test Top-1 92.34%（跨物种错误仅 3.56%）；四项优化未显示稳定提升，需多种子实验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946785" y="5803106"/>
              <a:ext cx="36197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③ 重参数化（32 个固定随机输入）max|Δ| = 7.093e-06，Top-1 32/32 一致（与下面 ONNX 实验分列）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946785" y="6050756"/>
              <a:ext cx="360739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FFC857"/>
                  </a:solidFill>
                  <a:latin typeface="Microsoft YaHei"/>
                  <a:ea typeface="Microsoft YaHei"/>
                  <a:cs typeface="Microsoft YaHei"/>
                </a:rPr>
                <a:t>④ ONNX 一致性（Pet-37，n=12 真实图片）max|Δ| = 6.199e-06，Top-1/Top-5 集合一致率 100%</a:t>
              </a:r>
            </a:p>
          </p:txBody>
        </p:sp>
      </p:grpSp>
      <p:grpSp>
        <p:nvGrpSpPr>
          <p:cNvPr id="41" name="Group 41"/>
          <p:cNvGrpSpPr/>
          <p:nvPr/>
        </p:nvGrpSpPr>
        <p:grpSpPr>
          <a:xfrm>
            <a:off x="7658100" y="4648200"/>
            <a:ext cx="3848100" cy="1638300"/>
            <a:chOff x="7658100" y="4648200"/>
            <a:chExt cx="3848100" cy="1638300"/>
          </a:xfrm>
        </p:grpSpPr>
        <p:sp>
          <p:nvSpPr>
            <p:cNvPr id="34" name="Rectangle 34"/>
            <p:cNvSpPr/>
            <p:nvPr/>
          </p:nvSpPr>
          <p:spPr>
            <a:xfrm>
              <a:off x="7658100" y="4648200"/>
              <a:ext cx="3848100" cy="1638300"/>
            </a:xfrm>
            <a:prstGeom prst="roundRect">
              <a:avLst>
                <a:gd name="adj" fmla="val 5814"/>
              </a:avLst>
            </a:prstGeom>
            <a:solidFill>
              <a:srgbClr val="131C2E"/>
            </a:solidFill>
            <a:ln w="9525">
              <a:solidFill>
                <a:srgbClr val="1E3050"/>
              </a:solidFill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7898892" y="4845368"/>
              <a:ext cx="77701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E6EDF7"/>
                  </a:solidFill>
                  <a:latin typeface="Microsoft YaHei"/>
                  <a:ea typeface="Microsoft YaHei"/>
                  <a:cs typeface="Microsoft YaHei"/>
                </a:rPr>
                <a:t>后续计划</a:t>
              </a:r>
            </a:p>
          </p:txBody>
        </p:sp>
        <p:sp>
          <p:nvSpPr>
            <p:cNvPr id="36" name="Line 36"/>
            <p:cNvSpPr/>
            <p:nvPr/>
          </p:nvSpPr>
          <p:spPr>
            <a:xfrm>
              <a:off x="7905750" y="5124450"/>
              <a:ext cx="3352800" cy="9525"/>
            </a:xfrm>
            <a:custGeom>
              <a:avLst/>
              <a:gdLst/>
              <a:ahLst/>
              <a:cxnLst/>
              <a:rect l="l" t="t" r="r" b="b"/>
              <a:pathLst>
                <a:path w="3352800" h="9525">
                  <a:moveTo>
                    <a:pt x="0" y="0"/>
                  </a:moveTo>
                  <a:lnTo>
                    <a:pt x="3352800" y="0"/>
                  </a:lnTo>
                </a:path>
              </a:pathLst>
            </a:custGeom>
            <a:noFill/>
            <a:ln w="9525">
              <a:solidFill>
                <a:srgbClr val="1E3050"/>
              </a:solidFill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7900416" y="5315902"/>
              <a:ext cx="260192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INT8 量化 / 知识蒸馏（M2.3 → M0.9）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7900416" y="5563552"/>
              <a:ext cx="227228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集显后端（本机无集显，需换设备）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7900416" y="5811202"/>
              <a:ext cx="236296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置信度校准（实测温度 T = 0.615）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7900416" y="6058852"/>
              <a:ext cx="266099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七类鲁棒性扰动已跑，可扩展 severity 级</a:t>
              </a:r>
            </a:p>
          </p:txBody>
        </p:sp>
      </p:grpSp>
      <p:grpSp>
        <p:nvGrpSpPr>
          <p:cNvPr id="44" name="Group 44"/>
          <p:cNvGrpSpPr/>
          <p:nvPr/>
        </p:nvGrpSpPr>
        <p:grpSpPr>
          <a:xfrm>
            <a:off x="680466" y="6401752"/>
            <a:ext cx="10830687" cy="205359"/>
            <a:chOff x="680466" y="6401752"/>
            <a:chExt cx="10830687" cy="205359"/>
          </a:xfrm>
        </p:grpSpPr>
        <p:sp>
          <p:nvSpPr>
            <p:cNvPr id="42" name="TextBox 42"/>
            <p:cNvSpPr txBox="1"/>
            <p:nvPr/>
          </p:nvSpPr>
          <p:spPr>
            <a:xfrm>
              <a:off x="680466" y="6401752"/>
              <a:ext cx="298517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5C7096"/>
                  </a:solidFill>
                  <a:latin typeface="Consolas"/>
                  <a:ea typeface="Consolas"/>
                  <a:cs typeface="Consolas"/>
                </a:rPr>
                <a:t>github.com/8ga-tech/RepViT-Reproduction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10294109" y="6409849"/>
              <a:ext cx="121704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C7096"/>
                  </a:solidFill>
                  <a:latin typeface="Microsoft YaHei"/>
                  <a:ea typeface="Microsoft YaHei"/>
                  <a:cs typeface="Microsoft YaHei"/>
                </a:rPr>
                <a:t>感谢聆听 · 敬请提问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</p:sld>
</file>

<file path=ppt/theme/theme1.xml><?xml version="1.0" encoding="utf-8"?>
<a:theme xmlns:a="http://schemas.openxmlformats.org/drawingml/2006/main" name="repvit-defense">
  <a:themeElements>
    <a:clrScheme name="repvit-defens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repvit-defens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pvit-defens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6311</Words>
  <Application>Microsoft Office PowerPoint</Application>
  <PresentationFormat>宽屏</PresentationFormat>
  <Paragraphs>447</Paragraphs>
  <Slides>15</Slides>
  <Notes>11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15</vt:i4>
      </vt:variant>
    </vt:vector>
  </HeadingPairs>
  <TitlesOfParts>
    <vt:vector size="20" baseType="lpstr">
      <vt:lpstr>Microsoft YaHei</vt:lpstr>
      <vt:lpstr>Arial</vt:lpstr>
      <vt:lpstr>Calibri</vt:lpstr>
      <vt:lpstr>Consolas</vt:lpstr>
      <vt:lpstr>repvit-defense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cp:lastModifiedBy>翔宇 李</cp:lastModifiedBy>
  <cp:revision>2</cp:revision>
  <dcterms:created xsi:type="dcterms:W3CDTF">2026-09-13T09:34:54Z</dcterms:created>
  <dcterms:modified xsi:type="dcterms:W3CDTF">2026-09-19T01:57:19Z</dcterms:modified>
  <cp:category/>
  <cp:contentStatus/>
  <dc:language/>
</cp:coreProperties>
</file>