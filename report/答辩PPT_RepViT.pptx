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repvit-defens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repvit-defense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Line 2"/>
            <p:cNvSpPr/>
            <p:nvPr/>
          </p:nvSpPr>
          <p:spPr>
            <a:xfrm>
              <a:off x="0" y="17145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</p:sp>
        <p:sp>
          <p:nvSpPr>
            <p:cNvPr id="3" name="Line 3"/>
            <p:cNvSpPr/>
            <p:nvPr/>
          </p:nvSpPr>
          <p:spPr>
            <a:xfrm>
              <a:off x="0" y="51435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</p:sp>
        <p:sp>
          <p:nvSpPr>
            <p:cNvPr id="4" name="Line 4"/>
            <p:cNvSpPr/>
            <p:nvPr/>
          </p:nvSpPr>
          <p:spPr>
            <a:xfrm>
              <a:off x="9334500" y="0"/>
              <a:ext cx="9525" cy="6858000"/>
            </a:xfrm>
            <a:custGeom>
              <a:avLst/>
              <a:gdLst/>
              <a:ahLst/>
              <a:cxnLst/>
              <a:rect l="l" t="t" r="r" b="b"/>
              <a:pathLst>
                <a:path w="9525" h="685800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</p:sp>
      </p:grpSp>
      <p:grpSp>
        <p:nvGrpSpPr>
          <p:cNvPr id="11" name="Group 11"/>
          <p:cNvGrpSpPr/>
          <p:nvPr/>
        </p:nvGrpSpPr>
        <p:grpSpPr>
          <a:xfrm>
            <a:off x="9448800" y="381000"/>
            <a:ext cx="2438400" cy="2438400"/>
            <a:chOff x="9448800" y="381000"/>
            <a:chExt cx="2438400" cy="2438400"/>
          </a:xfrm>
        </p:grpSpPr>
        <p:sp>
          <p:nvSpPr>
            <p:cNvPr id="6" name="Ellipse 6"/>
            <p:cNvSpPr/>
            <p:nvPr/>
          </p:nvSpPr>
          <p:spPr>
            <a:xfrm>
              <a:off x="9448800" y="381000"/>
              <a:ext cx="2438400" cy="2438400"/>
            </a:xfrm>
            <a:prstGeom prst="ellipse">
              <a:avLst/>
            </a:prstGeom>
            <a:noFill/>
            <a:ln w="19050">
              <a:solidFill>
                <a:srgbClr val="1E3050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9848850" y="781050"/>
              <a:ext cx="1638300" cy="1638300"/>
            </a:xfrm>
            <a:prstGeom prst="ellipse">
              <a:avLst/>
            </a:prstGeom>
            <a:noFill/>
            <a:ln w="19050">
              <a:solidFill>
                <a:srgbClr val="24406B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0534650" y="1466850"/>
              <a:ext cx="266700" cy="266700"/>
            </a:xfrm>
            <a:prstGeom prst="ellipse">
              <a:avLst/>
            </a:prstGeom>
            <a:solidFill>
              <a:srgbClr val="35D0F0"/>
            </a:solidFill>
            <a:ln>
              <a:noFill/>
            </a:ln>
          </p:spPr>
        </p:sp>
        <p:sp>
          <p:nvSpPr>
            <p:cNvPr id="9" name="Line 9"/>
            <p:cNvSpPr/>
            <p:nvPr/>
          </p:nvSpPr>
          <p:spPr>
            <a:xfrm>
              <a:off x="9448800" y="1600200"/>
              <a:ext cx="2438400" cy="9525"/>
            </a:xfrm>
            <a:custGeom>
              <a:avLst/>
              <a:gdLst/>
              <a:ahLst/>
              <a:cxnLst/>
              <a:rect l="l" t="t" r="r" b="b"/>
              <a:pathLst>
                <a:path w="2438400" h="9525">
                  <a:moveTo>
                    <a:pt x="0" y="0"/>
                  </a:moveTo>
                  <a:lnTo>
                    <a:pt x="2438400" y="0"/>
                  </a:lnTo>
                </a:path>
              </a:pathLst>
            </a:custGeom>
            <a:noFill/>
            <a:ln w="19050">
              <a:solidFill>
                <a:srgbClr val="2A4A78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10668000" y="381000"/>
              <a:ext cx="9525" cy="2438400"/>
            </a:xfrm>
            <a:custGeom>
              <a:avLst/>
              <a:gdLst/>
              <a:ahLst/>
              <a:cxnLst/>
              <a:rect l="l" t="t" r="r" b="b"/>
              <a:pathLst>
                <a:path w="9525" h="2438400">
                  <a:moveTo>
                    <a:pt x="0" y="0"/>
                  </a:moveTo>
                  <a:lnTo>
                    <a:pt x="0" y="2438400"/>
                  </a:lnTo>
                </a:path>
              </a:pathLst>
            </a:custGeom>
            <a:noFill/>
            <a:ln w="19050">
              <a:solidFill>
                <a:srgbClr val="2A4A78"/>
              </a:solidFill>
            </a:ln>
          </p:spPr>
        </p:sp>
      </p:grpSp>
      <p:grpSp>
        <p:nvGrpSpPr>
          <p:cNvPr id="15" name="Group 15"/>
          <p:cNvGrpSpPr/>
          <p:nvPr/>
        </p:nvGrpSpPr>
        <p:grpSpPr>
          <a:xfrm>
            <a:off x="896874" y="1299210"/>
            <a:ext cx="7256526" cy="1860613"/>
            <a:chOff x="896874" y="1299210"/>
            <a:chExt cx="7256526" cy="1860613"/>
          </a:xfrm>
        </p:grpSpPr>
        <p:sp>
          <p:nvSpPr>
            <p:cNvPr id="12" name="TextBox 12"/>
            <p:cNvSpPr txBox="1"/>
            <p:nvPr/>
          </p:nvSpPr>
          <p:spPr>
            <a:xfrm>
              <a:off x="908304" y="1299210"/>
              <a:ext cx="25904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spc="300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REPVIT REPRODUCTION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96874" y="1894522"/>
              <a:ext cx="5256705" cy="126530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650"/>
                </a:lnSpc>
              </a:pPr>
              <a:r>
                <a:rPr lang="zh-CN" sz="34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RepViT 轻量图像分类模型</a:t>
              </a:r>
              <a:br/>
              <a:r>
                <a:rPr lang="zh-CN" sz="34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复现、优化与多模型部署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914400" y="3143250"/>
              <a:ext cx="7239000" cy="9525"/>
            </a:xfrm>
            <a:custGeom>
              <a:avLst/>
              <a:gdLst/>
              <a:ahLst/>
              <a:cxnLst/>
              <a:rect l="l" t="t" r="r" b="b"/>
              <a:pathLst>
                <a:path w="7239000" h="9525">
                  <a:moveTo>
                    <a:pt x="0" y="0"/>
                  </a:moveTo>
                  <a:lnTo>
                    <a:pt x="7239000" y="0"/>
                  </a:lnTo>
                </a:path>
              </a:pathLst>
            </a:custGeom>
            <a:noFill/>
            <a:ln w="28575">
              <a:solidFill>
                <a:srgbClr val="35D0F0"/>
              </a:solidFill>
            </a:ln>
          </p:spPr>
        </p:sp>
      </p:grpSp>
      <p:grpSp>
        <p:nvGrpSpPr>
          <p:cNvPr id="18" name="Group 18"/>
          <p:cNvGrpSpPr/>
          <p:nvPr/>
        </p:nvGrpSpPr>
        <p:grpSpPr>
          <a:xfrm>
            <a:off x="906780" y="3171825"/>
            <a:ext cx="6102096" cy="971931"/>
            <a:chOff x="906780" y="3171825"/>
            <a:chExt cx="6102096" cy="971931"/>
          </a:xfrm>
        </p:grpSpPr>
        <p:sp>
          <p:nvSpPr>
            <p:cNvPr id="16" name="TextBox 16"/>
            <p:cNvSpPr txBox="1"/>
            <p:nvPr/>
          </p:nvSpPr>
          <p:spPr>
            <a:xfrm>
              <a:off x="906780" y="3171825"/>
              <a:ext cx="40110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2026 秋 one 团队 AI 算法组考核 · 答辩汇报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08304" y="3604260"/>
              <a:ext cx="6100572" cy="5394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120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RepViT: Revisiting Mobile CNN From ViT Perspective · CVPR 2024 · arXiv:2307.09283</a:t>
              </a:r>
              <a:br/>
              <a:r>
                <a:rPr lang="en-US" sz="120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github.com/8ga-tech/RepViT-Reproduction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99922" y="5334000"/>
            <a:ext cx="10377678" cy="879634"/>
            <a:chOff x="899922" y="5334000"/>
            <a:chExt cx="10377678" cy="879634"/>
          </a:xfrm>
        </p:grpSpPr>
        <p:sp>
          <p:nvSpPr>
            <p:cNvPr id="19" name="Line 19"/>
            <p:cNvSpPr/>
            <p:nvPr/>
          </p:nvSpPr>
          <p:spPr>
            <a:xfrm>
              <a:off x="914400" y="5334000"/>
              <a:ext cx="10363200" cy="9525"/>
            </a:xfrm>
            <a:custGeom>
              <a:avLst/>
              <a:gdLst/>
              <a:ahLst/>
              <a:cxnLst/>
              <a:rect l="l" t="t" r="r" b="b"/>
              <a:pathLst>
                <a:path w="10363200" h="9525">
                  <a:moveTo>
                    <a:pt x="0" y="0"/>
                  </a:moveTo>
                  <a:lnTo>
                    <a:pt x="103632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899922" y="5483542"/>
              <a:ext cx="1505282" cy="730092"/>
              <a:chOff x="899922" y="5483542"/>
              <a:chExt cx="1505282" cy="730092"/>
            </a:xfrm>
          </p:grpSpPr>
          <p:sp>
            <p:nvSpPr>
              <p:cNvPr id="20" name="TextBox 20"/>
              <p:cNvSpPr txBox="1"/>
              <p:nvPr/>
            </p:nvSpPr>
            <p:spPr>
              <a:xfrm>
                <a:off x="899922" y="5483542"/>
                <a:ext cx="1438932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78.20%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08685" y="5993606"/>
                <a:ext cx="149651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ImageNet 子集 Top-1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3414522" y="5483542"/>
              <a:ext cx="1438932" cy="730092"/>
              <a:chOff x="3414522" y="5483542"/>
              <a:chExt cx="1438932" cy="730092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3414522" y="5483542"/>
                <a:ext cx="1438932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92.34%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423285" y="5993606"/>
                <a:ext cx="136088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Pet-37 test Top-1</a:t>
                </a:r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5929122" y="5483542"/>
              <a:ext cx="1579930" cy="730092"/>
              <a:chOff x="5929122" y="5483542"/>
              <a:chExt cx="1579930" cy="730092"/>
            </a:xfrm>
          </p:grpSpPr>
          <p:sp>
            <p:nvSpPr>
              <p:cNvPr id="26" name="TextBox 26"/>
              <p:cNvSpPr txBox="1"/>
              <p:nvPr/>
            </p:nvSpPr>
            <p:spPr>
              <a:xfrm>
                <a:off x="5929122" y="5483542"/>
                <a:ext cx="1579930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7.1e-06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937885" y="5993606"/>
                <a:ext cx="154287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重参数化 max|Δlogits|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8443722" y="5483542"/>
              <a:ext cx="1903948" cy="730092"/>
              <a:chOff x="8443722" y="5483542"/>
              <a:chExt cx="1903948" cy="730092"/>
            </a:xfrm>
          </p:grpSpPr>
          <p:sp>
            <p:nvSpPr>
              <p:cNvPr id="29" name="TextBox 29"/>
              <p:cNvSpPr txBox="1"/>
              <p:nvPr/>
            </p:nvSpPr>
            <p:spPr>
              <a:xfrm>
                <a:off x="8443722" y="5483542"/>
                <a:ext cx="995797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C79BFF"/>
                    </a:solidFill>
                    <a:latin typeface="Consolas"/>
                    <a:ea typeface="Consolas"/>
                    <a:cs typeface="Consolas"/>
                  </a:rPr>
                  <a:t>100%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452485" y="5993606"/>
                <a:ext cx="1895185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PyTorch↔ONNX Top-1 一致</a:t>
                </a:r>
              </a:p>
            </p:txBody>
          </p:sp>
        </p:grp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43878"/>
            <a:ext cx="10833354" cy="799147"/>
            <a:chOff x="672846" y="5438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43878"/>
              <a:ext cx="77934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六个考核环节全部交付，37 条验收项自检 0 失败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1032510"/>
              <a:ext cx="54643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运行 → 迁移 → 优化 → 可视化 → 重参数化 → 部署，每个数字都可在仓库中溯源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3335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685800" y="1676400"/>
            <a:ext cx="3409950" cy="1981200"/>
            <a:chOff x="685800" y="1676400"/>
            <a:chExt cx="3409950" cy="1981200"/>
          </a:xfrm>
        </p:grpSpPr>
        <p:sp>
          <p:nvSpPr>
            <p:cNvPr id="6" name="Rectangle 6"/>
            <p:cNvSpPr/>
            <p:nvPr/>
          </p:nvSpPr>
          <p:spPr>
            <a:xfrm>
              <a:off x="685800" y="16764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27735" y="19550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25068" y="2260282"/>
              <a:ext cx="14161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官方模型评价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933450" y="26098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27354" y="2785110"/>
              <a:ext cx="17084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5 个型号 · 1000 张子集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7354" y="3051810"/>
              <a:ext cx="15487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M0.9 Top-1 78.20%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8116" y="3334702"/>
              <a:ext cx="18058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outputs/pretrained_eval/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4381500" y="1676400"/>
            <a:ext cx="3409950" cy="1981200"/>
            <a:chOff x="4381500" y="1676400"/>
            <a:chExt cx="3409950" cy="1981200"/>
          </a:xfrm>
        </p:grpSpPr>
        <p:sp>
          <p:nvSpPr>
            <p:cNvPr id="14" name="Rectangle 14"/>
            <p:cNvSpPr/>
            <p:nvPr/>
          </p:nvSpPr>
          <p:spPr>
            <a:xfrm>
              <a:off x="4381500" y="16764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623435" y="19550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620768" y="2260282"/>
              <a:ext cx="16678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M0.9 迁移训练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4629150" y="26098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23054" y="2785110"/>
              <a:ext cx="15821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Pet 37 类 · 40 epoch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23054" y="3051810"/>
              <a:ext cx="14859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test Top-1 92.34%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23816" y="3334702"/>
              <a:ext cx="20814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checkpoints/baseline_best.pt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077200" y="1676400"/>
            <a:ext cx="3429000" cy="1981200"/>
            <a:chOff x="8077200" y="1676400"/>
            <a:chExt cx="3429000" cy="1981200"/>
          </a:xfrm>
        </p:grpSpPr>
        <p:sp>
          <p:nvSpPr>
            <p:cNvPr id="22" name="Rectangle 22"/>
            <p:cNvSpPr/>
            <p:nvPr/>
          </p:nvSpPr>
          <p:spPr>
            <a:xfrm>
              <a:off x="8077200" y="1676400"/>
              <a:ext cx="342900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319135" y="19550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16468" y="2260282"/>
              <a:ext cx="14161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控制变量优化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8324850" y="2609850"/>
              <a:ext cx="2933700" cy="9525"/>
            </a:xfrm>
            <a:custGeom>
              <a:avLst/>
              <a:gdLst/>
              <a:ahLst/>
              <a:cxnLst/>
              <a:rect l="l" t="t" r="r" b="b"/>
              <a:pathLst>
                <a:path w="2933700" h="9525">
                  <a:moveTo>
                    <a:pt x="0" y="0"/>
                  </a:moveTo>
                  <a:lnTo>
                    <a:pt x="29337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318754" y="2785110"/>
              <a:ext cx="12803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4 方案 + 3 组消融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18754" y="3051810"/>
              <a:ext cx="14801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C857"/>
                  </a:solidFill>
                  <a:latin typeface="Consolas"/>
                  <a:ea typeface="Microsoft YaHei"/>
                  <a:cs typeface="Consolas"/>
                </a:rPr>
                <a:t>7 份配置 DIFF PASS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19516" y="3334702"/>
              <a:ext cx="13676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configs/opt_*.yaml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85800" y="3848100"/>
            <a:ext cx="3409950" cy="1981200"/>
            <a:chOff x="685800" y="3848100"/>
            <a:chExt cx="3409950" cy="1981200"/>
          </a:xfrm>
        </p:grpSpPr>
        <p:sp>
          <p:nvSpPr>
            <p:cNvPr id="30" name="Rectangle 30"/>
            <p:cNvSpPr/>
            <p:nvPr/>
          </p:nvSpPr>
          <p:spPr>
            <a:xfrm>
              <a:off x="685800" y="38481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27735" y="41267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25068" y="4431982"/>
              <a:ext cx="188259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可视化与可解释性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933450" y="47815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27354" y="4956810"/>
              <a:ext cx="23302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五曲线 · 混淆矩阵 · Grad-CAM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27354" y="5223510"/>
              <a:ext cx="15064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FDB9B"/>
                  </a:solidFill>
                  <a:latin typeface="Consolas"/>
                  <a:ea typeface="Microsoft YaHei"/>
                  <a:cs typeface="Consolas"/>
                </a:rPr>
                <a:t>跨物种错误仅 3.56%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8116" y="55064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outputs/gradcam/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4381500" y="3848100"/>
            <a:ext cx="3409950" cy="1981200"/>
            <a:chOff x="4381500" y="3848100"/>
            <a:chExt cx="3409950" cy="1981200"/>
          </a:xfrm>
        </p:grpSpPr>
        <p:sp>
          <p:nvSpPr>
            <p:cNvPr id="38" name="Rectangle 38"/>
            <p:cNvSpPr/>
            <p:nvPr/>
          </p:nvSpPr>
          <p:spPr>
            <a:xfrm>
              <a:off x="4381500" y="38481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23435" y="41267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05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620768" y="4431982"/>
              <a:ext cx="14161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结构重参数化</a:t>
              </a:r>
            </a:p>
          </p:txBody>
        </p:sp>
        <p:sp>
          <p:nvSpPr>
            <p:cNvPr id="41" name="Line 41"/>
            <p:cNvSpPr/>
            <p:nvPr/>
          </p:nvSpPr>
          <p:spPr>
            <a:xfrm>
              <a:off x="4629150" y="47815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4623054" y="4956810"/>
              <a:ext cx="21467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BN 107 → 0 · Conv 126 → 103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23054" y="5223510"/>
              <a:ext cx="232219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max|Δ| 7.1e-06 · Top-1 32/32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623816" y="55064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outputs/reparam/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8077200" y="3848100"/>
            <a:ext cx="3429000" cy="1981200"/>
            <a:chOff x="8077200" y="3848100"/>
            <a:chExt cx="3429000" cy="1981200"/>
          </a:xfrm>
        </p:grpSpPr>
        <p:sp>
          <p:nvSpPr>
            <p:cNvPr id="46" name="Rectangle 46"/>
            <p:cNvSpPr/>
            <p:nvPr/>
          </p:nvSpPr>
          <p:spPr>
            <a:xfrm>
              <a:off x="8077200" y="3848100"/>
              <a:ext cx="342900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319135" y="41267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06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316468" y="4431982"/>
              <a:ext cx="19142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ONNX 多模型部署</a:t>
              </a:r>
            </a:p>
          </p:txBody>
        </p:sp>
        <p:sp>
          <p:nvSpPr>
            <p:cNvPr id="49" name="Line 49"/>
            <p:cNvSpPr/>
            <p:nvPr/>
          </p:nvSpPr>
          <p:spPr>
            <a:xfrm>
              <a:off x="8324850" y="4781550"/>
              <a:ext cx="2933700" cy="9525"/>
            </a:xfrm>
            <a:custGeom>
              <a:avLst/>
              <a:gdLst/>
              <a:ahLst/>
              <a:cxnLst/>
              <a:rect l="l" t="t" r="r" b="b"/>
              <a:pathLst>
                <a:path w="2933700" h="9525">
                  <a:moveTo>
                    <a:pt x="0" y="0"/>
                  </a:moveTo>
                  <a:lnTo>
                    <a:pt x="29337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318754" y="4956810"/>
              <a:ext cx="16337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6 个 ONNX · ORT CPU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318754" y="5223510"/>
              <a:ext cx="14194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P50 7.1 ~ 32.7 ms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319516" y="5506402"/>
              <a:ext cx="8658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onnx/*.onnx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680466" y="6057900"/>
            <a:ext cx="10831068" cy="358711"/>
            <a:chOff x="680466" y="6057900"/>
            <a:chExt cx="10831068" cy="358711"/>
          </a:xfrm>
        </p:grpSpPr>
        <p:sp>
          <p:nvSpPr>
            <p:cNvPr id="54" name="Line 54"/>
            <p:cNvSpPr/>
            <p:nvPr/>
          </p:nvSpPr>
          <p:spPr>
            <a:xfrm>
              <a:off x="685800" y="60579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80466" y="6211252"/>
              <a:ext cx="73289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范围声明：不做第八章拓展任务（INT8 量化 / 知识蒸馏 / 剪枝 / 多随机种子 / 边缘部署 / 核心模块独立实现）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345380" y="62112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734948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M0.9 是 20 个 RepViT Block 的纯卷积流水线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525429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形状由 forward hook 现测，非论文插图；分辨率 224 → 7，通道 3 → 384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</p:sp>
      </p:grpSp>
      <p:grpSp>
        <p:nvGrpSpPr>
          <p:cNvPr id="37" name="Group 37"/>
          <p:cNvGrpSpPr/>
          <p:nvPr/>
        </p:nvGrpSpPr>
        <p:grpSpPr>
          <a:xfrm>
            <a:off x="685800" y="1600200"/>
            <a:ext cx="7067550" cy="4629150"/>
            <a:chOff x="685800" y="1600200"/>
            <a:chExt cx="7067550" cy="462915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7067550" cy="4629150"/>
            </a:xfrm>
            <a:prstGeom prst="roundRect">
              <a:avLst>
                <a:gd name="adj" fmla="val 2058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</p:sp>
        <p:grpSp>
          <p:nvGrpSpPr>
            <p:cNvPr id="10" name="Group 10"/>
            <p:cNvGrpSpPr/>
            <p:nvPr/>
          </p:nvGrpSpPr>
          <p:grpSpPr>
            <a:xfrm>
              <a:off x="952500" y="1866900"/>
              <a:ext cx="6534150" cy="438150"/>
              <a:chOff x="952500" y="1866900"/>
              <a:chExt cx="6534150" cy="438150"/>
            </a:xfrm>
          </p:grpSpPr>
          <p:sp>
            <p:nvSpPr>
              <p:cNvPr id="7" name="Rectangle 7"/>
              <p:cNvSpPr/>
              <p:nvPr/>
            </p:nvSpPr>
            <p:spPr>
              <a:xfrm>
                <a:off x="952500" y="1866900"/>
                <a:ext cx="6534150" cy="438150"/>
              </a:xfrm>
              <a:prstGeom prst="roundRect">
                <a:avLst>
                  <a:gd name="adj" fmla="val 13043"/>
                </a:avLst>
              </a:prstGeom>
              <a:solidFill>
                <a:srgbClr val="1B2740"/>
              </a:solidFill>
              <a:ln>
                <a:noFill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1136523" y="2015014"/>
                <a:ext cx="374813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80" b="1" dirty="0">
                    <a:solidFill>
                      <a:srgbClr val="C79BFF"/>
                    </a:solidFill>
                    <a:latin typeface="Consolas"/>
                    <a:ea typeface="Microsoft YaHei"/>
                    <a:cs typeface="Consolas"/>
                  </a:rPr>
                  <a:t>输入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2355723" y="2015014"/>
                <a:ext cx="1487698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8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224 × 224 × 3 RGB</a:t>
                </a:r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952500" y="2438400"/>
              <a:ext cx="6534150" cy="723900"/>
              <a:chOff x="952500" y="2438400"/>
              <a:chExt cx="6534150" cy="72390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952500" y="2438400"/>
                <a:ext cx="6534150" cy="723900"/>
              </a:xfrm>
              <a:prstGeom prst="roundRect">
                <a:avLst>
                  <a:gd name="adj" fmla="val 7895"/>
                </a:avLst>
              </a:prstGeom>
              <a:solidFill>
                <a:srgbClr val="12233A"/>
              </a:solidFill>
              <a:ln w="9525">
                <a:solidFill>
                  <a:srgbClr val="35D0F0"/>
                </a:solidFill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136523" y="2586514"/>
                <a:ext cx="453329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8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Stem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2356104" y="2594610"/>
                <a:ext cx="220919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conv1 3×3 s2 → 24ch 112×112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2356104" y="2861310"/>
                <a:ext cx="2031492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conv2 3×3 s2 → 48ch 56×56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952500" y="3295650"/>
              <a:ext cx="6534150" cy="495300"/>
              <a:chOff x="952500" y="3295650"/>
              <a:chExt cx="6534150" cy="495300"/>
            </a:xfrm>
          </p:grpSpPr>
          <p:sp>
            <p:nvSpPr>
              <p:cNvPr id="16" name="Rectangle 16"/>
              <p:cNvSpPr/>
              <p:nvPr/>
            </p:nvSpPr>
            <p:spPr>
              <a:xfrm>
                <a:off x="952500" y="3295650"/>
                <a:ext cx="6534150" cy="495300"/>
              </a:xfrm>
              <a:prstGeom prst="roundRect">
                <a:avLst>
                  <a:gd name="adj" fmla="val 11538"/>
                </a:avLst>
              </a:prstGeom>
              <a:solidFill>
                <a:srgbClr val="131C2E"/>
              </a:solidFill>
              <a:ln>
                <a:noFill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1136523" y="3462814"/>
                <a:ext cx="671673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80" b="1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Stage 0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2356104" y="3470910"/>
                <a:ext cx="216527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2 × RepViT Block 48ch 56×56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952500" y="3886200"/>
              <a:ext cx="6534150" cy="495300"/>
              <a:chOff x="952500" y="3886200"/>
              <a:chExt cx="6534150" cy="4953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952500" y="3886200"/>
                <a:ext cx="6534150" cy="495300"/>
              </a:xfrm>
              <a:prstGeom prst="roundRect">
                <a:avLst>
                  <a:gd name="adj" fmla="val 11538"/>
                </a:avLst>
              </a:prstGeom>
              <a:solidFill>
                <a:srgbClr val="131C2E"/>
              </a:solidFill>
              <a:ln>
                <a:noFill/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1136523" y="4053364"/>
                <a:ext cx="671673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80" b="1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Stage 1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2356104" y="4061460"/>
                <a:ext cx="216527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2 × RepViT Block 96ch 28×28</a:t>
                </a:r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952500" y="4476750"/>
              <a:ext cx="6534150" cy="599789"/>
              <a:chOff x="952500" y="4476750"/>
              <a:chExt cx="6534150" cy="599789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952500" y="4476750"/>
                <a:ext cx="6534150" cy="571500"/>
              </a:xfrm>
              <a:prstGeom prst="roundRect">
                <a:avLst>
                  <a:gd name="adj" fmla="val 10000"/>
                </a:avLst>
              </a:prstGeom>
              <a:solidFill>
                <a:srgbClr val="17304A"/>
              </a:solidFill>
              <a:ln w="9525">
                <a:solidFill>
                  <a:srgbClr val="35D0F0"/>
                </a:solidFill>
              </a:ln>
            </p:spPr>
          </p:sp>
          <p:sp>
            <p:nvSpPr>
              <p:cNvPr id="25" name="TextBox 25"/>
              <p:cNvSpPr txBox="1"/>
              <p:nvPr/>
            </p:nvSpPr>
            <p:spPr>
              <a:xfrm>
                <a:off x="1136523" y="4682014"/>
                <a:ext cx="671673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8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Stage 2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2356104" y="4690110"/>
                <a:ext cx="2346069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14 × RepViT Block 192ch 14×14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2357247" y="4885849"/>
                <a:ext cx="3385460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35D0F0"/>
                    </a:solidFill>
                    <a:latin typeface="Microsoft YaHei"/>
                    <a:ea typeface="Microsoft YaHei"/>
                    <a:cs typeface="Microsoft YaHei"/>
                  </a:rPr>
                  <a:t>Block 数最多 —— 与论文「第三阶段布置更多 Block」一致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952500" y="5143500"/>
              <a:ext cx="6534150" cy="495300"/>
              <a:chOff x="952500" y="5143500"/>
              <a:chExt cx="6534150" cy="495300"/>
            </a:xfrm>
          </p:grpSpPr>
          <p:sp>
            <p:nvSpPr>
              <p:cNvPr id="29" name="Rectangle 29"/>
              <p:cNvSpPr/>
              <p:nvPr/>
            </p:nvSpPr>
            <p:spPr>
              <a:xfrm>
                <a:off x="952500" y="5143500"/>
                <a:ext cx="6534150" cy="495300"/>
              </a:xfrm>
              <a:prstGeom prst="roundRect">
                <a:avLst>
                  <a:gd name="adj" fmla="val 11538"/>
                </a:avLst>
              </a:prstGeom>
              <a:solidFill>
                <a:srgbClr val="131C2E"/>
              </a:solidFill>
              <a:ln>
                <a:noFill/>
              </a:ln>
            </p:spPr>
          </p:sp>
          <p:sp>
            <p:nvSpPr>
              <p:cNvPr id="30" name="TextBox 30"/>
              <p:cNvSpPr txBox="1"/>
              <p:nvPr/>
            </p:nvSpPr>
            <p:spPr>
              <a:xfrm>
                <a:off x="1136523" y="5310664"/>
                <a:ext cx="671673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80" b="1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Stage 3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2356104" y="5318760"/>
                <a:ext cx="2074879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2 × RepViT Block 384ch 7×7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952500" y="5734050"/>
              <a:ext cx="6534150" cy="323850"/>
              <a:chOff x="952500" y="5734050"/>
              <a:chExt cx="6534150" cy="323850"/>
            </a:xfrm>
          </p:grpSpPr>
          <p:sp>
            <p:nvSpPr>
              <p:cNvPr id="33" name="Rectangle 33"/>
              <p:cNvSpPr/>
              <p:nvPr/>
            </p:nvSpPr>
            <p:spPr>
              <a:xfrm>
                <a:off x="952500" y="5734050"/>
                <a:ext cx="6534150" cy="323850"/>
              </a:xfrm>
              <a:prstGeom prst="roundRect">
                <a:avLst>
                  <a:gd name="adj" fmla="val 17647"/>
                </a:avLst>
              </a:prstGeom>
              <a:solidFill>
                <a:srgbClr val="1B2740"/>
              </a:solidFill>
              <a:ln>
                <a:noFill/>
              </a:ln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1137285" y="5831681"/>
                <a:ext cx="92745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3FDB9B"/>
                    </a:solidFill>
                    <a:latin typeface="Consolas"/>
                    <a:ea typeface="Microsoft YaHei"/>
                    <a:cs typeface="Consolas"/>
                  </a:rPr>
                  <a:t>GAP → 384 维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2756535" y="5831681"/>
                <a:ext cx="316779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3FDB9B"/>
                    </a:solidFill>
                    <a:latin typeface="Consolas"/>
                    <a:ea typeface="Microsoft YaHei"/>
                    <a:cs typeface="Consolas"/>
                  </a:rPr>
                  <a:t>Head RepVitClassifier (NormLinear) → 37 维</a:t>
                </a:r>
              </a:p>
            </p:txBody>
          </p:sp>
        </p:grpSp>
      </p:grpSp>
      <p:grpSp>
        <p:nvGrpSpPr>
          <p:cNvPr id="46" name="Group 46"/>
          <p:cNvGrpSpPr/>
          <p:nvPr/>
        </p:nvGrpSpPr>
        <p:grpSpPr>
          <a:xfrm>
            <a:off x="8058150" y="1600200"/>
            <a:ext cx="3448050" cy="2171700"/>
            <a:chOff x="8058150" y="1600200"/>
            <a:chExt cx="3448050" cy="2171700"/>
          </a:xfrm>
        </p:grpSpPr>
        <p:sp>
          <p:nvSpPr>
            <p:cNvPr id="38" name="Rectangle 38"/>
            <p:cNvSpPr/>
            <p:nvPr/>
          </p:nvSpPr>
          <p:spPr>
            <a:xfrm>
              <a:off x="8058150" y="1600200"/>
              <a:ext cx="3448050" cy="2171700"/>
            </a:xfrm>
            <a:prstGeom prst="roundRect">
              <a:avLst>
                <a:gd name="adj" fmla="val 4386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298561" y="1789271"/>
              <a:ext cx="168400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单个 RepViT Block</a:t>
              </a:r>
            </a:p>
          </p:txBody>
        </p:sp>
        <p:sp>
          <p:nvSpPr>
            <p:cNvPr id="40" name="Line 40"/>
            <p:cNvSpPr/>
            <p:nvPr/>
          </p:nvSpPr>
          <p:spPr>
            <a:xfrm>
              <a:off x="8305800" y="2076450"/>
              <a:ext cx="2952750" cy="9525"/>
            </a:xfrm>
            <a:custGeom>
              <a:avLst/>
              <a:gdLst/>
              <a:ahLst/>
              <a:cxnLst/>
              <a:rect l="l" t="t" r="r" b="b"/>
              <a:pathLst>
                <a:path w="2952750" h="9525">
                  <a:moveTo>
                    <a:pt x="0" y="0"/>
                  </a:moveTo>
                  <a:lnTo>
                    <a:pt x="29527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300085" y="2259806"/>
              <a:ext cx="1803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Token Mixer（空间混合）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471916" y="2515552"/>
              <a:ext cx="19583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RepVGGDW = 3×3 dw + 1×1 dw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00085" y="2812256"/>
              <a:ext cx="1929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Channel Mixer（通道混合）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471916" y="3068002"/>
              <a:ext cx="18626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35D0F0"/>
                  </a:solidFill>
                  <a:latin typeface="Consolas"/>
                  <a:ea typeface="Microsoft YaHei"/>
                  <a:cs typeface="Consolas"/>
                </a:rPr>
                <a:t>1×1 升维 → GELU → 1×1 降维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300085" y="3364706"/>
              <a:ext cx="19649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残差连接 + 部分 Block 带 SE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8058150" y="3924300"/>
            <a:ext cx="3448050" cy="2305050"/>
            <a:chOff x="8058150" y="3924300"/>
            <a:chExt cx="3448050" cy="2305050"/>
          </a:xfrm>
        </p:grpSpPr>
        <p:sp>
          <p:nvSpPr>
            <p:cNvPr id="47" name="Rectangle 47"/>
            <p:cNvSpPr/>
            <p:nvPr/>
          </p:nvSpPr>
          <p:spPr>
            <a:xfrm>
              <a:off x="8058150" y="3924300"/>
              <a:ext cx="3448050" cy="2305050"/>
            </a:xfrm>
            <a:prstGeom prst="roundRect">
              <a:avLst>
                <a:gd name="adj" fmla="val 4132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8298561" y="4113371"/>
              <a:ext cx="156001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训练态 vs 推理态</a:t>
              </a:r>
            </a:p>
          </p:txBody>
        </p:sp>
        <p:sp>
          <p:nvSpPr>
            <p:cNvPr id="49" name="Line 49"/>
            <p:cNvSpPr/>
            <p:nvPr/>
          </p:nvSpPr>
          <p:spPr>
            <a:xfrm>
              <a:off x="8305800" y="4400550"/>
              <a:ext cx="2952750" cy="9525"/>
            </a:xfrm>
            <a:custGeom>
              <a:avLst/>
              <a:gdLst/>
              <a:ahLst/>
              <a:cxnLst/>
              <a:rect l="l" t="t" r="r" b="b"/>
              <a:pathLst>
                <a:path w="2952750" h="9525">
                  <a:moveTo>
                    <a:pt x="0" y="0"/>
                  </a:moveTo>
                  <a:lnTo>
                    <a:pt x="29527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300085" y="458390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训练态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300466" y="4839652"/>
              <a:ext cx="1670876" cy="4149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050" dirty="0">
                  <a:solidFill>
                    <a:srgbClr val="93A4C0"/>
                  </a:solidFill>
                  <a:latin typeface="Consolas"/>
                  <a:ea typeface="Microsoft YaHei"/>
                  <a:cs typeface="Consolas"/>
                </a:rPr>
                <a:t>3×3 dw 分支 + 1×1 dw 分支</a:t>
              </a:r>
              <a:br/>
              <a:r>
                <a:rPr lang="zh-CN" sz="1050" dirty="0">
                  <a:solidFill>
                    <a:srgbClr val="93A4C0"/>
                  </a:solidFill>
                  <a:latin typeface="Consolas"/>
                  <a:ea typeface="Microsoft YaHei"/>
                  <a:cs typeface="Consolas"/>
                </a:rPr>
                <a:t>两条分支各自带 BatchNorm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300085" y="538400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推理态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300466" y="5639752"/>
              <a:ext cx="1650873" cy="4149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050" dirty="0">
                  <a:solidFill>
                    <a:srgbClr val="93A4C0"/>
                  </a:solidFill>
                  <a:latin typeface="Consolas"/>
                  <a:ea typeface="Microsoft YaHei"/>
                  <a:cs typeface="Consolas"/>
                </a:rPr>
                <a:t>BN 折进卷积核后相加</a:t>
              </a:r>
              <a:br/>
              <a:r>
                <a:rPr lang="zh-CN" sz="1050" dirty="0">
                  <a:solidFill>
                    <a:srgbClr val="93A4C0"/>
                  </a:solidFill>
                  <a:latin typeface="Consolas"/>
                  <a:ea typeface="Microsoft YaHei"/>
                  <a:cs typeface="Consolas"/>
                </a:rPr>
                <a:t>→ 单个 3×3 depthwise 卷积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680847" y="6401752"/>
            <a:ext cx="10830687" cy="205359"/>
            <a:chOff x="680847" y="6401752"/>
            <a:chExt cx="10830687" cy="205359"/>
          </a:xfrm>
        </p:grpSpPr>
        <p:sp>
          <p:nvSpPr>
            <p:cNvPr id="55" name="TextBox 55"/>
            <p:cNvSpPr txBox="1"/>
            <p:nvPr/>
          </p:nvSpPr>
          <p:spPr>
            <a:xfrm>
              <a:off x="680847" y="6409849"/>
              <a:ext cx="603899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数据来源：outputs/architecture/repvit_m0_9_arch.png / .md（python tools/draw_arch.py）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345380" y="64017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739462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名字里有 ViT，但结构里没有一个注意力算子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49026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RepViT 借鉴的是轻量 ViT 的宏观架构选择，而非多头自注意力本身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</p:sp>
      </p:grpSp>
      <p:grpSp>
        <p:nvGrpSpPr>
          <p:cNvPr id="40" name="Group 40"/>
          <p:cNvGrpSpPr/>
          <p:nvPr/>
        </p:nvGrpSpPr>
        <p:grpSpPr>
          <a:xfrm>
            <a:off x="685800" y="1600200"/>
            <a:ext cx="7620000" cy="4438650"/>
            <a:chOff x="685800" y="1600200"/>
            <a:chExt cx="7620000" cy="443865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7620000" cy="4438650"/>
            </a:xfrm>
            <a:prstGeom prst="roundRect">
              <a:avLst>
                <a:gd name="adj" fmla="val 2146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</p:sp>
        <p:grpSp>
          <p:nvGrpSpPr>
            <p:cNvPr id="10" name="Group 10"/>
            <p:cNvGrpSpPr/>
            <p:nvPr/>
          </p:nvGrpSpPr>
          <p:grpSpPr>
            <a:xfrm>
              <a:off x="685800" y="1600200"/>
              <a:ext cx="7620000" cy="495300"/>
              <a:chOff x="685800" y="1600200"/>
              <a:chExt cx="7620000" cy="495300"/>
            </a:xfrm>
          </p:grpSpPr>
          <p:sp>
            <p:nvSpPr>
              <p:cNvPr id="7" name="Rectangle 7"/>
              <p:cNvSpPr/>
              <p:nvPr/>
            </p:nvSpPr>
            <p:spPr>
              <a:xfrm>
                <a:off x="685800" y="1600200"/>
                <a:ext cx="7620000" cy="495300"/>
              </a:xfrm>
              <a:prstGeom prst="roundRect">
                <a:avLst>
                  <a:gd name="adj" fmla="val 19231"/>
                </a:avLst>
              </a:prstGeom>
              <a:solidFill>
                <a:srgbClr val="1B2740"/>
              </a:solidFill>
              <a:ln>
                <a:noFill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1932173" y="1786414"/>
                <a:ext cx="707654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8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标准 ViT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5424797" y="1786414"/>
                <a:ext cx="580406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80" b="1" dirty="0">
                    <a:solidFill>
                      <a:srgbClr val="35D0F0"/>
                    </a:solidFill>
                    <a:latin typeface="Microsoft YaHei"/>
                    <a:ea typeface="Microsoft YaHei"/>
                    <a:cs typeface="Microsoft YaHei"/>
                  </a:rPr>
                  <a:t>RepViT</a:t>
                </a:r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946404" y="2366010"/>
              <a:ext cx="7092696" cy="329565"/>
              <a:chOff x="946404" y="2366010"/>
              <a:chExt cx="7092696" cy="329565"/>
            </a:xfrm>
          </p:grpSpPr>
          <p:sp>
            <p:nvSpPr>
              <p:cNvPr id="11" name="TextBox 11"/>
              <p:cNvSpPr txBox="1"/>
              <p:nvPr/>
            </p:nvSpPr>
            <p:spPr>
              <a:xfrm>
                <a:off x="946404" y="2366010"/>
                <a:ext cx="65836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空间混合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313014" y="2374106"/>
                <a:ext cx="194597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Multi-Head Self-Attention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4604614" y="2374106"/>
                <a:ext cx="2220773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rgbClr val="3FDB9B"/>
                    </a:solidFill>
                    <a:latin typeface="Consolas"/>
                    <a:ea typeface="Microsoft YaHei"/>
                    <a:cs typeface="Consolas"/>
                  </a:rPr>
                  <a:t>RepVGGDW（3×3 dw + 1×1 dw）</a:t>
                </a:r>
              </a:p>
            </p:txBody>
          </p:sp>
          <p:sp>
            <p:nvSpPr>
              <p:cNvPr id="14" name="Line 14"/>
              <p:cNvSpPr/>
              <p:nvPr/>
            </p:nvSpPr>
            <p:spPr>
              <a:xfrm>
                <a:off x="952500" y="2686050"/>
                <a:ext cx="7086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086600" h="9525">
                    <a:moveTo>
                      <a:pt x="0" y="0"/>
                    </a:moveTo>
                    <a:lnTo>
                      <a:pt x="70866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</p:sp>
        </p:grpSp>
        <p:grpSp>
          <p:nvGrpSpPr>
            <p:cNvPr id="20" name="Group 20"/>
            <p:cNvGrpSpPr/>
            <p:nvPr/>
          </p:nvGrpSpPr>
          <p:grpSpPr>
            <a:xfrm>
              <a:off x="946404" y="2918460"/>
              <a:ext cx="7092696" cy="329565"/>
              <a:chOff x="946404" y="2918460"/>
              <a:chExt cx="7092696" cy="329565"/>
            </a:xfrm>
          </p:grpSpPr>
          <p:sp>
            <p:nvSpPr>
              <p:cNvPr id="16" name="TextBox 16"/>
              <p:cNvSpPr txBox="1"/>
              <p:nvPr/>
            </p:nvSpPr>
            <p:spPr>
              <a:xfrm>
                <a:off x="946404" y="2918460"/>
                <a:ext cx="65836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通道混合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909892" y="2926556"/>
                <a:ext cx="75221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MLP / FFN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4446692" y="2926556"/>
                <a:ext cx="253661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rgbClr val="3FDB9B"/>
                    </a:solidFill>
                    <a:latin typeface="Consolas"/>
                    <a:ea typeface="Microsoft YaHei"/>
                    <a:cs typeface="Consolas"/>
                  </a:rPr>
                  <a:t>Channel Mixer（1×1 → GELU → 1×1）</a:t>
                </a:r>
              </a:p>
            </p:txBody>
          </p:sp>
          <p:sp>
            <p:nvSpPr>
              <p:cNvPr id="19" name="Line 19"/>
              <p:cNvSpPr/>
              <p:nvPr/>
            </p:nvSpPr>
            <p:spPr>
              <a:xfrm>
                <a:off x="952500" y="3238500"/>
                <a:ext cx="7086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086600" h="9525">
                    <a:moveTo>
                      <a:pt x="0" y="0"/>
                    </a:moveTo>
                    <a:lnTo>
                      <a:pt x="70866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</p:sp>
        </p:grpSp>
        <p:grpSp>
          <p:nvGrpSpPr>
            <p:cNvPr id="25" name="Group 25"/>
            <p:cNvGrpSpPr/>
            <p:nvPr/>
          </p:nvGrpSpPr>
          <p:grpSpPr>
            <a:xfrm>
              <a:off x="946404" y="3470910"/>
              <a:ext cx="7092696" cy="329565"/>
              <a:chOff x="946404" y="3470910"/>
              <a:chExt cx="7092696" cy="329565"/>
            </a:xfrm>
          </p:grpSpPr>
          <p:sp>
            <p:nvSpPr>
              <p:cNvPr id="21" name="TextBox 21"/>
              <p:cNvSpPr txBox="1"/>
              <p:nvPr/>
            </p:nvSpPr>
            <p:spPr>
              <a:xfrm>
                <a:off x="946404" y="3470910"/>
                <a:ext cx="496824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下采样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288943" y="3479006"/>
                <a:ext cx="1994113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patchify（stride=16 大核）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4480900" y="3479006"/>
                <a:ext cx="246819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rgbClr val="3FDB9B"/>
                    </a:solidFill>
                    <a:latin typeface="Consolas"/>
                    <a:ea typeface="Microsoft YaHei"/>
                    <a:cs typeface="Consolas"/>
                  </a:rPr>
                  <a:t>Early Conv Stem（两组 stride=2）</a:t>
                </a:r>
              </a:p>
            </p:txBody>
          </p:sp>
          <p:sp>
            <p:nvSpPr>
              <p:cNvPr id="24" name="Line 24"/>
              <p:cNvSpPr/>
              <p:nvPr/>
            </p:nvSpPr>
            <p:spPr>
              <a:xfrm>
                <a:off x="952500" y="3790950"/>
                <a:ext cx="7086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086600" h="9525">
                    <a:moveTo>
                      <a:pt x="0" y="0"/>
                    </a:moveTo>
                    <a:lnTo>
                      <a:pt x="70866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</p:sp>
        </p:grpSp>
        <p:grpSp>
          <p:nvGrpSpPr>
            <p:cNvPr id="30" name="Group 30"/>
            <p:cNvGrpSpPr/>
            <p:nvPr/>
          </p:nvGrpSpPr>
          <p:grpSpPr>
            <a:xfrm>
              <a:off x="946404" y="4023360"/>
              <a:ext cx="7092696" cy="329565"/>
              <a:chOff x="946404" y="4023360"/>
              <a:chExt cx="7092696" cy="329565"/>
            </a:xfrm>
          </p:grpSpPr>
          <p:sp>
            <p:nvSpPr>
              <p:cNvPr id="26" name="TextBox 26"/>
              <p:cNvSpPr txBox="1"/>
              <p:nvPr/>
            </p:nvSpPr>
            <p:spPr>
              <a:xfrm>
                <a:off x="946404" y="4023360"/>
                <a:ext cx="65836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归纳偏置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1752575" y="4031456"/>
                <a:ext cx="106685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弱，依赖大数据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567169" y="4031456"/>
                <a:ext cx="229566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rgbClr val="3FDB9B"/>
                    </a:solidFill>
                    <a:latin typeface="Microsoft YaHei"/>
                    <a:ea typeface="Microsoft YaHei"/>
                    <a:cs typeface="Microsoft YaHei"/>
                  </a:rPr>
                  <a:t>强（卷积自带局部性 / 平移等变）</a:t>
                </a:r>
              </a:p>
            </p:txBody>
          </p:sp>
          <p:sp>
            <p:nvSpPr>
              <p:cNvPr id="29" name="Line 29"/>
              <p:cNvSpPr/>
              <p:nvPr/>
            </p:nvSpPr>
            <p:spPr>
              <a:xfrm>
                <a:off x="952500" y="4343400"/>
                <a:ext cx="7086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086600" h="9525">
                    <a:moveTo>
                      <a:pt x="0" y="0"/>
                    </a:moveTo>
                    <a:lnTo>
                      <a:pt x="70866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</p:sp>
        </p:grpSp>
        <p:grpSp>
          <p:nvGrpSpPr>
            <p:cNvPr id="35" name="Group 35"/>
            <p:cNvGrpSpPr/>
            <p:nvPr/>
          </p:nvGrpSpPr>
          <p:grpSpPr>
            <a:xfrm>
              <a:off x="946404" y="4575810"/>
              <a:ext cx="7092696" cy="329565"/>
              <a:chOff x="946404" y="4575810"/>
              <a:chExt cx="7092696" cy="329565"/>
            </a:xfrm>
          </p:grpSpPr>
          <p:sp>
            <p:nvSpPr>
              <p:cNvPr id="31" name="TextBox 31"/>
              <p:cNvSpPr txBox="1"/>
              <p:nvPr/>
            </p:nvSpPr>
            <p:spPr>
              <a:xfrm>
                <a:off x="946404" y="4575810"/>
                <a:ext cx="81442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ONNX 图内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619668" y="4583906"/>
                <a:ext cx="1332665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MatMul + Softmax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5256962" y="4583906"/>
                <a:ext cx="91607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rgbClr val="3FDB9B"/>
                    </a:solidFill>
                    <a:latin typeface="Consolas"/>
                    <a:ea typeface="Microsoft YaHei"/>
                    <a:cs typeface="Consolas"/>
                  </a:rPr>
                  <a:t>无注意力算子</a:t>
                </a:r>
              </a:p>
            </p:txBody>
          </p:sp>
          <p:sp>
            <p:nvSpPr>
              <p:cNvPr id="34" name="Line 34"/>
              <p:cNvSpPr/>
              <p:nvPr/>
            </p:nvSpPr>
            <p:spPr>
              <a:xfrm>
                <a:off x="952500" y="4895850"/>
                <a:ext cx="7086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086600" h="9525">
                    <a:moveTo>
                      <a:pt x="0" y="0"/>
                    </a:moveTo>
                    <a:lnTo>
                      <a:pt x="70866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</p:sp>
        </p:grpSp>
        <p:grpSp>
          <p:nvGrpSpPr>
            <p:cNvPr id="39" name="Group 39"/>
            <p:cNvGrpSpPr/>
            <p:nvPr/>
          </p:nvGrpSpPr>
          <p:grpSpPr>
            <a:xfrm>
              <a:off x="946785" y="5174456"/>
              <a:ext cx="5226901" cy="746855"/>
              <a:chOff x="946785" y="5174456"/>
              <a:chExt cx="5226901" cy="746855"/>
            </a:xfrm>
          </p:grpSpPr>
          <p:sp>
            <p:nvSpPr>
              <p:cNvPr id="36" name="TextBox 36"/>
              <p:cNvSpPr txBox="1"/>
              <p:nvPr/>
            </p:nvSpPr>
            <p:spPr>
              <a:xfrm>
                <a:off x="946785" y="5174456"/>
                <a:ext cx="91607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全部算术节点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947166" y="5468302"/>
                <a:ext cx="288249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Conv / Gemm / Add / Mul / Div / Clip / Relu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947166" y="5715952"/>
                <a:ext cx="522652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C7096"/>
                    </a:solidFill>
                    <a:latin typeface="Microsoft YaHei"/>
                    <a:ea typeface="Microsoft YaHei"/>
                    <a:cs typeface="Microsoft YaHei"/>
                  </a:rPr>
                  <a:t>实证：onnx/*.onnx 的 op_histogram 与 outputs/reparam/*_onnx_nodes.json</a:t>
                </a:r>
              </a:p>
            </p:txBody>
          </p:sp>
        </p:grpSp>
      </p:grpSp>
      <p:grpSp>
        <p:nvGrpSpPr>
          <p:cNvPr id="61" name="Group 61"/>
          <p:cNvGrpSpPr/>
          <p:nvPr/>
        </p:nvGrpSpPr>
        <p:grpSpPr>
          <a:xfrm>
            <a:off x="8610600" y="1600200"/>
            <a:ext cx="2895600" cy="4438650"/>
            <a:chOff x="8610600" y="1600200"/>
            <a:chExt cx="2895600" cy="4438650"/>
          </a:xfrm>
        </p:grpSpPr>
        <p:sp>
          <p:nvSpPr>
            <p:cNvPr id="41" name="Rectangle 41"/>
            <p:cNvSpPr/>
            <p:nvPr/>
          </p:nvSpPr>
          <p:spPr>
            <a:xfrm>
              <a:off x="8610600" y="1600200"/>
              <a:ext cx="2895600" cy="4438650"/>
            </a:xfrm>
            <a:prstGeom prst="roundRect">
              <a:avLst>
                <a:gd name="adj" fmla="val 3289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831961" y="1789271"/>
              <a:ext cx="121878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四个关键设计</a:t>
              </a:r>
            </a:p>
          </p:txBody>
        </p:sp>
        <p:sp>
          <p:nvSpPr>
            <p:cNvPr id="43" name="Line 43"/>
            <p:cNvSpPr/>
            <p:nvPr/>
          </p:nvSpPr>
          <p:spPr>
            <a:xfrm>
              <a:off x="8839200" y="2076450"/>
              <a:ext cx="2438400" cy="9525"/>
            </a:xfrm>
            <a:custGeom>
              <a:avLst/>
              <a:gdLst/>
              <a:ahLst/>
              <a:cxnLst/>
              <a:rect l="l" t="t" r="r" b="b"/>
              <a:pathLst>
                <a:path w="2438400" h="9525">
                  <a:moveTo>
                    <a:pt x="0" y="0"/>
                  </a:moveTo>
                  <a:lnTo>
                    <a:pt x="2438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8833104" y="2270760"/>
              <a:ext cx="2444496" cy="577215"/>
              <a:chOff x="8833104" y="2270760"/>
              <a:chExt cx="2444496" cy="577215"/>
            </a:xfrm>
          </p:grpSpPr>
          <p:sp>
            <p:nvSpPr>
              <p:cNvPr id="44" name="TextBox 44"/>
              <p:cNvSpPr txBox="1"/>
              <p:nvPr/>
            </p:nvSpPr>
            <p:spPr>
              <a:xfrm>
                <a:off x="8833104" y="2270760"/>
                <a:ext cx="2205031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35D0F0"/>
                    </a:solidFill>
                    <a:latin typeface="Microsoft YaHei"/>
                    <a:ea typeface="Microsoft YaHei"/>
                    <a:cs typeface="Microsoft YaHei"/>
                  </a:rPr>
                  <a:t>分离 Token / Channel Mixer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8833866" y="2534602"/>
                <a:ext cx="170688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空间与通道容量可独立调节</a:t>
                </a:r>
              </a:p>
            </p:txBody>
          </p:sp>
          <p:sp>
            <p:nvSpPr>
              <p:cNvPr id="46" name="Line 46"/>
              <p:cNvSpPr/>
              <p:nvPr/>
            </p:nvSpPr>
            <p:spPr>
              <a:xfrm>
                <a:off x="8839200" y="2838450"/>
                <a:ext cx="2438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438400" h="9525">
                    <a:moveTo>
                      <a:pt x="0" y="0"/>
                    </a:moveTo>
                    <a:lnTo>
                      <a:pt x="24384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</p:sp>
        </p:grpSp>
        <p:grpSp>
          <p:nvGrpSpPr>
            <p:cNvPr id="51" name="Group 51"/>
            <p:cNvGrpSpPr/>
            <p:nvPr/>
          </p:nvGrpSpPr>
          <p:grpSpPr>
            <a:xfrm>
              <a:off x="8833104" y="3032760"/>
              <a:ext cx="2444496" cy="577215"/>
              <a:chOff x="8833104" y="3032760"/>
              <a:chExt cx="2444496" cy="577215"/>
            </a:xfrm>
          </p:grpSpPr>
          <p:sp>
            <p:nvSpPr>
              <p:cNvPr id="48" name="TextBox 48"/>
              <p:cNvSpPr txBox="1"/>
              <p:nvPr/>
            </p:nvSpPr>
            <p:spPr>
              <a:xfrm>
                <a:off x="8833104" y="3032760"/>
                <a:ext cx="2022203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35D0F0"/>
                    </a:solidFill>
                    <a:latin typeface="Microsoft YaHei"/>
                    <a:ea typeface="Microsoft YaHei"/>
                    <a:cs typeface="Microsoft YaHei"/>
                  </a:rPr>
                  <a:t>扩张比降到约 2，同时加宽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8833866" y="3296602"/>
                <a:ext cx="163153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省下的 MACs 换成通道数</a:t>
                </a:r>
              </a:p>
            </p:txBody>
          </p:sp>
          <p:sp>
            <p:nvSpPr>
              <p:cNvPr id="50" name="Line 50"/>
              <p:cNvSpPr/>
              <p:nvPr/>
            </p:nvSpPr>
            <p:spPr>
              <a:xfrm>
                <a:off x="8839200" y="3600450"/>
                <a:ext cx="2438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438400" h="9525">
                    <a:moveTo>
                      <a:pt x="0" y="0"/>
                    </a:moveTo>
                    <a:lnTo>
                      <a:pt x="24384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</p:sp>
        </p:grpSp>
        <p:grpSp>
          <p:nvGrpSpPr>
            <p:cNvPr id="55" name="Group 55"/>
            <p:cNvGrpSpPr/>
            <p:nvPr/>
          </p:nvGrpSpPr>
          <p:grpSpPr>
            <a:xfrm>
              <a:off x="8833104" y="3794760"/>
              <a:ext cx="2444496" cy="577215"/>
              <a:chOff x="8833104" y="3794760"/>
              <a:chExt cx="2444496" cy="577215"/>
            </a:xfrm>
          </p:grpSpPr>
          <p:sp>
            <p:nvSpPr>
              <p:cNvPr id="52" name="TextBox 52"/>
              <p:cNvSpPr txBox="1"/>
              <p:nvPr/>
            </p:nvSpPr>
            <p:spPr>
              <a:xfrm>
                <a:off x="8833104" y="3794760"/>
                <a:ext cx="13384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35D0F0"/>
                    </a:solidFill>
                    <a:latin typeface="Microsoft YaHei"/>
                    <a:ea typeface="Microsoft YaHei"/>
                    <a:cs typeface="Microsoft YaHei"/>
                  </a:rPr>
                  <a:t>SE 不做每块都放</a:t>
                </a: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8833866" y="4058602"/>
                <a:ext cx="156552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全局池化的延迟不可忽略</a:t>
                </a:r>
              </a:p>
            </p:txBody>
          </p:sp>
          <p:sp>
            <p:nvSpPr>
              <p:cNvPr id="54" name="Line 54"/>
              <p:cNvSpPr/>
              <p:nvPr/>
            </p:nvSpPr>
            <p:spPr>
              <a:xfrm>
                <a:off x="8839200" y="4362450"/>
                <a:ext cx="2438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438400" h="9525">
                    <a:moveTo>
                      <a:pt x="0" y="0"/>
                    </a:moveTo>
                    <a:lnTo>
                      <a:pt x="24384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</p:sp>
        </p:grpSp>
        <p:grpSp>
          <p:nvGrpSpPr>
            <p:cNvPr id="60" name="Group 60"/>
            <p:cNvGrpSpPr/>
            <p:nvPr/>
          </p:nvGrpSpPr>
          <p:grpSpPr>
            <a:xfrm>
              <a:off x="8833104" y="4556760"/>
              <a:ext cx="1974609" cy="1116901"/>
              <a:chOff x="8833104" y="4556760"/>
              <a:chExt cx="1974609" cy="1116901"/>
            </a:xfrm>
          </p:grpSpPr>
          <p:sp>
            <p:nvSpPr>
              <p:cNvPr id="56" name="TextBox 56"/>
              <p:cNvSpPr txBox="1"/>
              <p:nvPr/>
            </p:nvSpPr>
            <p:spPr>
              <a:xfrm>
                <a:off x="8833104" y="4556760"/>
                <a:ext cx="86029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35D0F0"/>
                    </a:solidFill>
                    <a:latin typeface="Microsoft YaHei"/>
                    <a:ea typeface="Microsoft YaHei"/>
                    <a:cs typeface="Microsoft YaHei"/>
                  </a:rPr>
                  <a:t>简单分类头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833866" y="4820602"/>
                <a:ext cx="197384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单个 BN + Linear，省真实延迟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833866" y="5220652"/>
                <a:ext cx="158046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C7096"/>
                    </a:solidFill>
                    <a:latin typeface="Microsoft YaHei"/>
                    <a:ea typeface="Microsoft YaHei"/>
                    <a:cs typeface="Microsoft YaHei"/>
                  </a:rPr>
                  <a:t>M0.9 实测：20 个 Block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833866" y="5468302"/>
                <a:ext cx="91531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5C7096"/>
                    </a:solidFill>
                    <a:latin typeface="Consolas"/>
                    <a:ea typeface="Consolas"/>
                    <a:cs typeface="Consolas"/>
                  </a:rPr>
                  <a:t>[2, 2, 14, 2]</a:t>
                </a:r>
              </a:p>
            </p:txBody>
          </p:sp>
        </p:grpSp>
      </p:grpSp>
      <p:grpSp>
        <p:nvGrpSpPr>
          <p:cNvPr id="64" name="Group 64"/>
          <p:cNvGrpSpPr/>
          <p:nvPr/>
        </p:nvGrpSpPr>
        <p:grpSpPr>
          <a:xfrm>
            <a:off x="680847" y="6401752"/>
            <a:ext cx="10830687" cy="205359"/>
            <a:chOff x="680847" y="6401752"/>
            <a:chExt cx="10830687" cy="205359"/>
          </a:xfrm>
        </p:grpSpPr>
        <p:sp>
          <p:nvSpPr>
            <p:cNvPr id="62" name="TextBox 62"/>
            <p:cNvSpPr txBox="1"/>
            <p:nvPr/>
          </p:nvSpPr>
          <p:spPr>
            <a:xfrm>
              <a:off x="680847" y="6409849"/>
              <a:ext cx="681737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数据来源：outputs/architecture/repvit_m0_9_arch.md · outputs/reparam/repvit_m0_9_onnx_nodes.json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345380" y="64017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552269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官方权重实测复现到 0.5 个点以内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753496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1000 张自建分层子集（每类 1 张，种子 20260912）· 224×224 · batch 64 · FP32 · RTX 4060 Laptop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</p:sp>
      </p:grpSp>
      <p:grpSp>
        <p:nvGrpSpPr>
          <p:cNvPr id="48" name="Group 48"/>
          <p:cNvGrpSpPr/>
          <p:nvPr/>
        </p:nvGrpSpPr>
        <p:grpSpPr>
          <a:xfrm>
            <a:off x="685800" y="1600200"/>
            <a:ext cx="7620000" cy="2857500"/>
            <a:chOff x="685800" y="1600200"/>
            <a:chExt cx="7620000" cy="285750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7620000" cy="2857500"/>
            </a:xfrm>
            <a:prstGeom prst="roundRect">
              <a:avLst>
                <a:gd name="adj" fmla="val 3333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685800" y="1600200"/>
              <a:ext cx="7620000" cy="476250"/>
              <a:chOff x="685800" y="1600200"/>
              <a:chExt cx="7620000" cy="476250"/>
            </a:xfrm>
          </p:grpSpPr>
          <p:sp>
            <p:nvSpPr>
              <p:cNvPr id="7" name="Rectangle 7"/>
              <p:cNvSpPr/>
              <p:nvPr/>
            </p:nvSpPr>
            <p:spPr>
              <a:xfrm>
                <a:off x="685800" y="1600200"/>
                <a:ext cx="7620000" cy="476250"/>
              </a:xfrm>
              <a:prstGeom prst="roundRect">
                <a:avLst>
                  <a:gd name="adj" fmla="val 20000"/>
                </a:avLst>
              </a:prstGeom>
              <a:solidFill>
                <a:srgbClr val="1B2740"/>
              </a:solidFill>
              <a:ln>
                <a:noFill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1003935" y="1783556"/>
                <a:ext cx="32805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型号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2325804" y="1783556"/>
                <a:ext cx="87289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参数量 (M)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3920612" y="1783556"/>
                <a:ext cx="73127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MACs (G)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5492502" y="1783556"/>
                <a:ext cx="82599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本机 Top-1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7202409" y="1783556"/>
                <a:ext cx="64468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官方公布</a:t>
                </a:r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1003554" y="2262664"/>
              <a:ext cx="6978396" cy="299561"/>
              <a:chOff x="1003554" y="2262664"/>
              <a:chExt cx="6978396" cy="299561"/>
            </a:xfrm>
          </p:grpSpPr>
          <p:sp>
            <p:nvSpPr>
              <p:cNvPr id="14" name="TextBox 14"/>
              <p:cNvSpPr txBox="1"/>
              <p:nvPr/>
            </p:nvSpPr>
            <p:spPr>
              <a:xfrm>
                <a:off x="1003554" y="2270760"/>
                <a:ext cx="101280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RepViT-M0.9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2534031" y="2270760"/>
                <a:ext cx="4564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5.489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4058031" y="2270760"/>
                <a:ext cx="4564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0.847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5582397" y="2262664"/>
                <a:ext cx="646206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8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78.20%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280377" y="2270760"/>
                <a:ext cx="48874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78.7%</a:t>
                </a:r>
              </a:p>
            </p:txBody>
          </p:sp>
          <p:sp>
            <p:nvSpPr>
              <p:cNvPr id="19" name="Line 19"/>
              <p:cNvSpPr/>
              <p:nvPr/>
            </p:nvSpPr>
            <p:spPr>
              <a:xfrm>
                <a:off x="1009650" y="2552700"/>
                <a:ext cx="69723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972300" h="9525">
                    <a:moveTo>
                      <a:pt x="0" y="0"/>
                    </a:moveTo>
                    <a:lnTo>
                      <a:pt x="69723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</p:sp>
        </p:grpSp>
        <p:grpSp>
          <p:nvGrpSpPr>
            <p:cNvPr id="27" name="Group 27"/>
            <p:cNvGrpSpPr/>
            <p:nvPr/>
          </p:nvGrpSpPr>
          <p:grpSpPr>
            <a:xfrm>
              <a:off x="1003554" y="2757964"/>
              <a:ext cx="6978396" cy="299561"/>
              <a:chOff x="1003554" y="2757964"/>
              <a:chExt cx="6978396" cy="299561"/>
            </a:xfrm>
          </p:grpSpPr>
          <p:sp>
            <p:nvSpPr>
              <p:cNvPr id="21" name="TextBox 21"/>
              <p:cNvSpPr txBox="1"/>
              <p:nvPr/>
            </p:nvSpPr>
            <p:spPr>
              <a:xfrm>
                <a:off x="1003554" y="2766060"/>
                <a:ext cx="101280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RepViT-M1.0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2534031" y="2766060"/>
                <a:ext cx="4564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7.303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4058031" y="2766060"/>
                <a:ext cx="4564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1.143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5582397" y="2757964"/>
                <a:ext cx="646206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8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79.90%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280377" y="2766060"/>
                <a:ext cx="48874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80.0%</a:t>
                </a:r>
              </a:p>
            </p:txBody>
          </p:sp>
          <p:sp>
            <p:nvSpPr>
              <p:cNvPr id="26" name="Line 26"/>
              <p:cNvSpPr/>
              <p:nvPr/>
            </p:nvSpPr>
            <p:spPr>
              <a:xfrm>
                <a:off x="1009650" y="3048000"/>
                <a:ext cx="69723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972300" h="9525">
                    <a:moveTo>
                      <a:pt x="0" y="0"/>
                    </a:moveTo>
                    <a:lnTo>
                      <a:pt x="69723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</p:sp>
        </p:grpSp>
        <p:grpSp>
          <p:nvGrpSpPr>
            <p:cNvPr id="34" name="Group 34"/>
            <p:cNvGrpSpPr/>
            <p:nvPr/>
          </p:nvGrpSpPr>
          <p:grpSpPr>
            <a:xfrm>
              <a:off x="1003554" y="3261360"/>
              <a:ext cx="6978396" cy="291465"/>
              <a:chOff x="1003554" y="3261360"/>
              <a:chExt cx="6978396" cy="291465"/>
            </a:xfrm>
          </p:grpSpPr>
          <p:sp>
            <p:nvSpPr>
              <p:cNvPr id="28" name="TextBox 28"/>
              <p:cNvSpPr txBox="1"/>
              <p:nvPr/>
            </p:nvSpPr>
            <p:spPr>
              <a:xfrm>
                <a:off x="1003554" y="3261360"/>
                <a:ext cx="101280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RepViT-M1.1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2534031" y="3261360"/>
                <a:ext cx="4564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8.803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058031" y="3261360"/>
                <a:ext cx="4564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1.358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616702" y="3261360"/>
                <a:ext cx="57759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79.90%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7280377" y="3261360"/>
                <a:ext cx="48874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80.7%</a:t>
                </a:r>
              </a:p>
            </p:txBody>
          </p:sp>
          <p:sp>
            <p:nvSpPr>
              <p:cNvPr id="33" name="Line 33"/>
              <p:cNvSpPr/>
              <p:nvPr/>
            </p:nvSpPr>
            <p:spPr>
              <a:xfrm>
                <a:off x="1009650" y="3543300"/>
                <a:ext cx="69723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972300" h="9525">
                    <a:moveTo>
                      <a:pt x="0" y="0"/>
                    </a:moveTo>
                    <a:lnTo>
                      <a:pt x="69723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</p:sp>
        </p:grpSp>
        <p:grpSp>
          <p:nvGrpSpPr>
            <p:cNvPr id="41" name="Group 41"/>
            <p:cNvGrpSpPr/>
            <p:nvPr/>
          </p:nvGrpSpPr>
          <p:grpSpPr>
            <a:xfrm>
              <a:off x="1003554" y="3756660"/>
              <a:ext cx="6978396" cy="291465"/>
              <a:chOff x="1003554" y="3756660"/>
              <a:chExt cx="6978396" cy="291465"/>
            </a:xfrm>
          </p:grpSpPr>
          <p:sp>
            <p:nvSpPr>
              <p:cNvPr id="35" name="TextBox 35"/>
              <p:cNvSpPr txBox="1"/>
              <p:nvPr/>
            </p:nvSpPr>
            <p:spPr>
              <a:xfrm>
                <a:off x="1003554" y="3756660"/>
                <a:ext cx="101280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RepViT-M1.5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2489606" y="3756660"/>
                <a:ext cx="54528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14.644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4058031" y="3756660"/>
                <a:ext cx="4564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2.308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5616702" y="3756660"/>
                <a:ext cx="57759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82.80%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280377" y="3756660"/>
                <a:ext cx="48874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82.3%</a:t>
                </a:r>
              </a:p>
            </p:txBody>
          </p:sp>
          <p:sp>
            <p:nvSpPr>
              <p:cNvPr id="40" name="Line 40"/>
              <p:cNvSpPr/>
              <p:nvPr/>
            </p:nvSpPr>
            <p:spPr>
              <a:xfrm>
                <a:off x="1009650" y="4038600"/>
                <a:ext cx="69723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972300" h="9525">
                    <a:moveTo>
                      <a:pt x="0" y="0"/>
                    </a:moveTo>
                    <a:lnTo>
                      <a:pt x="69723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</p:sp>
        </p:grpSp>
        <p:grpSp>
          <p:nvGrpSpPr>
            <p:cNvPr id="47" name="Group 47"/>
            <p:cNvGrpSpPr/>
            <p:nvPr/>
          </p:nvGrpSpPr>
          <p:grpSpPr>
            <a:xfrm>
              <a:off x="1003554" y="4213860"/>
              <a:ext cx="6765570" cy="234696"/>
              <a:chOff x="1003554" y="4213860"/>
              <a:chExt cx="6765570" cy="234696"/>
            </a:xfrm>
          </p:grpSpPr>
          <p:sp>
            <p:nvSpPr>
              <p:cNvPr id="42" name="TextBox 42"/>
              <p:cNvSpPr txBox="1"/>
              <p:nvPr/>
            </p:nvSpPr>
            <p:spPr>
              <a:xfrm>
                <a:off x="1003554" y="4213860"/>
                <a:ext cx="101280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RepViT-M2.3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2489606" y="4213860"/>
                <a:ext cx="54528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23.689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4058031" y="4213860"/>
                <a:ext cx="4564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4.574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5616702" y="4213860"/>
                <a:ext cx="57759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83.10%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7280377" y="4213860"/>
                <a:ext cx="48874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83.3%</a:t>
                </a:r>
              </a:p>
            </p:txBody>
          </p:sp>
        </p:grpSp>
      </p:grpSp>
      <p:grpSp>
        <p:nvGrpSpPr>
          <p:cNvPr id="60" name="Group 60"/>
          <p:cNvGrpSpPr/>
          <p:nvPr/>
        </p:nvGrpSpPr>
        <p:grpSpPr>
          <a:xfrm>
            <a:off x="8610600" y="1600200"/>
            <a:ext cx="2895600" cy="2857500"/>
            <a:chOff x="8610600" y="1600200"/>
            <a:chExt cx="2895600" cy="2857500"/>
          </a:xfrm>
        </p:grpSpPr>
        <p:sp>
          <p:nvSpPr>
            <p:cNvPr id="49" name="Rectangle 49"/>
            <p:cNvSpPr/>
            <p:nvPr/>
          </p:nvSpPr>
          <p:spPr>
            <a:xfrm>
              <a:off x="8610600" y="1600200"/>
              <a:ext cx="2895600" cy="2857500"/>
            </a:xfrm>
            <a:prstGeom prst="roundRect">
              <a:avLst>
                <a:gd name="adj" fmla="val 3333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831961" y="1789271"/>
              <a:ext cx="162022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预处理口径必须标</a:t>
              </a:r>
            </a:p>
          </p:txBody>
        </p:sp>
        <p:sp>
          <p:nvSpPr>
            <p:cNvPr id="51" name="Line 51"/>
            <p:cNvSpPr/>
            <p:nvPr/>
          </p:nvSpPr>
          <p:spPr>
            <a:xfrm>
              <a:off x="8839200" y="2076450"/>
              <a:ext cx="2438400" cy="9525"/>
            </a:xfrm>
            <a:custGeom>
              <a:avLst/>
              <a:gdLst/>
              <a:ahLst/>
              <a:cxnLst/>
              <a:rect l="l" t="t" r="r" b="b"/>
              <a:pathLst>
                <a:path w="2438400" h="9525">
                  <a:moveTo>
                    <a:pt x="0" y="0"/>
                  </a:moveTo>
                  <a:lnTo>
                    <a:pt x="2438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833485" y="227885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FFC857"/>
                  </a:solidFill>
                  <a:latin typeface="Consolas"/>
                  <a:ea typeface="Consolas"/>
                  <a:cs typeface="Consolas"/>
                </a:rPr>
                <a:t>crop_pct = 0.875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833866" y="2515552"/>
              <a:ext cx="218200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Resize(256) + CenterCrop(224)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833485" y="2888456"/>
              <a:ext cx="11799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FFC857"/>
                  </a:solidFill>
                  <a:latin typeface="Consolas"/>
                  <a:ea typeface="Consolas"/>
                  <a:cs typeface="Consolas"/>
                </a:rPr>
                <a:t>crop_pct = 0.95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833866" y="3125152"/>
              <a:ext cx="218200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Resize(235) + CenterCrop(224)</a:t>
              </a:r>
            </a:p>
          </p:txBody>
        </p:sp>
        <p:sp>
          <p:nvSpPr>
            <p:cNvPr id="56" name="Line 56"/>
            <p:cNvSpPr/>
            <p:nvPr/>
          </p:nvSpPr>
          <p:spPr>
            <a:xfrm>
              <a:off x="8839200" y="3467100"/>
              <a:ext cx="2438400" cy="9525"/>
            </a:xfrm>
            <a:custGeom>
              <a:avLst/>
              <a:gdLst/>
              <a:ahLst/>
              <a:cxnLst/>
              <a:rect l="l" t="t" r="r" b="b"/>
              <a:pathLst>
                <a:path w="2438400" h="9525">
                  <a:moveTo>
                    <a:pt x="0" y="0"/>
                  </a:moveTo>
                  <a:lnTo>
                    <a:pt x="2438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8833866" y="3658552"/>
              <a:ext cx="15116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M0.9：78.20 / 78.60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833866" y="3887152"/>
              <a:ext cx="15116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M1.0：79.90 / 80.00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834247" y="4200049"/>
              <a:ext cx="152047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两套口径差 0.1~0.4 个点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685800" y="4610100"/>
            <a:ext cx="10820400" cy="1447800"/>
            <a:chOff x="685800" y="4610100"/>
            <a:chExt cx="10820400" cy="1447800"/>
          </a:xfrm>
        </p:grpSpPr>
        <p:sp>
          <p:nvSpPr>
            <p:cNvPr id="61" name="Rectangle 61"/>
            <p:cNvSpPr/>
            <p:nvPr/>
          </p:nvSpPr>
          <p:spPr>
            <a:xfrm>
              <a:off x="685800" y="4610100"/>
              <a:ext cx="10820400" cy="1447800"/>
            </a:xfrm>
            <a:prstGeom prst="roundRect">
              <a:avLst>
                <a:gd name="adj" fmla="val 6579"/>
              </a:avLst>
            </a:prstGeom>
            <a:solidFill>
              <a:srgbClr val="1A1408"/>
            </a:solidFill>
            <a:ln w="9525">
              <a:solidFill>
                <a:srgbClr val="FFC857"/>
              </a:solidFill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945642" y="4807268"/>
              <a:ext cx="17311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必须声明的口径边界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46404" y="5166360"/>
              <a:ext cx="68592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本结果为「该自建验证子集上的实际运行结果」，不代表论文完整 ImageNet-1K 验证集结果。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46785" y="5460206"/>
              <a:ext cx="8613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子集为每类 1 张的分层抽样（1000 张），非考核方下发的指定子集；清单与哈希见 datasets/lists/imagenet_val_subset.txt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46785" y="5726906"/>
              <a:ext cx="4681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官方 iPhone 12 延迟（0.9 / 1.0 ms）与本机 CPU 结果不可横向比较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680847" y="6401752"/>
            <a:ext cx="10830687" cy="205359"/>
            <a:chOff x="680847" y="6401752"/>
            <a:chExt cx="10830687" cy="205359"/>
          </a:xfrm>
        </p:grpSpPr>
        <p:sp>
          <p:nvSpPr>
            <p:cNvPr id="67" name="TextBox 67"/>
            <p:cNvSpPr txBox="1"/>
            <p:nvPr/>
          </p:nvSpPr>
          <p:spPr>
            <a:xfrm>
              <a:off x="680847" y="6409849"/>
              <a:ext cx="47527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数据来源：outputs/pretrained_eval/&lt;model&gt;/metrics.json · summary.csv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345380" y="64017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579302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两套数据两套标签，三层划分零泄漏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56988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37 类与 1000 类必须分别使用各自的标签文件；混用会让 Top-5 名称整体错乱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</p:sp>
      </p:grpSp>
      <p:grpSp>
        <p:nvGrpSpPr>
          <p:cNvPr id="33" name="Group 33"/>
          <p:cNvGrpSpPr/>
          <p:nvPr/>
        </p:nvGrpSpPr>
        <p:grpSpPr>
          <a:xfrm>
            <a:off x="685800" y="1600200"/>
            <a:ext cx="6667500" cy="2552700"/>
            <a:chOff x="685800" y="1600200"/>
            <a:chExt cx="6667500" cy="255270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6667500" cy="2552700"/>
            </a:xfrm>
            <a:prstGeom prst="roundRect">
              <a:avLst>
                <a:gd name="adj" fmla="val 3731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45642" y="1797368"/>
              <a:ext cx="44124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Oxford-IIIT Pet 划分（唯一划分脚本，seed=42）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952500" y="2076450"/>
              <a:ext cx="6134100" cy="9525"/>
            </a:xfrm>
            <a:custGeom>
              <a:avLst/>
              <a:gdLst/>
              <a:ahLst/>
              <a:cxnLst/>
              <a:rect l="l" t="t" r="r" b="b"/>
              <a:pathLst>
                <a:path w="6134100" h="9525">
                  <a:moveTo>
                    <a:pt x="0" y="0"/>
                  </a:moveTo>
                  <a:lnTo>
                    <a:pt x="61341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grpSp>
          <p:nvGrpSpPr>
            <p:cNvPr id="12" name="Group 12"/>
            <p:cNvGrpSpPr/>
            <p:nvPr/>
          </p:nvGrpSpPr>
          <p:grpSpPr>
            <a:xfrm>
              <a:off x="952500" y="2266950"/>
              <a:ext cx="1905000" cy="533400"/>
              <a:chOff x="952500" y="2266950"/>
              <a:chExt cx="1905000" cy="533400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952500" y="2266950"/>
                <a:ext cx="19050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B2740"/>
              </a:solidFill>
              <a:ln>
                <a:noFill/>
              </a:ln>
            </p:spPr>
          </p:sp>
          <p:sp>
            <p:nvSpPr>
              <p:cNvPr id="10" name="TextBox 10"/>
              <p:cNvSpPr txBox="1"/>
              <p:nvPr/>
            </p:nvSpPr>
            <p:spPr>
              <a:xfrm>
                <a:off x="1439423" y="2393156"/>
                <a:ext cx="93115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trainval.txt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652302" y="2591752"/>
                <a:ext cx="50539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C7096"/>
                    </a:solidFill>
                    <a:latin typeface="Consolas"/>
                    <a:ea typeface="Microsoft YaHei"/>
                    <a:cs typeface="Consolas"/>
                  </a:rPr>
                  <a:t>3680 行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3238500" y="2266950"/>
              <a:ext cx="1714500" cy="533400"/>
              <a:chOff x="3238500" y="2266950"/>
              <a:chExt cx="1714500" cy="53340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3238500" y="2266950"/>
                <a:ext cx="17145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2233A"/>
              </a:solidFill>
              <a:ln w="9525">
                <a:solidFill>
                  <a:srgbClr val="35D0F0"/>
                </a:solidFill>
              </a:ln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3569863" y="2393156"/>
                <a:ext cx="1051773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pet_train.txt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3404864" y="2591752"/>
                <a:ext cx="1381773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7"/>
                    </a:solidFill>
                    <a:latin typeface="Consolas"/>
                    <a:ea typeface="Microsoft YaHei"/>
                    <a:cs typeface="Consolas"/>
                  </a:rPr>
                  <a:t>2940 行 · 每类 73~80</a:t>
                </a:r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5334000" y="2266950"/>
              <a:ext cx="1714500" cy="533400"/>
              <a:chOff x="5334000" y="2266950"/>
              <a:chExt cx="1714500" cy="5334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5334000" y="2266950"/>
                <a:ext cx="17145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2233A"/>
              </a:solidFill>
              <a:ln w="9525">
                <a:solidFill>
                  <a:srgbClr val="35D0F0"/>
                </a:solidFill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5748289" y="2393156"/>
                <a:ext cx="88592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pet_val.txt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5514499" y="2591752"/>
                <a:ext cx="1353503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7"/>
                    </a:solidFill>
                    <a:latin typeface="Consolas"/>
                    <a:ea typeface="Microsoft YaHei"/>
                    <a:cs typeface="Consolas"/>
                  </a:rPr>
                  <a:t>740 行 · 每类恰好 20</a:t>
                </a:r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952500" y="3105150"/>
              <a:ext cx="1905000" cy="533400"/>
              <a:chOff x="952500" y="3105150"/>
              <a:chExt cx="1905000" cy="533400"/>
            </a:xfrm>
          </p:grpSpPr>
          <p:sp>
            <p:nvSpPr>
              <p:cNvPr id="21" name="Rectangle 21"/>
              <p:cNvSpPr/>
              <p:nvPr/>
            </p:nvSpPr>
            <p:spPr>
              <a:xfrm>
                <a:off x="952500" y="3105150"/>
                <a:ext cx="19050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B2740"/>
              </a:solidFill>
              <a:ln>
                <a:noFill/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1567581" y="3231356"/>
                <a:ext cx="67483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test.txt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652302" y="3429952"/>
                <a:ext cx="50539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C7096"/>
                    </a:solidFill>
                    <a:latin typeface="Consolas"/>
                    <a:ea typeface="Microsoft YaHei"/>
                    <a:cs typeface="Consolas"/>
                  </a:rPr>
                  <a:t>3669 行</a:t>
                </a:r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3238500" y="3105150"/>
              <a:ext cx="1714500" cy="533400"/>
              <a:chOff x="3238500" y="3105150"/>
              <a:chExt cx="1714500" cy="53340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3238500" y="3105150"/>
                <a:ext cx="17145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2233A"/>
              </a:solidFill>
              <a:ln w="9525">
                <a:solidFill>
                  <a:srgbClr val="3FDB9B"/>
                </a:solidFill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3592479" y="3231356"/>
                <a:ext cx="100654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pet_test.txt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3365992" y="3429952"/>
                <a:ext cx="145951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7"/>
                    </a:solidFill>
                    <a:latin typeface="Consolas"/>
                    <a:ea typeface="Microsoft YaHei"/>
                    <a:cs typeface="Consolas"/>
                  </a:rPr>
                  <a:t>3669 行 · 每类 88~100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947166" y="3239452"/>
              <a:ext cx="5901111" cy="776859"/>
              <a:chOff x="947166" y="3239452"/>
              <a:chExt cx="5901111" cy="776859"/>
            </a:xfrm>
          </p:grpSpPr>
          <p:sp>
            <p:nvSpPr>
              <p:cNvPr id="29" name="TextBox 29"/>
              <p:cNvSpPr txBox="1"/>
              <p:nvPr/>
            </p:nvSpPr>
            <p:spPr>
              <a:xfrm>
                <a:off x="5328666" y="3239452"/>
                <a:ext cx="107080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FFC857"/>
                    </a:solidFill>
                    <a:latin typeface="Microsoft YaHei"/>
                    <a:ea typeface="Microsoft YaHei"/>
                    <a:cs typeface="Microsoft YaHei"/>
                  </a:rPr>
                  <a:t>test 只评价一次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328666" y="3429952"/>
                <a:ext cx="99305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eval_count = 1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947166" y="3810952"/>
                <a:ext cx="590111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C7096"/>
                    </a:solidFill>
                    <a:latin typeface="Microsoft YaHei"/>
                    <a:ea typeface="Microsoft YaHei"/>
                    <a:cs typeface="Microsoft YaHei"/>
                  </a:rPr>
                  <a:t>官方 CLASS-ID 是 1-based，0-based 标签 = CLASS-ID − 1；类名用 rsplit('_', 1) 取前缀</a:t>
                </a:r>
              </a:p>
            </p:txBody>
          </p:sp>
        </p:grpSp>
      </p:grpSp>
      <p:grpSp>
        <p:nvGrpSpPr>
          <p:cNvPr id="47" name="Group 47"/>
          <p:cNvGrpSpPr/>
          <p:nvPr/>
        </p:nvGrpSpPr>
        <p:grpSpPr>
          <a:xfrm>
            <a:off x="7658100" y="1600200"/>
            <a:ext cx="3848100" cy="2552700"/>
            <a:chOff x="7658100" y="1600200"/>
            <a:chExt cx="3848100" cy="2552700"/>
          </a:xfrm>
        </p:grpSpPr>
        <p:sp>
          <p:nvSpPr>
            <p:cNvPr id="34" name="Rectangle 34"/>
            <p:cNvSpPr/>
            <p:nvPr/>
          </p:nvSpPr>
          <p:spPr>
            <a:xfrm>
              <a:off x="7658100" y="1600200"/>
              <a:ext cx="3848100" cy="2552700"/>
            </a:xfrm>
            <a:prstGeom prst="roundRect">
              <a:avLst>
                <a:gd name="adj" fmla="val 3731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898892" y="1797368"/>
              <a:ext cx="23322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泄漏检查（三层 + 内容级）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7905750" y="207645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900035" y="229790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文件名交集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614355" y="2289810"/>
              <a:ext cx="6502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 / 0 / 0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900035" y="2640806"/>
              <a:ext cx="1469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MD5 交集（防改名）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614355" y="2632710"/>
              <a:ext cx="6502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 / 0 / 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900035" y="298370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孤儿图误入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163605" y="2975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900035" y="332660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划分内部重复图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163605" y="33185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</a:t>
              </a:r>
            </a:p>
          </p:txBody>
        </p:sp>
        <p:sp>
          <p:nvSpPr>
            <p:cNvPr id="45" name="Line 45"/>
            <p:cNvSpPr/>
            <p:nvPr/>
          </p:nvSpPr>
          <p:spPr>
            <a:xfrm>
              <a:off x="7905750" y="365760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900416" y="3830002"/>
              <a:ext cx="23924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python datasets/audit_leakage.py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685800" y="4343400"/>
            <a:ext cx="10820400" cy="1714500"/>
            <a:chOff x="685800" y="4343400"/>
            <a:chExt cx="10820400" cy="1714500"/>
          </a:xfrm>
        </p:grpSpPr>
        <p:sp>
          <p:nvSpPr>
            <p:cNvPr id="48" name="Rectangle 48"/>
            <p:cNvSpPr/>
            <p:nvPr/>
          </p:nvSpPr>
          <p:spPr>
            <a:xfrm>
              <a:off x="685800" y="4343400"/>
              <a:ext cx="10820400" cy="1714500"/>
            </a:xfrm>
            <a:prstGeom prst="roundRect">
              <a:avLst>
                <a:gd name="adj" fmla="val 5556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945642" y="4540568"/>
              <a:ext cx="26852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官方数据事实基线（全部实测）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952500" y="48196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941832" y="4954905"/>
              <a:ext cx="1118540" cy="585406"/>
              <a:chOff x="941832" y="4954905"/>
              <a:chExt cx="1118540" cy="585406"/>
            </a:xfrm>
          </p:grpSpPr>
          <p:sp>
            <p:nvSpPr>
              <p:cNvPr id="51" name="TextBox 51"/>
              <p:cNvSpPr txBox="1"/>
              <p:nvPr/>
            </p:nvSpPr>
            <p:spPr>
              <a:xfrm>
                <a:off x="941832" y="4954905"/>
                <a:ext cx="67437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7390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947166" y="5334952"/>
                <a:ext cx="111320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images/ 下的 jpg</a:t>
                </a:r>
              </a:p>
            </p:txBody>
          </p:sp>
        </p:grpSp>
        <p:grpSp>
          <p:nvGrpSpPr>
            <p:cNvPr id="56" name="Group 56"/>
            <p:cNvGrpSpPr/>
            <p:nvPr/>
          </p:nvGrpSpPr>
          <p:grpSpPr>
            <a:xfrm>
              <a:off x="3132582" y="4954905"/>
              <a:ext cx="1203350" cy="585406"/>
              <a:chOff x="3132582" y="4954905"/>
              <a:chExt cx="1203350" cy="585406"/>
            </a:xfrm>
          </p:grpSpPr>
          <p:sp>
            <p:nvSpPr>
              <p:cNvPr id="54" name="TextBox 54"/>
              <p:cNvSpPr txBox="1"/>
              <p:nvPr/>
            </p:nvSpPr>
            <p:spPr>
              <a:xfrm>
                <a:off x="3132582" y="4954905"/>
                <a:ext cx="67437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3680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3137916" y="5334952"/>
                <a:ext cx="119801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trainval.txt 行数</a:t>
                </a:r>
              </a:p>
            </p:txBody>
          </p:sp>
        </p:grpSp>
        <p:grpSp>
          <p:nvGrpSpPr>
            <p:cNvPr id="59" name="Group 59"/>
            <p:cNvGrpSpPr/>
            <p:nvPr/>
          </p:nvGrpSpPr>
          <p:grpSpPr>
            <a:xfrm>
              <a:off x="5323332" y="4954905"/>
              <a:ext cx="963054" cy="585406"/>
              <a:chOff x="5323332" y="4954905"/>
              <a:chExt cx="963054" cy="585406"/>
            </a:xfrm>
          </p:grpSpPr>
          <p:sp>
            <p:nvSpPr>
              <p:cNvPr id="57" name="TextBox 57"/>
              <p:cNvSpPr txBox="1"/>
              <p:nvPr/>
            </p:nvSpPr>
            <p:spPr>
              <a:xfrm>
                <a:off x="5323332" y="4954905"/>
                <a:ext cx="67437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3669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5328666" y="5334952"/>
                <a:ext cx="95772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test.txt 行数</a:t>
                </a:r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7514082" y="4954905"/>
              <a:ext cx="1015740" cy="585406"/>
              <a:chOff x="7514082" y="4954905"/>
              <a:chExt cx="1015740" cy="585406"/>
            </a:xfrm>
          </p:grpSpPr>
          <p:sp>
            <p:nvSpPr>
              <p:cNvPr id="60" name="TextBox 60"/>
              <p:cNvSpPr txBox="1"/>
              <p:nvPr/>
            </p:nvSpPr>
            <p:spPr>
              <a:xfrm>
                <a:off x="7514082" y="4954905"/>
                <a:ext cx="1015740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12 / 25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7519416" y="5334952"/>
                <a:ext cx="92238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猫 / 狗 类别数</a:t>
                </a:r>
              </a:p>
            </p:txBody>
          </p:sp>
        </p:grpSp>
        <p:grpSp>
          <p:nvGrpSpPr>
            <p:cNvPr id="65" name="Group 65"/>
            <p:cNvGrpSpPr/>
            <p:nvPr/>
          </p:nvGrpSpPr>
          <p:grpSpPr>
            <a:xfrm>
              <a:off x="9704832" y="4954905"/>
              <a:ext cx="1164159" cy="585406"/>
              <a:chOff x="9704832" y="4954905"/>
              <a:chExt cx="1164159" cy="585406"/>
            </a:xfrm>
          </p:grpSpPr>
          <p:sp>
            <p:nvSpPr>
              <p:cNvPr id="63" name="TextBox 63"/>
              <p:cNvSpPr txBox="1"/>
              <p:nvPr/>
            </p:nvSpPr>
            <p:spPr>
              <a:xfrm>
                <a:off x="9704832" y="4954905"/>
                <a:ext cx="1164159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1-based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9710166" y="5334952"/>
                <a:ext cx="97398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官方 CLASS-ID</a:t>
                </a:r>
              </a:p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947166" y="5715952"/>
              <a:ext cx="62159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官方不存在 train.txt / val.txt，只有 trainval.txt 与 test.txt；train/val 必须自行分层切分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680847" y="6210300"/>
            <a:ext cx="10830687" cy="358711"/>
            <a:chOff x="680847" y="6210300"/>
            <a:chExt cx="10830687" cy="358711"/>
          </a:xfrm>
        </p:grpSpPr>
        <p:sp>
          <p:nvSpPr>
            <p:cNvPr id="68" name="Line 68"/>
            <p:cNvSpPr/>
            <p:nvPr/>
          </p:nvSpPr>
          <p:spPr>
            <a:xfrm>
              <a:off x="685800" y="6210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680847" y="6371749"/>
              <a:ext cx="72131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数据来源：outputs/metrics/leakage_check.json · dataset_report.json · pet_label_audit.json · split_audit.json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345380" y="63636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766717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40 epoch 迁移训练把 test Top-1 做到 92.34%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6996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AdamW · cosine + 3ep warmup · Label Smoothing 0.1 · bf16 autocast · batch 64 · seed 42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</p:sp>
      </p:grpSp>
      <p:grpSp>
        <p:nvGrpSpPr>
          <p:cNvPr id="19" name="Group 19"/>
          <p:cNvGrpSpPr/>
          <p:nvPr/>
        </p:nvGrpSpPr>
        <p:grpSpPr>
          <a:xfrm>
            <a:off x="685800" y="1600200"/>
            <a:ext cx="6667500" cy="2076450"/>
            <a:chOff x="685800" y="1600200"/>
            <a:chExt cx="6667500" cy="207645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6667500" cy="2076450"/>
            </a:xfrm>
            <a:prstGeom prst="roundRect">
              <a:avLst>
                <a:gd name="adj" fmla="val 4587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45642" y="1797368"/>
              <a:ext cx="27806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测试集（3669 张，只评价一次）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952500" y="2076450"/>
              <a:ext cx="6134100" cy="9525"/>
            </a:xfrm>
            <a:custGeom>
              <a:avLst/>
              <a:gdLst/>
              <a:ahLst/>
              <a:cxnLst/>
              <a:rect l="l" t="t" r="r" b="b"/>
              <a:pathLst>
                <a:path w="6134100" h="9525">
                  <a:moveTo>
                    <a:pt x="0" y="0"/>
                  </a:moveTo>
                  <a:lnTo>
                    <a:pt x="61341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934974" y="2351722"/>
              <a:ext cx="1741865" cy="756762"/>
              <a:chOff x="934974" y="2351722"/>
              <a:chExt cx="1741865" cy="756762"/>
            </a:xfrm>
          </p:grpSpPr>
          <p:sp>
            <p:nvSpPr>
              <p:cNvPr id="9" name="TextBox 9"/>
              <p:cNvSpPr txBox="1"/>
              <p:nvPr/>
            </p:nvSpPr>
            <p:spPr>
              <a:xfrm>
                <a:off x="934974" y="2351722"/>
                <a:ext cx="174186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45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92.34%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946785" y="2888456"/>
                <a:ext cx="11462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Top-1 Accuracy</a:t>
                </a:r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>
              <a:off x="3125724" y="2351722"/>
              <a:ext cx="1741865" cy="756762"/>
              <a:chOff x="3125724" y="2351722"/>
              <a:chExt cx="1741865" cy="756762"/>
            </a:xfrm>
          </p:grpSpPr>
          <p:sp>
            <p:nvSpPr>
              <p:cNvPr id="12" name="TextBox 12"/>
              <p:cNvSpPr txBox="1"/>
              <p:nvPr/>
            </p:nvSpPr>
            <p:spPr>
              <a:xfrm>
                <a:off x="3125724" y="2351722"/>
                <a:ext cx="174186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45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99.26%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3137535" y="2888456"/>
                <a:ext cx="11462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Top-5 Accuracy</a:t>
                </a:r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316474" y="2351722"/>
              <a:ext cx="1741865" cy="756762"/>
              <a:chOff x="5316474" y="2351722"/>
              <a:chExt cx="1741865" cy="756762"/>
            </a:xfrm>
          </p:grpSpPr>
          <p:sp>
            <p:nvSpPr>
              <p:cNvPr id="15" name="TextBox 15"/>
              <p:cNvSpPr txBox="1"/>
              <p:nvPr/>
            </p:nvSpPr>
            <p:spPr>
              <a:xfrm>
                <a:off x="5316474" y="2351722"/>
                <a:ext cx="174186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45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92.22%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5328285" y="2888456"/>
                <a:ext cx="71807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Macro-F1</a:t>
                </a:r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947166" y="3296602"/>
              <a:ext cx="439961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验证集（740 张）best 选模依据 val_macro_f1 = 0.9462 @ epoch 34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58100" y="1600200"/>
            <a:ext cx="3848100" cy="2076450"/>
            <a:chOff x="7658100" y="1600200"/>
            <a:chExt cx="3848100" cy="2076450"/>
          </a:xfrm>
        </p:grpSpPr>
        <p:sp>
          <p:nvSpPr>
            <p:cNvPr id="20" name="Rectangle 20"/>
            <p:cNvSpPr/>
            <p:nvPr/>
          </p:nvSpPr>
          <p:spPr>
            <a:xfrm>
              <a:off x="7658100" y="1600200"/>
              <a:ext cx="3848100" cy="2076450"/>
            </a:xfrm>
            <a:prstGeom prst="roundRect">
              <a:avLst>
                <a:gd name="adj" fmla="val 4587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898892" y="1797368"/>
              <a:ext cx="9678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合规性自证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905750" y="207645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900035" y="229790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骨干确实被训练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94880" y="2306002"/>
              <a:ext cx="5690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93A4C0"/>
                  </a:solidFill>
                  <a:latin typeface="Consolas"/>
                  <a:ea typeface="Microsoft YaHei"/>
                  <a:cs typeface="Consolas"/>
                </a:rPr>
                <a:t>706 张量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900035" y="2621756"/>
              <a:ext cx="1112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其中骨干张量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836231" y="2629852"/>
              <a:ext cx="4276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93A4C0"/>
                  </a:solidFill>
                  <a:latin typeface="Consolas"/>
                  <a:ea typeface="Microsoft YaHei"/>
                  <a:cs typeface="Consolas"/>
                </a:rPr>
                <a:t>699 个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900035" y="2945606"/>
              <a:ext cx="13382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test 只评价一次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355637" y="2953702"/>
              <a:ext cx="90824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3A4C0"/>
                  </a:solidFill>
                  <a:latin typeface="Consolas"/>
                  <a:ea typeface="Consolas"/>
                  <a:cs typeface="Consolas"/>
                </a:rPr>
                <a:t>eval_count=1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900035" y="326945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权重加载无异常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20299" y="3277552"/>
              <a:ext cx="94358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3A4C0"/>
                  </a:solidFill>
                  <a:latin typeface="Consolas"/>
                  <a:ea typeface="Consolas"/>
                  <a:cs typeface="Consolas"/>
                </a:rPr>
                <a:t>unexpected=0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685800" y="3867150"/>
            <a:ext cx="10820400" cy="2190750"/>
            <a:chOff x="685800" y="3867150"/>
            <a:chExt cx="10820400" cy="2190750"/>
          </a:xfrm>
        </p:grpSpPr>
        <p:sp>
          <p:nvSpPr>
            <p:cNvPr id="32" name="Rectangle 32"/>
            <p:cNvSpPr/>
            <p:nvPr/>
          </p:nvSpPr>
          <p:spPr>
            <a:xfrm>
              <a:off x="685800" y="3867150"/>
              <a:ext cx="10820400" cy="2190750"/>
            </a:xfrm>
            <a:prstGeom prst="roundRect">
              <a:avLst>
                <a:gd name="adj" fmla="val 4348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45642" y="4064318"/>
              <a:ext cx="30764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1000 类 → 37 类：怎么做、差异在哪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952500" y="434340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946785" y="4564856"/>
              <a:ext cx="3550691" cy="1280255"/>
              <a:chOff x="946785" y="4564856"/>
              <a:chExt cx="3550691" cy="1280255"/>
            </a:xfrm>
          </p:grpSpPr>
          <p:sp>
            <p:nvSpPr>
              <p:cNvPr id="35" name="TextBox 35"/>
              <p:cNvSpPr txBox="1"/>
              <p:nvPr/>
            </p:nvSpPr>
            <p:spPr>
              <a:xfrm>
                <a:off x="946785" y="4564856"/>
                <a:ext cx="64468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3FDB9B"/>
                    </a:solidFill>
                    <a:latin typeface="Microsoft YaHei"/>
                    <a:ea typeface="Microsoft YaHei"/>
                    <a:cs typeface="Microsoft YaHei"/>
                  </a:rPr>
                  <a:t>正确做法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947166" y="4858702"/>
                <a:ext cx="293663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timm.create_model(..., num_classes=37,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947166" y="5087302"/>
                <a:ext cx="127997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distillation=False)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947166" y="5392102"/>
                <a:ext cx="355031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保留分类头的 BN 统计量（与类别数无关的迁移先验）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947166" y="5639752"/>
                <a:ext cx="316346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missing = 2（仅换头后的 Linear weight / bias）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5905500" y="4552950"/>
              <a:ext cx="5334000" cy="1333500"/>
              <a:chOff x="5905500" y="4552950"/>
              <a:chExt cx="5334000" cy="1333500"/>
            </a:xfrm>
          </p:grpSpPr>
          <p:sp>
            <p:nvSpPr>
              <p:cNvPr id="41" name="Rectangle 41"/>
              <p:cNvSpPr/>
              <p:nvPr/>
            </p:nvSpPr>
            <p:spPr>
              <a:xfrm>
                <a:off x="5905500" y="4552950"/>
                <a:ext cx="5334000" cy="1333500"/>
              </a:xfrm>
              <a:prstGeom prst="roundRect">
                <a:avLst>
                  <a:gd name="adj" fmla="val 5714"/>
                </a:avLst>
              </a:prstGeom>
              <a:solidFill>
                <a:srgbClr val="1F1114"/>
              </a:solidFill>
              <a:ln w="9525">
                <a:solidFill>
                  <a:srgbClr val="FF6B6B"/>
                </a:solidFill>
              </a:ln>
            </p:spPr>
          </p:sp>
          <p:sp>
            <p:nvSpPr>
              <p:cNvPr id="42" name="TextBox 42"/>
              <p:cNvSpPr txBox="1"/>
              <p:nvPr/>
            </p:nvSpPr>
            <p:spPr>
              <a:xfrm>
                <a:off x="6147435" y="4736306"/>
                <a:ext cx="64468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FF6B6B"/>
                    </a:solidFill>
                    <a:latin typeface="Microsoft YaHei"/>
                    <a:ea typeface="Microsoft YaHei"/>
                    <a:cs typeface="Microsoft YaHei"/>
                  </a:rPr>
                  <a:t>禁止做法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6147816" y="5030152"/>
                <a:ext cx="191890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model.reset_classifier(37)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147816" y="5315902"/>
                <a:ext cx="353768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会丢掉 head.head.bn 的统计量；distillation=False 时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6147816" y="5544502"/>
                <a:ext cx="297903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head_dist 属性被整体删除，后续断言必然失败</a:t>
                </a:r>
              </a:p>
            </p:txBody>
          </p:sp>
        </p:grpSp>
      </p:grpSp>
      <p:grpSp>
        <p:nvGrpSpPr>
          <p:cNvPr id="51" name="Group 51"/>
          <p:cNvGrpSpPr/>
          <p:nvPr/>
        </p:nvGrpSpPr>
        <p:grpSpPr>
          <a:xfrm>
            <a:off x="680847" y="6210300"/>
            <a:ext cx="10830687" cy="358711"/>
            <a:chOff x="680847" y="6210300"/>
            <a:chExt cx="10830687" cy="358711"/>
          </a:xfrm>
        </p:grpSpPr>
        <p:sp>
          <p:nvSpPr>
            <p:cNvPr id="48" name="Line 48"/>
            <p:cNvSpPr/>
            <p:nvPr/>
          </p:nvSpPr>
          <p:spPr>
            <a:xfrm>
              <a:off x="685800" y="6210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80847" y="6371749"/>
              <a:ext cx="6421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数据来源：outputs/metrics/baseline_test.json · backbone_updated.json · weight_load_report.json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345380" y="63636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四组优化各有假设，控制变量由工具强制校验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75364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Baseline 有两个问题：样本仅 2940 张而参数 473 万（过拟合风险）；主干前期被大学习率推离预训练解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685800" y="1600200"/>
            <a:ext cx="5391150" cy="1238250"/>
            <a:chOff x="685800" y="1600200"/>
            <a:chExt cx="5391150" cy="123825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5391150" cy="1238250"/>
            </a:xfrm>
            <a:prstGeom prst="roundRect">
              <a:avLst>
                <a:gd name="adj" fmla="val 7692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26592" y="1778318"/>
              <a:ext cx="9915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B 混合增强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605014" y="1810702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5C7096"/>
                  </a:solidFill>
                  <a:latin typeface="Consolas"/>
                  <a:ea typeface="Microsoft YaHei"/>
                  <a:cs typeface="Consolas"/>
                </a:rPr>
                <a:t>3 个差异键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27735" y="2107406"/>
              <a:ext cx="32912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Mixup α=0.2 + CutMix α=1.0，每个 batch 都做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27735" y="2374106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假设：软标签平滑决策面，等价于训练集扩容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8116" y="2629852"/>
              <a:ext cx="20390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代价：需要更多 epoch 才能收敛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153150" y="1600200"/>
            <a:ext cx="5353050" cy="1238250"/>
            <a:chOff x="6153150" y="1600200"/>
            <a:chExt cx="5353050" cy="1238250"/>
          </a:xfrm>
        </p:grpSpPr>
        <p:sp>
          <p:nvSpPr>
            <p:cNvPr id="13" name="Rectangle 13"/>
            <p:cNvSpPr/>
            <p:nvPr/>
          </p:nvSpPr>
          <p:spPr>
            <a:xfrm>
              <a:off x="6153150" y="1600200"/>
              <a:ext cx="5353050" cy="1238250"/>
            </a:xfrm>
            <a:prstGeom prst="roundRect">
              <a:avLst>
                <a:gd name="adj" fmla="val 7692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393942" y="1778318"/>
              <a:ext cx="13948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C 加强数据增强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67664" y="1810702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5C7096"/>
                  </a:solidFill>
                  <a:latin typeface="Consolas"/>
                  <a:ea typeface="Microsoft YaHei"/>
                  <a:cs typeface="Consolas"/>
                </a:rPr>
                <a:t>8 个差异键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5085" y="2107406"/>
              <a:ext cx="3808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RandAugment(n=2, m=9) + RRC scale 下限 0.35→0.25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395085" y="2374106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假设：覆盖旋转 / 剪切 / 色调变换，压缩纹理记忆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395466" y="2629852"/>
              <a:ext cx="17775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风险：2940 张下容易过增强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85800" y="2990850"/>
            <a:ext cx="5391150" cy="1238250"/>
            <a:chOff x="685800" y="2990850"/>
            <a:chExt cx="5391150" cy="1238250"/>
          </a:xfrm>
        </p:grpSpPr>
        <p:sp>
          <p:nvSpPr>
            <p:cNvPr id="20" name="Rectangle 20"/>
            <p:cNvSpPr/>
            <p:nvPr/>
          </p:nvSpPr>
          <p:spPr>
            <a:xfrm>
              <a:off x="685800" y="2990850"/>
              <a:ext cx="5391150" cy="1238250"/>
            </a:xfrm>
            <a:prstGeom prst="roundRect">
              <a:avLst>
                <a:gd name="adj" fmla="val 7692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26592" y="3168968"/>
              <a:ext cx="13948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D 差异化学习率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605014" y="3201352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5C7096"/>
                  </a:solidFill>
                  <a:latin typeface="Consolas"/>
                  <a:ea typeface="Microsoft YaHei"/>
                  <a:cs typeface="Consolas"/>
                </a:rPr>
                <a:t>1 个差异键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27735" y="3498056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主干倍率 0.1 → 0.05（有效 lr 1e-4 → 5e-5）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27735" y="3764756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假设：新头快速收敛，主干锚定在预训练解附近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28116" y="4020502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代价：训练曲线整体右移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153150" y="2990850"/>
            <a:ext cx="5353050" cy="1238250"/>
            <a:chOff x="6153150" y="2990850"/>
            <a:chExt cx="5353050" cy="1238250"/>
          </a:xfrm>
        </p:grpSpPr>
        <p:sp>
          <p:nvSpPr>
            <p:cNvPr id="27" name="Rectangle 27"/>
            <p:cNvSpPr/>
            <p:nvPr/>
          </p:nvSpPr>
          <p:spPr>
            <a:xfrm>
              <a:off x="6153150" y="2990850"/>
              <a:ext cx="5353050" cy="1238250"/>
            </a:xfrm>
            <a:prstGeom prst="roundRect">
              <a:avLst>
                <a:gd name="adj" fmla="val 7692"/>
              </a:avLst>
            </a:prstGeom>
            <a:solidFill>
              <a:srgbClr val="17304A"/>
            </a:solidFill>
            <a:ln w="19050">
              <a:solidFill>
                <a:srgbClr val="35D0F0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93942" y="3168968"/>
              <a:ext cx="26046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A 组合式（基础任务所选项）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489921" y="3201352"/>
              <a:ext cx="7739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35D0F0"/>
                  </a:solidFill>
                  <a:latin typeface="Consolas"/>
                  <a:ea typeface="Microsoft YaHei"/>
                  <a:cs typeface="Consolas"/>
                </a:rPr>
                <a:t>12 个差异键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498056"/>
              <a:ext cx="1007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B + C + D 全开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5085" y="3764756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假设：三者机制互补，前段更稳 + 末段更高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395466" y="4020502"/>
              <a:ext cx="17068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风险：正则叠加会延长收敛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685800" y="4381500"/>
            <a:ext cx="10820400" cy="1809750"/>
            <a:chOff x="685800" y="4381500"/>
            <a:chExt cx="10820400" cy="1809750"/>
          </a:xfrm>
        </p:grpSpPr>
        <p:sp>
          <p:nvSpPr>
            <p:cNvPr id="34" name="Rectangle 34"/>
            <p:cNvSpPr/>
            <p:nvPr/>
          </p:nvSpPr>
          <p:spPr>
            <a:xfrm>
              <a:off x="685800" y="4381500"/>
              <a:ext cx="10820400" cy="1809750"/>
            </a:xfrm>
            <a:prstGeom prst="roundRect">
              <a:avLst>
                <a:gd name="adj" fmla="val 5263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45642" y="4578668"/>
              <a:ext cx="32577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控制变量不是靠自觉，而是可执行校验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952500" y="48577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946785" y="5060156"/>
              <a:ext cx="6366077" cy="1039178"/>
              <a:chOff x="946785" y="5060156"/>
              <a:chExt cx="6366077" cy="1039178"/>
            </a:xfrm>
          </p:grpSpPr>
          <p:sp>
            <p:nvSpPr>
              <p:cNvPr id="37" name="TextBox 37"/>
              <p:cNvSpPr txBox="1"/>
              <p:nvPr/>
            </p:nvSpPr>
            <p:spPr>
              <a:xfrm>
                <a:off x="946785" y="5060156"/>
                <a:ext cx="562023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python tools/diff_config.py configs/baseline.yaml configs/opt_combo.yaml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946785" y="5345906"/>
                <a:ext cx="477590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叶子级比对，实际差异键必须与配置声明的 _expected_diff_ 逐项一致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946785" y="5612606"/>
                <a:ext cx="402601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3FDB9B"/>
                    </a:solidFill>
                    <a:latin typeface="Consolas"/>
                    <a:ea typeface="Microsoft YaHei"/>
                    <a:cs typeface="Consolas"/>
                  </a:rPr>
                  <a:t>7 份配置全部 DIFF PASS（3 / 8 / 1 / 12 / 8 / 1 / 9 键）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946785" y="5879306"/>
                <a:ext cx="636607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3FDB9B"/>
                    </a:solidFill>
                    <a:latin typeface="Consolas"/>
                    <a:ea typeface="Microsoft YaHei"/>
                    <a:cs typeface="Consolas"/>
                  </a:rPr>
                  <a:t>python tools/same_budget.py → total_iters_equal=True（8 组均为 40 epoch × 45 step）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8382000" y="5048250"/>
              <a:ext cx="2857500" cy="952500"/>
              <a:chOff x="8382000" y="5048250"/>
              <a:chExt cx="2857500" cy="952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8382000" y="5048250"/>
                <a:ext cx="2857500" cy="952500"/>
              </a:xfrm>
              <a:prstGeom prst="roundRect">
                <a:avLst>
                  <a:gd name="adj" fmla="val 8000"/>
                </a:avLst>
              </a:prstGeom>
              <a:solidFill>
                <a:srgbClr val="12233A"/>
              </a:solidFill>
              <a:ln w="9525">
                <a:solidFill>
                  <a:srgbClr val="35D0F0"/>
                </a:solidFill>
              </a:ln>
            </p:spPr>
          </p:sp>
          <p:sp>
            <p:nvSpPr>
              <p:cNvPr id="43" name="TextBox 43"/>
              <p:cNvSpPr txBox="1"/>
              <p:nvPr/>
            </p:nvSpPr>
            <p:spPr>
              <a:xfrm>
                <a:off x="8604885" y="5193506"/>
                <a:ext cx="64468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35D0F0"/>
                    </a:solidFill>
                    <a:latin typeface="Microsoft YaHei"/>
                    <a:ea typeface="Microsoft YaHei"/>
                    <a:cs typeface="Microsoft YaHei"/>
                  </a:rPr>
                  <a:t>保持不变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8605647" y="5457349"/>
                <a:ext cx="1764543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数据划分 · 预训练权重 · 种子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8605647" y="5666899"/>
                <a:ext cx="1896471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训练预算 · 评价方式 · 选模标准</a:t>
                </a:r>
              </a:p>
            </p:txBody>
          </p:sp>
        </p:grpSp>
      </p:grpSp>
      <p:grpSp>
        <p:nvGrpSpPr>
          <p:cNvPr id="51" name="Group 51"/>
          <p:cNvGrpSpPr/>
          <p:nvPr/>
        </p:nvGrpSpPr>
        <p:grpSpPr>
          <a:xfrm>
            <a:off x="680847" y="6210300"/>
            <a:ext cx="10830687" cy="358711"/>
            <a:chOff x="680847" y="6210300"/>
            <a:chExt cx="10830687" cy="358711"/>
          </a:xfrm>
        </p:grpSpPr>
        <p:sp>
          <p:nvSpPr>
            <p:cNvPr id="48" name="Line 48"/>
            <p:cNvSpPr/>
            <p:nvPr/>
          </p:nvSpPr>
          <p:spPr>
            <a:xfrm>
              <a:off x="685800" y="6210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80847" y="6371749"/>
              <a:ext cx="68635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数据来源：configs/opt_*.yaml 的 _expected_diff_ · outputs/metrics/{check_opt_diff,same_budget}.json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345380" y="63636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896494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8 组实验落在 0.6 个点的窄带内 —— 这是噪声，不是提升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58277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诚实结论比「挑一个最好看的数」更有价值；题目明确允许优化结果不提升准确率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</p:sp>
      </p:grpSp>
      <p:grpSp>
        <p:nvGrpSpPr>
          <p:cNvPr id="56" name="Group 56"/>
          <p:cNvGrpSpPr/>
          <p:nvPr/>
        </p:nvGrpSpPr>
        <p:grpSpPr>
          <a:xfrm>
            <a:off x="685800" y="1600200"/>
            <a:ext cx="7620000" cy="3009900"/>
            <a:chOff x="685800" y="1600200"/>
            <a:chExt cx="7620000" cy="300990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7620000" cy="3009900"/>
            </a:xfrm>
            <a:prstGeom prst="roundRect">
              <a:avLst>
                <a:gd name="adj" fmla="val 3165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685800" y="1600200"/>
              <a:ext cx="7620000" cy="438150"/>
              <a:chOff x="685800" y="1600200"/>
              <a:chExt cx="7620000" cy="438150"/>
            </a:xfrm>
          </p:grpSpPr>
          <p:sp>
            <p:nvSpPr>
              <p:cNvPr id="7" name="Rectangle 7"/>
              <p:cNvSpPr/>
              <p:nvPr/>
            </p:nvSpPr>
            <p:spPr>
              <a:xfrm>
                <a:off x="685800" y="1600200"/>
                <a:ext cx="7620000" cy="438150"/>
              </a:xfrm>
              <a:prstGeom prst="roundRect">
                <a:avLst>
                  <a:gd name="adj" fmla="val 21739"/>
                </a:avLst>
              </a:prstGeom>
              <a:solidFill>
                <a:srgbClr val="1B2740"/>
              </a:solidFill>
              <a:ln>
                <a:noFill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947166" y="1772602"/>
                <a:ext cx="307505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实验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2534288" y="1772602"/>
                <a:ext cx="45592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差异键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3617017" y="1772602"/>
                <a:ext cx="95746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val Macro-F1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5316917" y="1772602"/>
                <a:ext cx="79616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test Top-1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6796065" y="1772602"/>
                <a:ext cx="107636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test Macro-F1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946785" y="2202656"/>
              <a:ext cx="6657035" cy="220028"/>
              <a:chOff x="946785" y="2202656"/>
              <a:chExt cx="6657035" cy="220028"/>
            </a:xfrm>
          </p:grpSpPr>
          <p:sp>
            <p:nvSpPr>
              <p:cNvPr id="14" name="TextBox 14"/>
              <p:cNvSpPr txBox="1"/>
              <p:nvPr/>
            </p:nvSpPr>
            <p:spPr>
              <a:xfrm>
                <a:off x="946785" y="2202656"/>
                <a:ext cx="59945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baseline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2715072" y="2202656"/>
                <a:ext cx="9435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5C7096"/>
                    </a:solidFill>
                    <a:latin typeface="Consolas"/>
                    <a:ea typeface="Consolas"/>
                    <a:cs typeface="Consolas"/>
                  </a:rPr>
                  <a:t>—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3841257" y="2202656"/>
                <a:ext cx="50898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0.9462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5445430" y="2202656"/>
                <a:ext cx="53914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92.34%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064680" y="2202656"/>
                <a:ext cx="53914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92.22%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946785" y="2526506"/>
              <a:ext cx="6657035" cy="220028"/>
              <a:chOff x="946785" y="2526506"/>
              <a:chExt cx="6657035" cy="220028"/>
            </a:xfrm>
          </p:grpSpPr>
          <p:sp>
            <p:nvSpPr>
              <p:cNvPr id="20" name="TextBox 20"/>
              <p:cNvSpPr txBox="1"/>
              <p:nvPr/>
            </p:nvSpPr>
            <p:spPr>
              <a:xfrm>
                <a:off x="946785" y="2526506"/>
                <a:ext cx="885393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opt_mix (B)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2715072" y="2526506"/>
                <a:ext cx="9435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5C7096"/>
                    </a:solidFill>
                    <a:latin typeface="Consolas"/>
                    <a:ea typeface="Consolas"/>
                    <a:cs typeface="Consolas"/>
                  </a:rPr>
                  <a:t>3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3841257" y="2526506"/>
                <a:ext cx="50898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0.9489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5445430" y="2526506"/>
                <a:ext cx="53914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92.42%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064680" y="2526506"/>
                <a:ext cx="53914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92.27%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946785" y="2850356"/>
              <a:ext cx="6657035" cy="220028"/>
              <a:chOff x="946785" y="2850356"/>
              <a:chExt cx="6657035" cy="220028"/>
            </a:xfrm>
          </p:grpSpPr>
          <p:sp>
            <p:nvSpPr>
              <p:cNvPr id="26" name="TextBox 26"/>
              <p:cNvSpPr txBox="1"/>
              <p:nvPr/>
            </p:nvSpPr>
            <p:spPr>
              <a:xfrm>
                <a:off x="946785" y="2850356"/>
                <a:ext cx="122383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opt_randaug (C)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2715072" y="2850356"/>
                <a:ext cx="9435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5C7096"/>
                    </a:solidFill>
                    <a:latin typeface="Consolas"/>
                    <a:ea typeface="Consolas"/>
                    <a:cs typeface="Consolas"/>
                  </a:rPr>
                  <a:t>8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3841257" y="2850356"/>
                <a:ext cx="50898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0.9450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445430" y="2850356"/>
                <a:ext cx="53914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92.18%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064680" y="2850356"/>
                <a:ext cx="53914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92.06%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946785" y="3174206"/>
              <a:ext cx="6657035" cy="220028"/>
              <a:chOff x="946785" y="3174206"/>
              <a:chExt cx="6657035" cy="220028"/>
            </a:xfrm>
          </p:grpSpPr>
          <p:sp>
            <p:nvSpPr>
              <p:cNvPr id="32" name="TextBox 32"/>
              <p:cNvSpPr txBox="1"/>
              <p:nvPr/>
            </p:nvSpPr>
            <p:spPr>
              <a:xfrm>
                <a:off x="946785" y="3174206"/>
                <a:ext cx="93766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opt_disc (D)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2715072" y="3174206"/>
                <a:ext cx="9435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5C7096"/>
                    </a:solidFill>
                    <a:latin typeface="Consolas"/>
                    <a:ea typeface="Consolas"/>
                    <a:cs typeface="Consolas"/>
                  </a:rPr>
                  <a:t>1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3841257" y="3174206"/>
                <a:ext cx="50898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0.9421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5445430" y="3174206"/>
                <a:ext cx="53914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92.20%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064680" y="3174206"/>
                <a:ext cx="53914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92.11%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946785" y="3498056"/>
              <a:ext cx="6657035" cy="220028"/>
              <a:chOff x="946785" y="3498056"/>
              <a:chExt cx="6657035" cy="220028"/>
            </a:xfrm>
          </p:grpSpPr>
          <p:sp>
            <p:nvSpPr>
              <p:cNvPr id="38" name="TextBox 38"/>
              <p:cNvSpPr txBox="1"/>
              <p:nvPr/>
            </p:nvSpPr>
            <p:spPr>
              <a:xfrm>
                <a:off x="946785" y="3498056"/>
                <a:ext cx="108866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opt_combo (A)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2673609" y="3498056"/>
                <a:ext cx="17728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5C7096"/>
                    </a:solidFill>
                    <a:latin typeface="Consolas"/>
                    <a:ea typeface="Consolas"/>
                    <a:cs typeface="Consolas"/>
                  </a:rPr>
                  <a:t>12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3841257" y="3498056"/>
                <a:ext cx="50898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0.9489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5445430" y="3498056"/>
                <a:ext cx="53914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92.12%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7064680" y="3498056"/>
                <a:ext cx="53914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92.01%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946785" y="3821906"/>
              <a:ext cx="6657035" cy="220028"/>
              <a:chOff x="946785" y="3821906"/>
              <a:chExt cx="6657035" cy="220028"/>
            </a:xfrm>
          </p:grpSpPr>
          <p:sp>
            <p:nvSpPr>
              <p:cNvPr id="44" name="TextBox 44"/>
              <p:cNvSpPr txBox="1"/>
              <p:nvPr/>
            </p:nvSpPr>
            <p:spPr>
              <a:xfrm>
                <a:off x="946785" y="3821906"/>
                <a:ext cx="110468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opt_abl_a (=C)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2715072" y="3821906"/>
                <a:ext cx="9435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5C7096"/>
                    </a:solidFill>
                    <a:latin typeface="Consolas"/>
                    <a:ea typeface="Consolas"/>
                    <a:cs typeface="Consolas"/>
                  </a:rPr>
                  <a:t>8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3841257" y="3821906"/>
                <a:ext cx="50898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0.9502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5445430" y="3821906"/>
                <a:ext cx="53914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92.48%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7064680" y="3821906"/>
                <a:ext cx="53914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92.36%</a:t>
                </a:r>
              </a:p>
            </p:txBody>
          </p:sp>
        </p:grpSp>
        <p:grpSp>
          <p:nvGrpSpPr>
            <p:cNvPr id="55" name="Group 55"/>
            <p:cNvGrpSpPr/>
            <p:nvPr/>
          </p:nvGrpSpPr>
          <p:grpSpPr>
            <a:xfrm>
              <a:off x="946785" y="4145756"/>
              <a:ext cx="6657035" cy="220028"/>
              <a:chOff x="946785" y="4145756"/>
              <a:chExt cx="6657035" cy="220028"/>
            </a:xfrm>
          </p:grpSpPr>
          <p:sp>
            <p:nvSpPr>
              <p:cNvPr id="50" name="TextBox 50"/>
              <p:cNvSpPr txBox="1"/>
              <p:nvPr/>
            </p:nvSpPr>
            <p:spPr>
              <a:xfrm>
                <a:off x="946785" y="4145756"/>
                <a:ext cx="110468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opt_abl_b (=D)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2715072" y="4145756"/>
                <a:ext cx="9435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5C7096"/>
                    </a:solidFill>
                    <a:latin typeface="Consolas"/>
                    <a:ea typeface="Consolas"/>
                    <a:cs typeface="Consolas"/>
                  </a:rPr>
                  <a:t>1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3841257" y="4145756"/>
                <a:ext cx="50898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0.9433</a:t>
                </a: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5445430" y="4145756"/>
                <a:ext cx="53914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92.53%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7064680" y="4145756"/>
                <a:ext cx="53914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92.44%</a:t>
                </a:r>
              </a:p>
            </p:txBody>
          </p:sp>
        </p:grpSp>
      </p:grpSp>
      <p:grpSp>
        <p:nvGrpSpPr>
          <p:cNvPr id="72" name="Group 72"/>
          <p:cNvGrpSpPr/>
          <p:nvPr/>
        </p:nvGrpSpPr>
        <p:grpSpPr>
          <a:xfrm>
            <a:off x="8610600" y="1600200"/>
            <a:ext cx="2895600" cy="3009900"/>
            <a:chOff x="8610600" y="1600200"/>
            <a:chExt cx="2895600" cy="3009900"/>
          </a:xfrm>
        </p:grpSpPr>
        <p:sp>
          <p:nvSpPr>
            <p:cNvPr id="57" name="Rectangle 57"/>
            <p:cNvSpPr/>
            <p:nvPr/>
          </p:nvSpPr>
          <p:spPr>
            <a:xfrm>
              <a:off x="8610600" y="1600200"/>
              <a:ext cx="2895600" cy="3009900"/>
            </a:xfrm>
            <a:prstGeom prst="roundRect">
              <a:avLst>
                <a:gd name="adj" fmla="val 3289"/>
              </a:avLst>
            </a:prstGeom>
            <a:solidFill>
              <a:srgbClr val="1A1408"/>
            </a:solidFill>
            <a:ln w="9525">
              <a:solidFill>
                <a:srgbClr val="FFC857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8832723" y="1786414"/>
              <a:ext cx="12794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为什么说是噪声</a:t>
              </a:r>
            </a:p>
          </p:txBody>
        </p:sp>
        <p:sp>
          <p:nvSpPr>
            <p:cNvPr id="59" name="Line 59"/>
            <p:cNvSpPr/>
            <p:nvPr/>
          </p:nvSpPr>
          <p:spPr>
            <a:xfrm>
              <a:off x="8839200" y="2057400"/>
              <a:ext cx="2438400" cy="9525"/>
            </a:xfrm>
            <a:custGeom>
              <a:avLst/>
              <a:gdLst/>
              <a:ahLst/>
              <a:cxnLst/>
              <a:rect l="l" t="t" r="r" b="b"/>
              <a:pathLst>
                <a:path w="2438400" h="9525">
                  <a:moveTo>
                    <a:pt x="0" y="0"/>
                  </a:moveTo>
                  <a:lnTo>
                    <a:pt x="2438400" y="0"/>
                  </a:lnTo>
                </a:path>
              </a:pathLst>
            </a:custGeom>
            <a:noFill/>
            <a:ln w="9525">
              <a:solidFill>
                <a:srgbClr val="3A2E12"/>
              </a:solidFill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8833866" y="2267902"/>
              <a:ext cx="1646072" cy="662559"/>
              <a:chOff x="8833866" y="2267902"/>
              <a:chExt cx="1646072" cy="662559"/>
            </a:xfrm>
          </p:grpSpPr>
          <p:sp>
            <p:nvSpPr>
              <p:cNvPr id="60" name="TextBox 60"/>
              <p:cNvSpPr txBox="1"/>
              <p:nvPr/>
            </p:nvSpPr>
            <p:spPr>
              <a:xfrm>
                <a:off x="8833866" y="2267902"/>
                <a:ext cx="126162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① 二项分布置信区间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8834247" y="2523649"/>
                <a:ext cx="15288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3669 张、Top-1≈0.92 时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8833866" y="2725102"/>
                <a:ext cx="164607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FFC857"/>
                    </a:solidFill>
                    <a:latin typeface="Consolas"/>
                    <a:ea typeface="Microsoft YaHei"/>
                    <a:cs typeface="Consolas"/>
                  </a:rPr>
                  <a:t>95% CI 半宽 ≈ ±0.9 个点</a:t>
                </a:r>
              </a:p>
            </p:txBody>
          </p:sp>
        </p:grpSp>
        <p:grpSp>
          <p:nvGrpSpPr>
            <p:cNvPr id="68" name="Group 68"/>
            <p:cNvGrpSpPr/>
            <p:nvPr/>
          </p:nvGrpSpPr>
          <p:grpSpPr>
            <a:xfrm>
              <a:off x="8833866" y="3087052"/>
              <a:ext cx="1566029" cy="872109"/>
              <a:chOff x="8833866" y="3087052"/>
              <a:chExt cx="1566029" cy="872109"/>
            </a:xfrm>
          </p:grpSpPr>
          <p:sp>
            <p:nvSpPr>
              <p:cNvPr id="64" name="TextBox 64"/>
              <p:cNvSpPr txBox="1"/>
              <p:nvPr/>
            </p:nvSpPr>
            <p:spPr>
              <a:xfrm>
                <a:off x="8833866" y="3087052"/>
                <a:ext cx="126162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② 同配置重跑的波动</a:t>
                </a:r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8834247" y="3342799"/>
                <a:ext cx="1091712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baseline 重跑一次</a:t>
                </a:r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8833866" y="3544252"/>
                <a:ext cx="130403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test 92.26 → 92.34</a:t>
                </a: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8833866" y="3753802"/>
                <a:ext cx="156602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val F1 0.9502 → 0.9462</a:t>
                </a:r>
              </a:p>
            </p:txBody>
          </p:sp>
        </p:grpSp>
        <p:grpSp>
          <p:nvGrpSpPr>
            <p:cNvPr id="71" name="Group 71"/>
            <p:cNvGrpSpPr/>
            <p:nvPr/>
          </p:nvGrpSpPr>
          <p:grpSpPr>
            <a:xfrm>
              <a:off x="8833866" y="4096702"/>
              <a:ext cx="1564543" cy="427387"/>
              <a:chOff x="8833866" y="4096702"/>
              <a:chExt cx="1564543" cy="427387"/>
            </a:xfrm>
          </p:grpSpPr>
          <p:sp>
            <p:nvSpPr>
              <p:cNvPr id="69" name="TextBox 69"/>
              <p:cNvSpPr txBox="1"/>
              <p:nvPr/>
            </p:nvSpPr>
            <p:spPr>
              <a:xfrm>
                <a:off x="8833866" y="4096702"/>
                <a:ext cx="83757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③ 无单调关系</a:t>
                </a:r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8834247" y="4333399"/>
                <a:ext cx="1564162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三合一的 A 方案反而垫底</a:t>
                </a:r>
              </a:p>
            </p:txBody>
          </p:sp>
        </p:grpSp>
      </p:grpSp>
      <p:grpSp>
        <p:nvGrpSpPr>
          <p:cNvPr id="85" name="Group 85"/>
          <p:cNvGrpSpPr/>
          <p:nvPr/>
        </p:nvGrpSpPr>
        <p:grpSpPr>
          <a:xfrm>
            <a:off x="685800" y="4762500"/>
            <a:ext cx="10820400" cy="1428750"/>
            <a:chOff x="685800" y="4762500"/>
            <a:chExt cx="10820400" cy="1428750"/>
          </a:xfrm>
        </p:grpSpPr>
        <p:sp>
          <p:nvSpPr>
            <p:cNvPr id="73" name="Rectangle 73"/>
            <p:cNvSpPr/>
            <p:nvPr/>
          </p:nvSpPr>
          <p:spPr>
            <a:xfrm>
              <a:off x="685800" y="4762500"/>
              <a:ext cx="10820400" cy="1428750"/>
            </a:xfrm>
            <a:prstGeom prst="roundRect">
              <a:avLst>
                <a:gd name="adj" fmla="val 6667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945642" y="4940618"/>
              <a:ext cx="38445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组合消融：A 抵消了 B 单独使用时的负作用</a:t>
              </a:r>
            </a:p>
          </p:txBody>
        </p:sp>
        <p:sp>
          <p:nvSpPr>
            <p:cNvPr id="75" name="Line 75"/>
            <p:cNvSpPr/>
            <p:nvPr/>
          </p:nvSpPr>
          <p:spPr>
            <a:xfrm>
              <a:off x="952500" y="521970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grpSp>
          <p:nvGrpSpPr>
            <p:cNvPr id="78" name="Group 78"/>
            <p:cNvGrpSpPr/>
            <p:nvPr/>
          </p:nvGrpSpPr>
          <p:grpSpPr>
            <a:xfrm>
              <a:off x="944880" y="5400675"/>
              <a:ext cx="2625516" cy="520636"/>
              <a:chOff x="944880" y="5400675"/>
              <a:chExt cx="2625516" cy="520636"/>
            </a:xfrm>
          </p:grpSpPr>
          <p:sp>
            <p:nvSpPr>
              <p:cNvPr id="76" name="TextBox 76"/>
              <p:cNvSpPr txBox="1"/>
              <p:nvPr/>
            </p:nvSpPr>
            <p:spPr>
              <a:xfrm>
                <a:off x="944880" y="5400675"/>
                <a:ext cx="1258595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l-GR" sz="150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ΔA = +0.000</a:t>
                </a:r>
              </a:p>
            </p:txBody>
          </p:sp>
          <p:sp>
            <p:nvSpPr>
              <p:cNvPr id="77" name="TextBox 77"/>
              <p:cNvSpPr txBox="1"/>
              <p:nvPr/>
            </p:nvSpPr>
            <p:spPr>
              <a:xfrm>
                <a:off x="947166" y="5715952"/>
                <a:ext cx="262323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RandAugment 单独用：val Top-1 零变化</a:t>
                </a:r>
              </a:p>
            </p:txBody>
          </p:sp>
        </p:grpSp>
        <p:grpSp>
          <p:nvGrpSpPr>
            <p:cNvPr id="81" name="Group 81"/>
            <p:cNvGrpSpPr/>
            <p:nvPr/>
          </p:nvGrpSpPr>
          <p:grpSpPr>
            <a:xfrm>
              <a:off x="4278630" y="5400675"/>
              <a:ext cx="2717625" cy="520636"/>
              <a:chOff x="4278630" y="5400675"/>
              <a:chExt cx="2717625" cy="520636"/>
            </a:xfrm>
          </p:grpSpPr>
          <p:sp>
            <p:nvSpPr>
              <p:cNvPr id="79" name="TextBox 79"/>
              <p:cNvSpPr txBox="1"/>
              <p:nvPr/>
            </p:nvSpPr>
            <p:spPr>
              <a:xfrm>
                <a:off x="4278630" y="5400675"/>
                <a:ext cx="1258595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l-GR" sz="1500" b="1" dirty="0">
                    <a:solidFill>
                      <a:srgbClr val="FF6B6B"/>
                    </a:solidFill>
                    <a:latin typeface="Consolas"/>
                    <a:ea typeface="Consolas"/>
                    <a:cs typeface="Consolas"/>
                  </a:rPr>
                  <a:t>ΔB = −0.676</a:t>
                </a:r>
              </a:p>
            </p:txBody>
          </p:sp>
          <p:sp>
            <p:nvSpPr>
              <p:cNvPr id="80" name="TextBox 80"/>
              <p:cNvSpPr txBox="1"/>
              <p:nvPr/>
            </p:nvSpPr>
            <p:spPr>
              <a:xfrm>
                <a:off x="4280916" y="5715952"/>
                <a:ext cx="271533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差异化 lr 单独用：val Top-1 掉 0.68 个点</a:t>
                </a:r>
              </a:p>
            </p:txBody>
          </p:sp>
        </p:grpSp>
        <p:grpSp>
          <p:nvGrpSpPr>
            <p:cNvPr id="84" name="Group 84"/>
            <p:cNvGrpSpPr/>
            <p:nvPr/>
          </p:nvGrpSpPr>
          <p:grpSpPr>
            <a:xfrm>
              <a:off x="7612380" y="5400675"/>
              <a:ext cx="2133219" cy="520636"/>
              <a:chOff x="7612380" y="5400675"/>
              <a:chExt cx="2133219" cy="520636"/>
            </a:xfrm>
          </p:grpSpPr>
          <p:sp>
            <p:nvSpPr>
              <p:cNvPr id="82" name="TextBox 82"/>
              <p:cNvSpPr txBox="1"/>
              <p:nvPr/>
            </p:nvSpPr>
            <p:spPr>
              <a:xfrm>
                <a:off x="7612380" y="5400675"/>
                <a:ext cx="107937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50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I = +0.541</a:t>
                </a:r>
              </a:p>
            </p:txBody>
          </p:sp>
          <p:sp>
            <p:nvSpPr>
              <p:cNvPr id="83" name="TextBox 83"/>
              <p:cNvSpPr txBox="1"/>
              <p:nvPr/>
            </p:nvSpPr>
            <p:spPr>
              <a:xfrm>
                <a:off x="7614666" y="5715952"/>
                <a:ext cx="2130933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交互项为正，判定超加性（协同）</a:t>
                </a:r>
              </a:p>
            </p:txBody>
          </p:sp>
        </p:grpSp>
      </p:grpSp>
      <p:grpSp>
        <p:nvGrpSpPr>
          <p:cNvPr id="89" name="Group 89"/>
          <p:cNvGrpSpPr/>
          <p:nvPr/>
        </p:nvGrpSpPr>
        <p:grpSpPr>
          <a:xfrm>
            <a:off x="680847" y="6210300"/>
            <a:ext cx="10830687" cy="358711"/>
            <a:chOff x="680847" y="6210300"/>
            <a:chExt cx="10830687" cy="358711"/>
          </a:xfrm>
        </p:grpSpPr>
        <p:sp>
          <p:nvSpPr>
            <p:cNvPr id="86" name="Line 86"/>
            <p:cNvSpPr/>
            <p:nvPr/>
          </p:nvSpPr>
          <p:spPr>
            <a:xfrm>
              <a:off x="685800" y="6210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680847" y="6371749"/>
              <a:ext cx="74506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数据来源：outputs/logs/&lt;exp&gt;_metrics.csv · outputs/metrics/&lt;exp&gt;_test.json · advanced/ablation_summary.json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11345380" y="63636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687436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模型几乎不混淆猫狗，错误集中在品种之间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52219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归一化混淆矩阵 37×37，行和 = 1.0，argmax 落在对角线 37/37 = 100%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</p:sp>
      </p:grpSp>
      <p:grpSp>
        <p:nvGrpSpPr>
          <p:cNvPr id="15" name="Group 15"/>
          <p:cNvGrpSpPr/>
          <p:nvPr/>
        </p:nvGrpSpPr>
        <p:grpSpPr>
          <a:xfrm>
            <a:off x="685800" y="1600200"/>
            <a:ext cx="5391150" cy="2076450"/>
            <a:chOff x="685800" y="1600200"/>
            <a:chExt cx="5391150" cy="207645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5391150" cy="2076450"/>
            </a:xfrm>
            <a:prstGeom prst="roundRect">
              <a:avLst>
                <a:gd name="adj" fmla="val 4587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26592" y="1797368"/>
              <a:ext cx="21127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猫狗块分析（关键结论）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933450" y="2076450"/>
              <a:ext cx="4895850" cy="9525"/>
            </a:xfrm>
            <a:custGeom>
              <a:avLst/>
              <a:gdLst/>
              <a:ahLst/>
              <a:cxnLst/>
              <a:rect l="l" t="t" r="r" b="b"/>
              <a:pathLst>
                <a:path w="4895850" h="9525">
                  <a:moveTo>
                    <a:pt x="0" y="0"/>
                  </a:moveTo>
                  <a:lnTo>
                    <a:pt x="48958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916686" y="2329815"/>
              <a:ext cx="2465024" cy="740569"/>
              <a:chOff x="916686" y="2329815"/>
              <a:chExt cx="2465024" cy="740569"/>
            </a:xfrm>
          </p:grpSpPr>
          <p:sp>
            <p:nvSpPr>
              <p:cNvPr id="9" name="TextBox 9"/>
              <p:cNvSpPr txBox="1"/>
              <p:nvPr/>
            </p:nvSpPr>
            <p:spPr>
              <a:xfrm>
                <a:off x="916686" y="2329815"/>
                <a:ext cx="1409580" cy="6454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30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3.56%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927735" y="2850356"/>
                <a:ext cx="2453975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跨物种误判占比（10 / 281 个错误）</a:t>
                </a:r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>
              <a:off x="924306" y="3291840"/>
              <a:ext cx="3208889" cy="352044"/>
              <a:chOff x="924306" y="3291840"/>
              <a:chExt cx="3208889" cy="352044"/>
            </a:xfrm>
          </p:grpSpPr>
          <p:sp>
            <p:nvSpPr>
              <p:cNvPr id="12" name="TextBox 12"/>
              <p:cNvSpPr txBox="1"/>
              <p:nvPr/>
            </p:nvSpPr>
            <p:spPr>
              <a:xfrm>
                <a:off x="924306" y="3291840"/>
                <a:ext cx="76886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FFC857"/>
                    </a:solidFill>
                    <a:latin typeface="Consolas"/>
                    <a:ea typeface="Microsoft YaHei"/>
                    <a:cs typeface="Consolas"/>
                  </a:rPr>
                  <a:t>271 个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2470785" y="3364706"/>
                <a:ext cx="166241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种内品种错误（96.4%）</a:t>
                </a:r>
              </a:p>
            </p:txBody>
          </p:sp>
        </p:grpSp>
      </p:grpSp>
      <p:grpSp>
        <p:nvGrpSpPr>
          <p:cNvPr id="30" name="Group 30"/>
          <p:cNvGrpSpPr/>
          <p:nvPr/>
        </p:nvGrpSpPr>
        <p:grpSpPr>
          <a:xfrm>
            <a:off x="6153150" y="1600200"/>
            <a:ext cx="5353050" cy="2076450"/>
            <a:chOff x="6153150" y="1600200"/>
            <a:chExt cx="5353050" cy="2076450"/>
          </a:xfrm>
        </p:grpSpPr>
        <p:sp>
          <p:nvSpPr>
            <p:cNvPr id="16" name="Rectangle 16"/>
            <p:cNvSpPr/>
            <p:nvPr/>
          </p:nvSpPr>
          <p:spPr>
            <a:xfrm>
              <a:off x="6153150" y="1600200"/>
              <a:ext cx="5353050" cy="2076450"/>
            </a:xfrm>
            <a:prstGeom prst="roundRect">
              <a:avLst>
                <a:gd name="adj" fmla="val 4587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93942" y="1797368"/>
              <a:ext cx="10537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猫 / 狗 召回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6400800" y="2076450"/>
              <a:ext cx="4857750" cy="9525"/>
            </a:xfrm>
            <a:custGeom>
              <a:avLst/>
              <a:gdLst/>
              <a:ahLst/>
              <a:cxnLst/>
              <a:rect l="l" t="t" r="r" b="b"/>
              <a:pathLst>
                <a:path w="4857750" h="9525">
                  <a:moveTo>
                    <a:pt x="0" y="0"/>
                  </a:moveTo>
                  <a:lnTo>
                    <a:pt x="48577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6395085" y="2311718"/>
              <a:ext cx="4870323" cy="355282"/>
              <a:chOff x="6395085" y="2311718"/>
              <a:chExt cx="4870323" cy="355282"/>
            </a:xfrm>
          </p:grpSpPr>
          <p:sp>
            <p:nvSpPr>
              <p:cNvPr id="19" name="TextBox 19"/>
              <p:cNvSpPr txBox="1"/>
              <p:nvPr/>
            </p:nvSpPr>
            <p:spPr>
              <a:xfrm>
                <a:off x="6395085" y="2336006"/>
                <a:ext cx="463753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猫召回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10583809" y="2311718"/>
                <a:ext cx="681599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en-US" sz="135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88.17%</a:t>
                </a:r>
              </a:p>
            </p:txBody>
          </p:sp>
          <p:sp>
            <p:nvSpPr>
              <p:cNvPr id="21" name="Rectangle 21"/>
              <p:cNvSpPr/>
              <p:nvPr/>
            </p:nvSpPr>
            <p:spPr>
              <a:xfrm>
                <a:off x="6400800" y="2571750"/>
                <a:ext cx="4857750" cy="95250"/>
              </a:xfrm>
              <a:prstGeom prst="roundRect">
                <a:avLst>
                  <a:gd name="adj" fmla="val 50000"/>
                </a:avLst>
              </a:prstGeom>
              <a:solidFill>
                <a:srgbClr val="1B2740"/>
              </a:solidFill>
              <a:ln>
                <a:noFill/>
              </a:ln>
            </p:spPr>
          </p:sp>
          <p:sp>
            <p:nvSpPr>
              <p:cNvPr id="22" name="Rectangle 22"/>
              <p:cNvSpPr/>
              <p:nvPr/>
            </p:nvSpPr>
            <p:spPr>
              <a:xfrm>
                <a:off x="6400800" y="2571750"/>
                <a:ext cx="4286250" cy="95250"/>
              </a:xfrm>
              <a:prstGeom prst="roundRect">
                <a:avLst>
                  <a:gd name="adj" fmla="val 50000"/>
                </a:avLst>
              </a:prstGeom>
              <a:solidFill>
                <a:srgbClr val="35D0F0"/>
              </a:solidFill>
              <a:ln>
                <a:noFill/>
              </a:ln>
            </p:spPr>
          </p:sp>
        </p:grpSp>
        <p:grpSp>
          <p:nvGrpSpPr>
            <p:cNvPr id="28" name="Group 28"/>
            <p:cNvGrpSpPr/>
            <p:nvPr/>
          </p:nvGrpSpPr>
          <p:grpSpPr>
            <a:xfrm>
              <a:off x="6395085" y="2883218"/>
              <a:ext cx="4870323" cy="355282"/>
              <a:chOff x="6395085" y="2883218"/>
              <a:chExt cx="4870323" cy="355282"/>
            </a:xfrm>
          </p:grpSpPr>
          <p:sp>
            <p:nvSpPr>
              <p:cNvPr id="24" name="TextBox 24"/>
              <p:cNvSpPr txBox="1"/>
              <p:nvPr/>
            </p:nvSpPr>
            <p:spPr>
              <a:xfrm>
                <a:off x="6395085" y="2907506"/>
                <a:ext cx="463753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狗召回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10583809" y="2883218"/>
                <a:ext cx="681599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en-US" sz="135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94.33%</a:t>
                </a:r>
              </a:p>
            </p:txBody>
          </p:sp>
          <p:sp>
            <p:nvSpPr>
              <p:cNvPr id="26" name="Rectangle 26"/>
              <p:cNvSpPr/>
              <p:nvPr/>
            </p:nvSpPr>
            <p:spPr>
              <a:xfrm>
                <a:off x="6400800" y="3143250"/>
                <a:ext cx="4857750" cy="95250"/>
              </a:xfrm>
              <a:prstGeom prst="roundRect">
                <a:avLst>
                  <a:gd name="adj" fmla="val 50000"/>
                </a:avLst>
              </a:prstGeom>
              <a:solidFill>
                <a:srgbClr val="1B2740"/>
              </a:solidFill>
              <a:ln>
                <a:noFill/>
              </a:ln>
            </p:spPr>
          </p:sp>
          <p:sp>
            <p:nvSpPr>
              <p:cNvPr id="27" name="Rectangle 27"/>
              <p:cNvSpPr/>
              <p:nvPr/>
            </p:nvSpPr>
            <p:spPr>
              <a:xfrm>
                <a:off x="6400800" y="3143250"/>
                <a:ext cx="4581525" cy="95250"/>
              </a:xfrm>
              <a:prstGeom prst="roundRect">
                <a:avLst>
                  <a:gd name="adj" fmla="val 50000"/>
                </a:avLst>
              </a:prstGeom>
              <a:solidFill>
                <a:srgbClr val="3FDB9B"/>
              </a:solidFill>
              <a:ln>
                <a:noFill/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6395466" y="3410902"/>
              <a:ext cx="28376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猫的召回明显低于狗：长毛猫品种间差异更小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685800" y="3867150"/>
            <a:ext cx="10820400" cy="1143000"/>
            <a:chOff x="685800" y="3867150"/>
            <a:chExt cx="10820400" cy="1143000"/>
          </a:xfrm>
        </p:grpSpPr>
        <p:sp>
          <p:nvSpPr>
            <p:cNvPr id="31" name="Rectangle 31"/>
            <p:cNvSpPr/>
            <p:nvPr/>
          </p:nvSpPr>
          <p:spPr>
            <a:xfrm>
              <a:off x="685800" y="3867150"/>
              <a:ext cx="10820400" cy="1143000"/>
            </a:xfrm>
            <a:prstGeom prst="roundRect">
              <a:avLst>
                <a:gd name="adj" fmla="val 8333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45642" y="4045268"/>
              <a:ext cx="23727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最难的三类（按 F1 升序）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952500" y="43243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946785" y="4564856"/>
              <a:ext cx="1954997" cy="429578"/>
              <a:chOff x="946785" y="4564856"/>
              <a:chExt cx="1954997" cy="429578"/>
            </a:xfrm>
          </p:grpSpPr>
          <p:sp>
            <p:nvSpPr>
              <p:cNvPr id="34" name="TextBox 34"/>
              <p:cNvSpPr txBox="1"/>
              <p:nvPr/>
            </p:nvSpPr>
            <p:spPr>
              <a:xfrm>
                <a:off x="946785" y="4564856"/>
                <a:ext cx="195499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Staffordshire Bull Terrier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946785" y="4774406"/>
                <a:ext cx="67256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FF6B6B"/>
                    </a:solidFill>
                    <a:latin typeface="Consolas"/>
                    <a:ea typeface="Consolas"/>
                    <a:cs typeface="Consolas"/>
                  </a:rPr>
                  <a:t>F1 0.691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4471035" y="4564856"/>
              <a:ext cx="1831727" cy="429578"/>
              <a:chOff x="4471035" y="4564856"/>
              <a:chExt cx="1831727" cy="429578"/>
            </a:xfrm>
          </p:grpSpPr>
          <p:sp>
            <p:nvSpPr>
              <p:cNvPr id="37" name="TextBox 37"/>
              <p:cNvSpPr txBox="1"/>
              <p:nvPr/>
            </p:nvSpPr>
            <p:spPr>
              <a:xfrm>
                <a:off x="4471035" y="4564856"/>
                <a:ext cx="183172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American Pit Bull Terrier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4471035" y="4774406"/>
                <a:ext cx="67256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F1 0.703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7995285" y="4564856"/>
              <a:ext cx="672562" cy="429578"/>
              <a:chOff x="7995285" y="4564856"/>
              <a:chExt cx="672562" cy="429578"/>
            </a:xfrm>
          </p:grpSpPr>
          <p:sp>
            <p:nvSpPr>
              <p:cNvPr id="40" name="TextBox 40"/>
              <p:cNvSpPr txBox="1"/>
              <p:nvPr/>
            </p:nvSpPr>
            <p:spPr>
              <a:xfrm>
                <a:off x="7995285" y="4564856"/>
                <a:ext cx="52060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Ragdoll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7995285" y="4774406"/>
                <a:ext cx="67256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F1 0.766</a:t>
                </a:r>
              </a:p>
            </p:txBody>
          </p:sp>
        </p:grpSp>
      </p:grpSp>
      <p:grpSp>
        <p:nvGrpSpPr>
          <p:cNvPr id="49" name="Group 49"/>
          <p:cNvGrpSpPr/>
          <p:nvPr/>
        </p:nvGrpSpPr>
        <p:grpSpPr>
          <a:xfrm>
            <a:off x="685800" y="5200650"/>
            <a:ext cx="10820400" cy="990600"/>
            <a:chOff x="685800" y="5200650"/>
            <a:chExt cx="10820400" cy="990600"/>
          </a:xfrm>
        </p:grpSpPr>
        <p:sp>
          <p:nvSpPr>
            <p:cNvPr id="44" name="Rectangle 44"/>
            <p:cNvSpPr/>
            <p:nvPr/>
          </p:nvSpPr>
          <p:spPr>
            <a:xfrm>
              <a:off x="685800" y="5200650"/>
              <a:ext cx="10820400" cy="990600"/>
            </a:xfrm>
            <a:prstGeom prst="roundRect">
              <a:avLst>
                <a:gd name="adj" fmla="val 9615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46023" y="5367814"/>
              <a:ext cx="109853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错误来自哪里</a:t>
              </a:r>
            </a:p>
          </p:txBody>
        </p:sp>
        <p:sp>
          <p:nvSpPr>
            <p:cNvPr id="46" name="Line 46"/>
            <p:cNvSpPr/>
            <p:nvPr/>
          </p:nvSpPr>
          <p:spPr>
            <a:xfrm>
              <a:off x="952500" y="56197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947166" y="5773102"/>
              <a:ext cx="437134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① 主体外观相似（多数）：斗牛梗类、长毛猫类的品种间差异本身就小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47166" y="5982652"/>
              <a:ext cx="640680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② 姿态/视角极端：侧躺、只露头部时判别性部位不可见　③ 背景干扰：主体占比小时注意力分散到背景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680847" y="6401752"/>
            <a:ext cx="10830687" cy="205359"/>
            <a:chOff x="680847" y="6401752"/>
            <a:chExt cx="10830687" cy="205359"/>
          </a:xfrm>
        </p:grpSpPr>
        <p:sp>
          <p:nvSpPr>
            <p:cNvPr id="50" name="TextBox 50"/>
            <p:cNvSpPr txBox="1"/>
            <p:nvPr/>
          </p:nvSpPr>
          <p:spPr>
            <a:xfrm>
              <a:off x="680847" y="6409849"/>
              <a:ext cx="7120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数据来源：outputs/confusion_matrix/baseline_cm.png · baseline_per_class.csv · baseline_cat_dog_block.json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345380" y="64017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800753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手写 Grad-CAM 定位到主体，外部实拍 8/8 判对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60601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不依赖 pytorch-grad-cam，按 Selvaraju et al. ICCV 2017 公式 (1)(2) 自行实现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</p:sp>
      </p:grpSp>
      <p:grpSp>
        <p:nvGrpSpPr>
          <p:cNvPr id="18" name="Group 18"/>
          <p:cNvGrpSpPr/>
          <p:nvPr/>
        </p:nvGrpSpPr>
        <p:grpSpPr>
          <a:xfrm>
            <a:off x="685800" y="1600200"/>
            <a:ext cx="5905500" cy="2168461"/>
            <a:chOff x="685800" y="1600200"/>
            <a:chExt cx="5905500" cy="2168461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5905500" cy="2133600"/>
            </a:xfrm>
            <a:prstGeom prst="roundRect">
              <a:avLst>
                <a:gd name="adj" fmla="val 4464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26592" y="1797368"/>
              <a:ext cx="34485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两个规范挂载点（不等价，已出对比图）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933450" y="2076450"/>
              <a:ext cx="5410200" cy="9525"/>
            </a:xfrm>
            <a:custGeom>
              <a:avLst/>
              <a:gdLst/>
              <a:ahLst/>
              <a:cxnLst/>
              <a:rect l="l" t="t" r="r" b="b"/>
              <a:pathLst>
                <a:path w="5410200" h="9525">
                  <a:moveTo>
                    <a:pt x="0" y="0"/>
                  </a:moveTo>
                  <a:lnTo>
                    <a:pt x="54102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grpSp>
          <p:nvGrpSpPr>
            <p:cNvPr id="12" name="Group 12"/>
            <p:cNvGrpSpPr/>
            <p:nvPr/>
          </p:nvGrpSpPr>
          <p:grpSpPr>
            <a:xfrm>
              <a:off x="933450" y="2228850"/>
              <a:ext cx="5410200" cy="590550"/>
              <a:chOff x="933450" y="2228850"/>
              <a:chExt cx="5410200" cy="590550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933450" y="2228850"/>
                <a:ext cx="5410200" cy="590550"/>
              </a:xfrm>
              <a:prstGeom prst="roundRect">
                <a:avLst>
                  <a:gd name="adj" fmla="val 9677"/>
                </a:avLst>
              </a:prstGeom>
              <a:solidFill>
                <a:srgbClr val="12233A"/>
              </a:solidFill>
              <a:ln w="9525">
                <a:solidFill>
                  <a:srgbClr val="35D0F0"/>
                </a:solidFill>
              </a:ln>
            </p:spPr>
          </p:sp>
          <p:sp>
            <p:nvSpPr>
              <p:cNvPr id="10" name="TextBox 10"/>
              <p:cNvSpPr txBox="1"/>
              <p:nvPr/>
            </p:nvSpPr>
            <p:spPr>
              <a:xfrm>
                <a:off x="1118235" y="2336006"/>
                <a:ext cx="253161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35D0F0"/>
                    </a:solidFill>
                    <a:latin typeface="Consolas"/>
                    <a:ea typeface="Microsoft YaHei"/>
                    <a:cs typeface="Consolas"/>
                  </a:rPr>
                  <a:t>A（默认）stages[-1].blocks[-1]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118616" y="2572702"/>
                <a:ext cx="2228545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残差相加后的激活，(B, C, 7, 7)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933450" y="2933700"/>
              <a:ext cx="5410200" cy="590550"/>
              <a:chOff x="933450" y="2933700"/>
              <a:chExt cx="5410200" cy="59055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933450" y="2933700"/>
                <a:ext cx="5410200" cy="590550"/>
              </a:xfrm>
              <a:prstGeom prst="roundRect">
                <a:avLst>
                  <a:gd name="adj" fmla="val 9677"/>
                </a:avLst>
              </a:prstGeom>
              <a:solidFill>
                <a:srgbClr val="12233A"/>
              </a:solidFill>
              <a:ln w="9525">
                <a:solidFill>
                  <a:srgbClr val="35D0F0"/>
                </a:solidFill>
              </a:ln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1118235" y="3040856"/>
                <a:ext cx="259258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35D0F0"/>
                    </a:solidFill>
                    <a:latin typeface="Consolas"/>
                    <a:ea typeface="Microsoft YaHei"/>
                    <a:cs typeface="Consolas"/>
                  </a:rPr>
                  <a:t>B（细粒度）…channel_mixer.conv2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1118616" y="3277552"/>
                <a:ext cx="216627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残差相加前最后一个 1×1 卷积输出</a:t>
                </a:r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928116" y="3563302"/>
              <a:ext cx="43087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6B6B"/>
                  </a:solidFill>
                  <a:latin typeface="Microsoft YaHei"/>
                  <a:ea typeface="Microsoft YaHei"/>
                  <a:cs typeface="Microsoft YaHei"/>
                </a:rPr>
                <a:t>绝不能挂 head / classifier：输出 2D，反传抛 Invalid grads shape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781800" y="1600200"/>
            <a:ext cx="4724400" cy="2133600"/>
            <a:chOff x="6781800" y="1600200"/>
            <a:chExt cx="4724400" cy="2133600"/>
          </a:xfrm>
        </p:grpSpPr>
        <p:sp>
          <p:nvSpPr>
            <p:cNvPr id="19" name="Rectangle 19"/>
            <p:cNvSpPr/>
            <p:nvPr/>
          </p:nvSpPr>
          <p:spPr>
            <a:xfrm>
              <a:off x="6781800" y="1600200"/>
              <a:ext cx="4724400" cy="2133600"/>
            </a:xfrm>
            <a:prstGeom prst="roundRect">
              <a:avLst>
                <a:gd name="adj" fmla="val 4464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022592" y="1797368"/>
              <a:ext cx="9678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产出与观察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7029450" y="2076450"/>
              <a:ext cx="4229100" cy="9525"/>
            </a:xfrm>
            <a:custGeom>
              <a:avLst/>
              <a:gdLst/>
              <a:ahLst/>
              <a:cxnLst/>
              <a:rect l="l" t="t" r="r" b="b"/>
              <a:pathLst>
                <a:path w="4229100" h="9525">
                  <a:moveTo>
                    <a:pt x="0" y="0"/>
                  </a:moveTo>
                  <a:lnTo>
                    <a:pt x="42291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023735" y="2278856"/>
              <a:ext cx="2235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正确案例 6 张 · 错误案例 6 张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23735" y="2564606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正确案例：热力图集中在头部与躯干轮廓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023735" y="2850356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错误案例：同时点亮两类共有的特征区，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23735" y="3078956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说明抓到的区域对，但判别力不足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024116" y="3372802"/>
              <a:ext cx="307798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约 6.2% 样本在背景上有明显响应 —— 数据集偏置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685800" y="3924300"/>
            <a:ext cx="10820400" cy="1504950"/>
            <a:chOff x="685800" y="3924300"/>
            <a:chExt cx="10820400" cy="1504950"/>
          </a:xfrm>
        </p:grpSpPr>
        <p:sp>
          <p:nvSpPr>
            <p:cNvPr id="28" name="Rectangle 28"/>
            <p:cNvSpPr/>
            <p:nvPr/>
          </p:nvSpPr>
          <p:spPr>
            <a:xfrm>
              <a:off x="685800" y="3924300"/>
              <a:ext cx="10820400" cy="1504950"/>
            </a:xfrm>
            <a:prstGeom prst="roundRect">
              <a:avLst>
                <a:gd name="adj" fmla="val 6329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45642" y="4102418"/>
              <a:ext cx="53646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训练集以外的实际图片（跨集合实拍，ImageNet 同品种样本）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952500" y="438150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946404" y="4583906"/>
              <a:ext cx="605866" cy="455200"/>
              <a:chOff x="946404" y="4583906"/>
              <a:chExt cx="605866" cy="455200"/>
            </a:xfrm>
          </p:grpSpPr>
          <p:sp>
            <p:nvSpPr>
              <p:cNvPr id="31" name="TextBox 31"/>
              <p:cNvSpPr txBox="1"/>
              <p:nvPr/>
            </p:nvSpPr>
            <p:spPr>
              <a:xfrm>
                <a:off x="946785" y="4583906"/>
                <a:ext cx="47129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beagle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946404" y="4804410"/>
                <a:ext cx="60586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90.32%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2279904" y="4583906"/>
              <a:ext cx="605866" cy="455200"/>
              <a:chOff x="2279904" y="4583906"/>
              <a:chExt cx="605866" cy="455200"/>
            </a:xfrm>
          </p:grpSpPr>
          <p:sp>
            <p:nvSpPr>
              <p:cNvPr id="34" name="TextBox 34"/>
              <p:cNvSpPr txBox="1"/>
              <p:nvPr/>
            </p:nvSpPr>
            <p:spPr>
              <a:xfrm>
                <a:off x="2280285" y="4583906"/>
                <a:ext cx="26020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pug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2279904" y="4804410"/>
                <a:ext cx="60586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43.86%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3613404" y="4583906"/>
              <a:ext cx="605866" cy="455200"/>
              <a:chOff x="3613404" y="4583906"/>
              <a:chExt cx="605866" cy="455200"/>
            </a:xfrm>
          </p:grpSpPr>
          <p:sp>
            <p:nvSpPr>
              <p:cNvPr id="37" name="TextBox 37"/>
              <p:cNvSpPr txBox="1"/>
              <p:nvPr/>
            </p:nvSpPr>
            <p:spPr>
              <a:xfrm>
                <a:off x="3613785" y="4583906"/>
                <a:ext cx="4260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boxer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3613404" y="4804410"/>
                <a:ext cx="60586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64.28%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4946904" y="4583906"/>
              <a:ext cx="720451" cy="455200"/>
              <a:chOff x="4946904" y="4583906"/>
              <a:chExt cx="720451" cy="455200"/>
            </a:xfrm>
          </p:grpSpPr>
          <p:sp>
            <p:nvSpPr>
              <p:cNvPr id="40" name="TextBox 40"/>
              <p:cNvSpPr txBox="1"/>
              <p:nvPr/>
            </p:nvSpPr>
            <p:spPr>
              <a:xfrm>
                <a:off x="4947285" y="4583906"/>
                <a:ext cx="72007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chihuahua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4946904" y="4804410"/>
                <a:ext cx="60586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67.98%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6280404" y="4583906"/>
              <a:ext cx="622447" cy="455200"/>
              <a:chOff x="6280404" y="4583906"/>
              <a:chExt cx="622447" cy="455200"/>
            </a:xfrm>
          </p:grpSpPr>
          <p:sp>
            <p:nvSpPr>
              <p:cNvPr id="43" name="TextBox 43"/>
              <p:cNvSpPr txBox="1"/>
              <p:nvPr/>
            </p:nvSpPr>
            <p:spPr>
              <a:xfrm>
                <a:off x="6280785" y="4583906"/>
                <a:ext cx="62206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samoyed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280404" y="4804410"/>
                <a:ext cx="60586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83.50%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7613904" y="4583906"/>
              <a:ext cx="999383" cy="455200"/>
              <a:chOff x="7613904" y="4583906"/>
              <a:chExt cx="999383" cy="455200"/>
            </a:xfrm>
          </p:grpSpPr>
          <p:sp>
            <p:nvSpPr>
              <p:cNvPr id="46" name="TextBox 46"/>
              <p:cNvSpPr txBox="1"/>
              <p:nvPr/>
            </p:nvSpPr>
            <p:spPr>
              <a:xfrm>
                <a:off x="7614285" y="4583906"/>
                <a:ext cx="99900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newfoundland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7613904" y="4804410"/>
                <a:ext cx="60586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77.14%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8947404" y="4583906"/>
              <a:ext cx="1172774" cy="455200"/>
              <a:chOff x="8947404" y="4583906"/>
              <a:chExt cx="1172774" cy="455200"/>
            </a:xfrm>
          </p:grpSpPr>
          <p:sp>
            <p:nvSpPr>
              <p:cNvPr id="49" name="TextBox 49"/>
              <p:cNvSpPr txBox="1"/>
              <p:nvPr/>
            </p:nvSpPr>
            <p:spPr>
              <a:xfrm>
                <a:off x="8947785" y="4583906"/>
                <a:ext cx="1172393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great_pyrenees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8947404" y="4804410"/>
                <a:ext cx="60586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86.95%</a:t>
                </a:r>
              </a:p>
            </p:txBody>
          </p:sp>
        </p:grpSp>
        <p:grpSp>
          <p:nvGrpSpPr>
            <p:cNvPr id="54" name="Group 54"/>
            <p:cNvGrpSpPr/>
            <p:nvPr/>
          </p:nvGrpSpPr>
          <p:grpSpPr>
            <a:xfrm>
              <a:off x="10280904" y="4583906"/>
              <a:ext cx="833531" cy="455200"/>
              <a:chOff x="10280904" y="4583906"/>
              <a:chExt cx="833531" cy="455200"/>
            </a:xfrm>
          </p:grpSpPr>
          <p:sp>
            <p:nvSpPr>
              <p:cNvPr id="52" name="TextBox 52"/>
              <p:cNvSpPr txBox="1"/>
              <p:nvPr/>
            </p:nvSpPr>
            <p:spPr>
              <a:xfrm>
                <a:off x="10281285" y="4583906"/>
                <a:ext cx="83315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pomeranian</a:t>
                </a: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10280904" y="4804410"/>
                <a:ext cx="60586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36.91%</a:t>
                </a:r>
              </a:p>
            </p:txBody>
          </p:sp>
        </p:grpSp>
        <p:sp>
          <p:nvSpPr>
            <p:cNvPr id="55" name="TextBox 55"/>
            <p:cNvSpPr txBox="1"/>
            <p:nvPr/>
          </p:nvSpPr>
          <p:spPr>
            <a:xfrm>
              <a:off x="947166" y="5144452"/>
              <a:ext cx="35967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8/8 全部判断正确 —— 模型没有过拟合到 Pet 的拍摄风格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685800" y="5581650"/>
            <a:ext cx="10820400" cy="609600"/>
            <a:chOff x="685800" y="5581650"/>
            <a:chExt cx="10820400" cy="609600"/>
          </a:xfrm>
        </p:grpSpPr>
        <p:sp>
          <p:nvSpPr>
            <p:cNvPr id="57" name="Rectangle 57"/>
            <p:cNvSpPr/>
            <p:nvPr/>
          </p:nvSpPr>
          <p:spPr>
            <a:xfrm>
              <a:off x="685800" y="5581650"/>
              <a:ext cx="10820400" cy="609600"/>
            </a:xfrm>
            <a:prstGeom prst="roundRect">
              <a:avLst>
                <a:gd name="adj" fmla="val 15625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946785" y="5726906"/>
              <a:ext cx="49266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分布差异：外部图短边中位数 +10.5% · 亮度 +10.6% · 背景复杂度 +24%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47547" y="5971699"/>
              <a:ext cx="531973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来源声明：Wikimedia 不可达，改用 ImageNet 跨集合实拍图，逐张登记许可，不声称原创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680847" y="6401752"/>
            <a:ext cx="10830687" cy="205359"/>
            <a:chOff x="680847" y="6401752"/>
            <a:chExt cx="10830687" cy="205359"/>
          </a:xfrm>
        </p:grpSpPr>
        <p:sp>
          <p:nvSpPr>
            <p:cNvPr id="61" name="TextBox 61"/>
            <p:cNvSpPr txBox="1"/>
            <p:nvPr/>
          </p:nvSpPr>
          <p:spPr>
            <a:xfrm>
              <a:off x="680847" y="6409849"/>
              <a:ext cx="805089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数据来源：outputs/gradcam/ · outputs/benchmarks/external_top5_repvit_m0_9_pet37.csv · external/images_manifest.csv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345380" y="64017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70335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重参数化在数值上完全等价，BN 节点归零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58386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融合必须是代数恒等变换；必须在 eval() 之后做，否则 BN 用的是 batch 统计量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</p:sp>
      </p:grpSp>
      <p:grpSp>
        <p:nvGrpSpPr>
          <p:cNvPr id="17" name="Group 17"/>
          <p:cNvGrpSpPr/>
          <p:nvPr/>
        </p:nvGrpSpPr>
        <p:grpSpPr>
          <a:xfrm>
            <a:off x="685800" y="1600200"/>
            <a:ext cx="5905500" cy="2111311"/>
            <a:chOff x="685800" y="1600200"/>
            <a:chExt cx="5905500" cy="2111311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5905500" cy="2076450"/>
            </a:xfrm>
            <a:prstGeom prst="roundRect">
              <a:avLst>
                <a:gd name="adj" fmla="val 4587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26592" y="1797368"/>
              <a:ext cx="28760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融合公式（手工推导并实测验证）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933450" y="2076450"/>
              <a:ext cx="5410200" cy="9525"/>
            </a:xfrm>
            <a:custGeom>
              <a:avLst/>
              <a:gdLst/>
              <a:ahLst/>
              <a:cxnLst/>
              <a:rect l="l" t="t" r="r" b="b"/>
              <a:pathLst>
                <a:path w="5410200" h="9525">
                  <a:moveTo>
                    <a:pt x="0" y="0"/>
                  </a:moveTo>
                  <a:lnTo>
                    <a:pt x="54102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927735" y="2278856"/>
              <a:ext cx="2492333" cy="486728"/>
              <a:chOff x="927735" y="2278856"/>
              <a:chExt cx="2492333" cy="486728"/>
            </a:xfrm>
          </p:grpSpPr>
          <p:sp>
            <p:nvSpPr>
              <p:cNvPr id="9" name="TextBox 9"/>
              <p:cNvSpPr txBox="1"/>
              <p:nvPr/>
            </p:nvSpPr>
            <p:spPr>
              <a:xfrm>
                <a:off x="927735" y="2278856"/>
                <a:ext cx="2492333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l-GR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BN(y) = γ · (y − μ) / √(σ² + ε) + β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927735" y="2545556"/>
                <a:ext cx="90594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y = W * x + b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927735" y="2838450"/>
              <a:ext cx="5415915" cy="873061"/>
              <a:chOff x="927735" y="2838450"/>
              <a:chExt cx="5415915" cy="873061"/>
            </a:xfrm>
          </p:grpSpPr>
          <p:sp>
            <p:nvSpPr>
              <p:cNvPr id="12" name="Line 12"/>
              <p:cNvSpPr/>
              <p:nvPr/>
            </p:nvSpPr>
            <p:spPr>
              <a:xfrm>
                <a:off x="933450" y="2838450"/>
                <a:ext cx="541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410200" h="9525">
                    <a:moveTo>
                      <a:pt x="0" y="0"/>
                    </a:moveTo>
                    <a:lnTo>
                      <a:pt x="54102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927735" y="3002756"/>
                <a:ext cx="163040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l-GR" sz="1120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W' = W · γ / √(σ² + ε)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927735" y="3250406"/>
                <a:ext cx="221273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l-GR" sz="1120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b' = (b − μ) · γ / √(σ² + ε) + β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928116" y="3506152"/>
                <a:ext cx="382007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1×1 核零填充成 3×3，identity 核中心为 1，三者逐元素相加</a:t>
                </a:r>
              </a:p>
            </p:txBody>
          </p:sp>
        </p:grpSp>
      </p:grpSp>
      <p:grpSp>
        <p:nvGrpSpPr>
          <p:cNvPr id="30" name="Group 30"/>
          <p:cNvGrpSpPr/>
          <p:nvPr/>
        </p:nvGrpSpPr>
        <p:grpSpPr>
          <a:xfrm>
            <a:off x="6781800" y="1600200"/>
            <a:ext cx="4724400" cy="2092261"/>
            <a:chOff x="6781800" y="1600200"/>
            <a:chExt cx="4724400" cy="2092261"/>
          </a:xfrm>
        </p:grpSpPr>
        <p:sp>
          <p:nvSpPr>
            <p:cNvPr id="18" name="Rectangle 18"/>
            <p:cNvSpPr/>
            <p:nvPr/>
          </p:nvSpPr>
          <p:spPr>
            <a:xfrm>
              <a:off x="6781800" y="1600200"/>
              <a:ext cx="4724400" cy="2076450"/>
            </a:xfrm>
            <a:prstGeom prst="roundRect">
              <a:avLst>
                <a:gd name="adj" fmla="val 4587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022592" y="1797368"/>
              <a:ext cx="11586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实测数值对照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7029450" y="2076450"/>
              <a:ext cx="4229100" cy="9525"/>
            </a:xfrm>
            <a:custGeom>
              <a:avLst/>
              <a:gdLst/>
              <a:ahLst/>
              <a:cxnLst/>
              <a:rect l="l" t="t" r="r" b="b"/>
              <a:pathLst>
                <a:path w="4229100" h="9525">
                  <a:moveTo>
                    <a:pt x="0" y="0"/>
                  </a:moveTo>
                  <a:lnTo>
                    <a:pt x="42291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023735" y="2278856"/>
              <a:ext cx="953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max_abs_err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452811" y="2270760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7.093e-06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23735" y="2583656"/>
              <a:ext cx="1036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mean_abs_err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452811" y="2575560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2.031e-06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23735" y="2888456"/>
              <a:ext cx="10944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Top-1 是否一致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113836" y="2880360"/>
              <a:ext cx="115081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3FDB9B"/>
                  </a:solidFill>
                  <a:latin typeface="Consolas"/>
                  <a:ea typeface="Microsoft YaHei"/>
                  <a:cs typeface="Consolas"/>
                </a:rPr>
                <a:t>True（32/32）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023735" y="3193256"/>
              <a:ext cx="7123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BN 模块数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711282" y="3185160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107 → 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024116" y="3487102"/>
              <a:ext cx="2823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判定：max|Δ| &lt; 1e-4 且 Top-1 恒等 → PASS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685800" y="3867150"/>
            <a:ext cx="5905500" cy="1238250"/>
            <a:chOff x="685800" y="3867150"/>
            <a:chExt cx="5905500" cy="1238250"/>
          </a:xfrm>
        </p:grpSpPr>
        <p:sp>
          <p:nvSpPr>
            <p:cNvPr id="31" name="Rectangle 31"/>
            <p:cNvSpPr/>
            <p:nvPr/>
          </p:nvSpPr>
          <p:spPr>
            <a:xfrm>
              <a:off x="685800" y="3867150"/>
              <a:ext cx="5905500" cy="1238250"/>
            </a:xfrm>
            <a:prstGeom prst="roundRect">
              <a:avLst>
                <a:gd name="adj" fmla="val 7692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26592" y="4045268"/>
              <a:ext cx="17678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ONNX 计算图的变化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933450" y="4324350"/>
              <a:ext cx="5410200" cy="9525"/>
            </a:xfrm>
            <a:custGeom>
              <a:avLst/>
              <a:gdLst/>
              <a:ahLst/>
              <a:cxnLst/>
              <a:rect l="l" t="t" r="r" b="b"/>
              <a:pathLst>
                <a:path w="5410200" h="9525">
                  <a:moveTo>
                    <a:pt x="0" y="0"/>
                  </a:moveTo>
                  <a:lnTo>
                    <a:pt x="54102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28116" y="4515802"/>
              <a:ext cx="34986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Consolas"/>
                  <a:ea typeface="Microsoft YaHei"/>
                  <a:cs typeface="Consolas"/>
                </a:rPr>
                <a:t>训练态图　nodes 480 · BN 24 · Conv 126 · 19.03 MB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28116" y="4782502"/>
              <a:ext cx="34191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3FDB9B"/>
                  </a:solidFill>
                  <a:latin typeface="Consolas"/>
                  <a:ea typeface="Microsoft YaHei"/>
                  <a:cs typeface="Consolas"/>
                </a:rPr>
                <a:t>推理态图　nodes 387 · BN 0 · Conv 103 · 18.89 MB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6781800" y="3867150"/>
            <a:ext cx="4724400" cy="1238250"/>
            <a:chOff x="6781800" y="3867150"/>
            <a:chExt cx="4724400" cy="1238250"/>
          </a:xfrm>
        </p:grpSpPr>
        <p:sp>
          <p:nvSpPr>
            <p:cNvPr id="37" name="Rectangle 37"/>
            <p:cNvSpPr/>
            <p:nvPr/>
          </p:nvSpPr>
          <p:spPr>
            <a:xfrm>
              <a:off x="6781800" y="3867150"/>
              <a:ext cx="4724400" cy="1238250"/>
            </a:xfrm>
            <a:prstGeom prst="roundRect">
              <a:avLst>
                <a:gd name="adj" fmla="val 7692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022592" y="4045268"/>
              <a:ext cx="27347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单 Block 融合（独立复刻验证）</a:t>
              </a:r>
            </a:p>
          </p:txBody>
        </p:sp>
        <p:sp>
          <p:nvSpPr>
            <p:cNvPr id="39" name="Line 39"/>
            <p:cNvSpPr/>
            <p:nvPr/>
          </p:nvSpPr>
          <p:spPr>
            <a:xfrm>
              <a:off x="7029450" y="4324350"/>
              <a:ext cx="4229100" cy="9525"/>
            </a:xfrm>
            <a:custGeom>
              <a:avLst/>
              <a:gdLst/>
              <a:ahLst/>
              <a:cxnLst/>
              <a:rect l="l" t="t" r="r" b="b"/>
              <a:pathLst>
                <a:path w="4229100" h="9525">
                  <a:moveTo>
                    <a:pt x="0" y="0"/>
                  </a:moveTo>
                  <a:lnTo>
                    <a:pt x="42291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024116" y="4515802"/>
              <a:ext cx="35204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Consolas"/>
                  <a:ea typeface="Microsoft YaHei"/>
                  <a:cs typeface="Consolas"/>
                </a:rPr>
                <a:t>C=384　3×3 核 [384,1,3,3] + 1×1 核 [384,1,1,1]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024116" y="4782502"/>
              <a:ext cx="281648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3FDB9B"/>
                  </a:solidFill>
                  <a:latin typeface="Consolas"/>
                  <a:ea typeface="Microsoft YaHei"/>
                  <a:cs typeface="Consolas"/>
                </a:rPr>
                <a:t>参数量 5760 → 3840　→ 单个 3×3 depthwise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685800" y="5295900"/>
            <a:ext cx="10820400" cy="949261"/>
            <a:chOff x="685800" y="5295900"/>
            <a:chExt cx="10820400" cy="949261"/>
          </a:xfrm>
        </p:grpSpPr>
        <p:sp>
          <p:nvSpPr>
            <p:cNvPr id="43" name="Rectangle 43"/>
            <p:cNvSpPr/>
            <p:nvPr/>
          </p:nvSpPr>
          <p:spPr>
            <a:xfrm>
              <a:off x="685800" y="5295900"/>
              <a:ext cx="10820400" cy="914400"/>
            </a:xfrm>
            <a:prstGeom prst="roundRect">
              <a:avLst>
                <a:gd name="adj" fmla="val 10417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46023" y="5444014"/>
              <a:ext cx="23650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转换后仍存在的算子不是冗余</a:t>
              </a:r>
            </a:p>
          </p:txBody>
        </p:sp>
        <p:sp>
          <p:nvSpPr>
            <p:cNvPr id="45" name="Line 45"/>
            <p:cNvSpPr/>
            <p:nvPr/>
          </p:nvSpPr>
          <p:spPr>
            <a:xfrm>
              <a:off x="952500" y="56959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47166" y="5849302"/>
              <a:ext cx="71068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残留的 Add / Mul / Div / Clip / Relu 来自 GELU 激活、残差相加与逐样本归一化；SE 的 ReduceMean + 2×Conv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47166" y="6039802"/>
              <a:ext cx="25549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中间隔着非线性，本就无法折进一个卷积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680847" y="6401752"/>
            <a:ext cx="10830687" cy="205359"/>
            <a:chOff x="680847" y="6401752"/>
            <a:chExt cx="10830687" cy="205359"/>
          </a:xfrm>
        </p:grpSpPr>
        <p:sp>
          <p:nvSpPr>
            <p:cNvPr id="49" name="TextBox 49"/>
            <p:cNvSpPr txBox="1"/>
            <p:nvPr/>
          </p:nvSpPr>
          <p:spPr>
            <a:xfrm>
              <a:off x="680847" y="6409849"/>
              <a:ext cx="77804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数据来源：outputs/reparam/repvit_m0_9_pet37_reparam_report.json · _onnx_nodes.json · block_22_fusion_report.txt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345380" y="64017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886395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6 个 ONNX 模型，PyTorch↔ONNX Top-1 一致率 100%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62397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文件名一律经 deploy/model_registry.py 的 onnx_path(key) 取得，任何地方不硬写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</p:sp>
      </p:grpSp>
      <p:grpSp>
        <p:nvGrpSpPr>
          <p:cNvPr id="43" name="Group 43"/>
          <p:cNvGrpSpPr/>
          <p:nvPr/>
        </p:nvGrpSpPr>
        <p:grpSpPr>
          <a:xfrm>
            <a:off x="685800" y="1600200"/>
            <a:ext cx="7620000" cy="2403634"/>
            <a:chOff x="685800" y="1600200"/>
            <a:chExt cx="7620000" cy="2403634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7620000" cy="2381250"/>
            </a:xfrm>
            <a:prstGeom prst="roundRect">
              <a:avLst>
                <a:gd name="adj" fmla="val 4000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</p:sp>
        <p:grpSp>
          <p:nvGrpSpPr>
            <p:cNvPr id="12" name="Group 12"/>
            <p:cNvGrpSpPr/>
            <p:nvPr/>
          </p:nvGrpSpPr>
          <p:grpSpPr>
            <a:xfrm>
              <a:off x="685800" y="1600200"/>
              <a:ext cx="7620000" cy="438150"/>
              <a:chOff x="685800" y="1600200"/>
              <a:chExt cx="7620000" cy="438150"/>
            </a:xfrm>
          </p:grpSpPr>
          <p:sp>
            <p:nvSpPr>
              <p:cNvPr id="7" name="Rectangle 7"/>
              <p:cNvSpPr/>
              <p:nvPr/>
            </p:nvSpPr>
            <p:spPr>
              <a:xfrm>
                <a:off x="685800" y="1600200"/>
                <a:ext cx="7620000" cy="438150"/>
              </a:xfrm>
              <a:prstGeom prst="roundRect">
                <a:avLst>
                  <a:gd name="adj" fmla="val 21739"/>
                </a:avLst>
              </a:prstGeom>
              <a:solidFill>
                <a:srgbClr val="1B2740"/>
              </a:solidFill>
              <a:ln>
                <a:noFill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947166" y="1772602"/>
                <a:ext cx="91602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registry key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3436140" y="1772602"/>
                <a:ext cx="74772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大小 (MB)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5031829" y="1772602"/>
                <a:ext cx="60434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图内节点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6491529" y="1772602"/>
                <a:ext cx="92344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类别数 / 标签</a:t>
                </a:r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946785" y="2202656"/>
              <a:ext cx="6556001" cy="220028"/>
              <a:chOff x="946785" y="2202656"/>
              <a:chExt cx="6556001" cy="220028"/>
            </a:xfrm>
          </p:grpSpPr>
          <p:sp>
            <p:nvSpPr>
              <p:cNvPr id="13" name="TextBox 13"/>
              <p:cNvSpPr txBox="1"/>
              <p:nvPr/>
            </p:nvSpPr>
            <p:spPr>
              <a:xfrm>
                <a:off x="946785" y="2202656"/>
                <a:ext cx="129301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repvit_m0_9_in1k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3596970" y="2202656"/>
                <a:ext cx="4260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20.36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827203" y="2210752"/>
                <a:ext cx="1013593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BN=0 Conv=103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6403715" y="2210752"/>
                <a:ext cx="109907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1000 / imagenet</a:t>
                </a:r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>
              <a:off x="946785" y="2526506"/>
              <a:ext cx="6556001" cy="220028"/>
              <a:chOff x="946785" y="2526506"/>
              <a:chExt cx="6556001" cy="220028"/>
            </a:xfrm>
          </p:grpSpPr>
          <p:sp>
            <p:nvSpPr>
              <p:cNvPr id="18" name="TextBox 18"/>
              <p:cNvSpPr txBox="1"/>
              <p:nvPr/>
            </p:nvSpPr>
            <p:spPr>
              <a:xfrm>
                <a:off x="946785" y="2526506"/>
                <a:ext cx="129301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repvit_m1_0_in1k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596970" y="2526506"/>
                <a:ext cx="4260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27.33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4827203" y="2534602"/>
                <a:ext cx="1013593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BN=0 Conv=103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6403715" y="2534602"/>
                <a:ext cx="109907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1000 / imagenet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946785" y="2850356"/>
              <a:ext cx="6556001" cy="220028"/>
              <a:chOff x="946785" y="2850356"/>
              <a:chExt cx="6556001" cy="220028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946785" y="2850356"/>
                <a:ext cx="129301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repvit_m1_1_in1k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596970" y="2850356"/>
                <a:ext cx="4260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33.06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4867175" y="2858452"/>
                <a:ext cx="93365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BN=0 Conv=95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6403715" y="2858452"/>
                <a:ext cx="109907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1000 / imagenet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946785" y="3174206"/>
              <a:ext cx="6556001" cy="220028"/>
              <a:chOff x="946785" y="3174206"/>
              <a:chExt cx="6556001" cy="220028"/>
            </a:xfrm>
          </p:grpSpPr>
          <p:sp>
            <p:nvSpPr>
              <p:cNvPr id="28" name="TextBox 28"/>
              <p:cNvSpPr txBox="1"/>
              <p:nvPr/>
            </p:nvSpPr>
            <p:spPr>
              <a:xfrm>
                <a:off x="946785" y="3174206"/>
                <a:ext cx="129301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repvit_m1_5_in1k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3596970" y="3174206"/>
                <a:ext cx="4260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56.35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827203" y="3182302"/>
                <a:ext cx="1013593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BN=0 Conv=167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6403715" y="3182302"/>
                <a:ext cx="109907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1000 / imagenet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946785" y="3498056"/>
              <a:ext cx="6556001" cy="220028"/>
              <a:chOff x="946785" y="3498056"/>
              <a:chExt cx="6556001" cy="220028"/>
            </a:xfrm>
          </p:grpSpPr>
          <p:sp>
            <p:nvSpPr>
              <p:cNvPr id="33" name="TextBox 33"/>
              <p:cNvSpPr txBox="1"/>
              <p:nvPr/>
            </p:nvSpPr>
            <p:spPr>
              <a:xfrm>
                <a:off x="946785" y="3498056"/>
                <a:ext cx="129301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repvit_m2_3_in1k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3596970" y="3498056"/>
                <a:ext cx="4260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91.90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4827203" y="3506152"/>
                <a:ext cx="1013593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BN=0 Conv=215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6403715" y="3506152"/>
                <a:ext cx="109907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1000 / imagenet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946785" y="3783806"/>
              <a:ext cx="6287434" cy="220028"/>
              <a:chOff x="946785" y="3783806"/>
              <a:chExt cx="6287434" cy="220028"/>
            </a:xfrm>
          </p:grpSpPr>
          <p:sp>
            <p:nvSpPr>
              <p:cNvPr id="38" name="TextBox 38"/>
              <p:cNvSpPr txBox="1"/>
              <p:nvPr/>
            </p:nvSpPr>
            <p:spPr>
              <a:xfrm>
                <a:off x="946785" y="3783806"/>
                <a:ext cx="141363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C79BFF"/>
                    </a:solidFill>
                    <a:latin typeface="Consolas"/>
                    <a:ea typeface="Consolas"/>
                    <a:cs typeface="Consolas"/>
                  </a:rPr>
                  <a:t>repvit_m0_9_pet37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3596970" y="3783806"/>
                <a:ext cx="4260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18.89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4827203" y="3791902"/>
                <a:ext cx="1013593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BN=0 Conv=103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672282" y="3791902"/>
                <a:ext cx="56193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C79BFF"/>
                    </a:solidFill>
                    <a:latin typeface="Consolas"/>
                    <a:ea typeface="Consolas"/>
                    <a:cs typeface="Consolas"/>
                  </a:rPr>
                  <a:t>37 / pet</a:t>
                </a:r>
              </a:p>
            </p:txBody>
          </p:sp>
        </p:grpSp>
      </p:grpSp>
      <p:grpSp>
        <p:nvGrpSpPr>
          <p:cNvPr id="53" name="Group 53"/>
          <p:cNvGrpSpPr/>
          <p:nvPr/>
        </p:nvGrpSpPr>
        <p:grpSpPr>
          <a:xfrm>
            <a:off x="8610600" y="1600200"/>
            <a:ext cx="2895600" cy="2466689"/>
            <a:chOff x="8610600" y="1600200"/>
            <a:chExt cx="2895600" cy="2466689"/>
          </a:xfrm>
        </p:grpSpPr>
        <p:sp>
          <p:nvSpPr>
            <p:cNvPr id="44" name="Rectangle 44"/>
            <p:cNvSpPr/>
            <p:nvPr/>
          </p:nvSpPr>
          <p:spPr>
            <a:xfrm>
              <a:off x="8610600" y="1600200"/>
              <a:ext cx="2895600" cy="2381250"/>
            </a:xfrm>
            <a:prstGeom prst="roundRect">
              <a:avLst>
                <a:gd name="adj" fmla="val 4000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832342" y="179736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独立实现</a:t>
              </a:r>
            </a:p>
          </p:txBody>
        </p:sp>
        <p:sp>
          <p:nvSpPr>
            <p:cNvPr id="46" name="Line 46"/>
            <p:cNvSpPr/>
            <p:nvPr/>
          </p:nvSpPr>
          <p:spPr>
            <a:xfrm>
              <a:off x="8839200" y="2076450"/>
              <a:ext cx="2438400" cy="9525"/>
            </a:xfrm>
            <a:custGeom>
              <a:avLst/>
              <a:gdLst/>
              <a:ahLst/>
              <a:cxnLst/>
              <a:rect l="l" t="t" r="r" b="b"/>
              <a:pathLst>
                <a:path w="2438400" h="9525">
                  <a:moveTo>
                    <a:pt x="0" y="0"/>
                  </a:moveTo>
                  <a:lnTo>
                    <a:pt x="2438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833485" y="2278856"/>
              <a:ext cx="12859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部署侧用 PIL 手写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833866" y="2515552"/>
              <a:ext cx="173515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resize + crop + normalize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833485" y="2755106"/>
              <a:ext cx="15794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不 import torchvision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8839200" y="3067050"/>
              <a:ext cx="2438400" cy="9525"/>
            </a:xfrm>
            <a:custGeom>
              <a:avLst/>
              <a:gdLst/>
              <a:ahLst/>
              <a:cxnLst/>
              <a:rect l="l" t="t" r="r" b="b"/>
              <a:pathLst>
                <a:path w="2438400" h="9525">
                  <a:moveTo>
                    <a:pt x="0" y="0"/>
                  </a:moveTo>
                  <a:lnTo>
                    <a:pt x="2438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833866" y="3239452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为什么必须独立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834247" y="3495199"/>
              <a:ext cx="1845691" cy="571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00"/>
                </a:lnSpc>
              </a:pPr>
              <a:r>
                <a:rPr lang="zh-CN" sz="98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共用一份 transform 会让一致性</a:t>
              </a:r>
              <a:br/>
              <a:r>
                <a:rPr lang="zh-CN" sz="98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误差恒为 0，反而掩盖预处理</a:t>
              </a:r>
              <a:br/>
              <a:r>
                <a:rPr lang="en-US" sz="98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bug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685800" y="4133850"/>
            <a:ext cx="7620000" cy="2076450"/>
            <a:chOff x="685800" y="4133850"/>
            <a:chExt cx="7620000" cy="2076450"/>
          </a:xfrm>
        </p:grpSpPr>
        <p:sp>
          <p:nvSpPr>
            <p:cNvPr id="54" name="Rectangle 54"/>
            <p:cNvSpPr/>
            <p:nvPr/>
          </p:nvSpPr>
          <p:spPr>
            <a:xfrm>
              <a:off x="685800" y="4133850"/>
              <a:ext cx="7620000" cy="2076450"/>
            </a:xfrm>
            <a:prstGeom prst="roundRect">
              <a:avLst>
                <a:gd name="adj" fmla="val 4587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945642" y="4331018"/>
              <a:ext cx="47643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PyTorch 与 ONNX 一致性（固定划分列表、真实图片）</a:t>
              </a:r>
            </a:p>
          </p:txBody>
        </p:sp>
        <p:sp>
          <p:nvSpPr>
            <p:cNvPr id="56" name="Line 56"/>
            <p:cNvSpPr/>
            <p:nvPr/>
          </p:nvSpPr>
          <p:spPr>
            <a:xfrm>
              <a:off x="952500" y="4610100"/>
              <a:ext cx="7086600" cy="9525"/>
            </a:xfrm>
            <a:custGeom>
              <a:avLst/>
              <a:gdLst/>
              <a:ahLst/>
              <a:cxnLst/>
              <a:rect l="l" t="t" r="r" b="b"/>
              <a:pathLst>
                <a:path w="7086600" h="9525">
                  <a:moveTo>
                    <a:pt x="0" y="0"/>
                  </a:moveTo>
                  <a:lnTo>
                    <a:pt x="70866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946785" y="4842510"/>
              <a:ext cx="3345561" cy="234696"/>
              <a:chOff x="946785" y="4842510"/>
              <a:chExt cx="3345561" cy="234696"/>
            </a:xfrm>
          </p:grpSpPr>
          <p:sp>
            <p:nvSpPr>
              <p:cNvPr id="57" name="TextBox 57"/>
              <p:cNvSpPr txBox="1"/>
              <p:nvPr/>
            </p:nvSpPr>
            <p:spPr>
              <a:xfrm>
                <a:off x="946785" y="4850606"/>
                <a:ext cx="142870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最大 logits 绝对误差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3480511" y="4842510"/>
                <a:ext cx="811835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en-US" sz="1200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6.199e-06</a:t>
                </a:r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946785" y="5147310"/>
              <a:ext cx="3345561" cy="234696"/>
              <a:chOff x="946785" y="5147310"/>
              <a:chExt cx="3345561" cy="234696"/>
            </a:xfrm>
          </p:grpSpPr>
          <p:sp>
            <p:nvSpPr>
              <p:cNvPr id="60" name="TextBox 60"/>
              <p:cNvSpPr txBox="1"/>
              <p:nvPr/>
            </p:nvSpPr>
            <p:spPr>
              <a:xfrm>
                <a:off x="946785" y="5155406"/>
                <a:ext cx="142870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平均 logits 绝对误差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3480511" y="5147310"/>
                <a:ext cx="811835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en-US" sz="1200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1.501e-06</a:t>
                </a:r>
              </a:p>
            </p:txBody>
          </p:sp>
        </p:grpSp>
        <p:grpSp>
          <p:nvGrpSpPr>
            <p:cNvPr id="65" name="Group 65"/>
            <p:cNvGrpSpPr/>
            <p:nvPr/>
          </p:nvGrpSpPr>
          <p:grpSpPr>
            <a:xfrm>
              <a:off x="946785" y="5452110"/>
              <a:ext cx="3345561" cy="234696"/>
              <a:chOff x="946785" y="5452110"/>
              <a:chExt cx="3345561" cy="234696"/>
            </a:xfrm>
          </p:grpSpPr>
          <p:sp>
            <p:nvSpPr>
              <p:cNvPr id="63" name="TextBox 63"/>
              <p:cNvSpPr txBox="1"/>
              <p:nvPr/>
            </p:nvSpPr>
            <p:spPr>
              <a:xfrm>
                <a:off x="946785" y="5460206"/>
                <a:ext cx="202384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Top-1 一致率（推荐 ≥0.99）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3593188" y="5452110"/>
                <a:ext cx="69915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en-US" sz="120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100.00%</a:t>
                </a:r>
              </a:p>
            </p:txBody>
          </p:sp>
        </p:grpSp>
        <p:grpSp>
          <p:nvGrpSpPr>
            <p:cNvPr id="68" name="Group 68"/>
            <p:cNvGrpSpPr/>
            <p:nvPr/>
          </p:nvGrpSpPr>
          <p:grpSpPr>
            <a:xfrm>
              <a:off x="946785" y="5756910"/>
              <a:ext cx="3345561" cy="234696"/>
              <a:chOff x="946785" y="5756910"/>
              <a:chExt cx="3345561" cy="234696"/>
            </a:xfrm>
          </p:grpSpPr>
          <p:sp>
            <p:nvSpPr>
              <p:cNvPr id="66" name="TextBox 66"/>
              <p:cNvSpPr txBox="1"/>
              <p:nvPr/>
            </p:nvSpPr>
            <p:spPr>
              <a:xfrm>
                <a:off x="946785" y="5765006"/>
                <a:ext cx="1248065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Top-5 集合一致率</a:t>
                </a: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3625901" y="5756910"/>
                <a:ext cx="666445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en-US" sz="1200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100.00%</a:t>
                </a:r>
              </a:p>
            </p:txBody>
          </p:sp>
        </p:grpSp>
        <p:sp>
          <p:nvSpPr>
            <p:cNvPr id="69" name="TextBox 69"/>
            <p:cNvSpPr txBox="1"/>
            <p:nvPr/>
          </p:nvSpPr>
          <p:spPr>
            <a:xfrm>
              <a:off x="4757166" y="4858702"/>
              <a:ext cx="1570863" cy="11197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3 个模型全部 PASS，没有</a:t>
              </a:r>
              <a:br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出现题目列出的九类典型</a:t>
              </a:r>
              <a:br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问题（Resize 顺序 / RGB-</a:t>
              </a:r>
              <a:br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BGR / 插值 / mean-std /</a:t>
              </a:r>
              <a:br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eval 模式）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8610600" y="4133850"/>
            <a:ext cx="2895600" cy="2076450"/>
            <a:chOff x="8610600" y="4133850"/>
            <a:chExt cx="2895600" cy="2076450"/>
          </a:xfrm>
        </p:grpSpPr>
        <p:sp>
          <p:nvSpPr>
            <p:cNvPr id="71" name="Rectangle 71"/>
            <p:cNvSpPr/>
            <p:nvPr/>
          </p:nvSpPr>
          <p:spPr>
            <a:xfrm>
              <a:off x="8610600" y="4133850"/>
              <a:ext cx="2895600" cy="2076450"/>
            </a:xfrm>
            <a:prstGeom prst="roundRect">
              <a:avLst>
                <a:gd name="adj" fmla="val 4587"/>
              </a:avLst>
            </a:prstGeom>
            <a:solidFill>
              <a:srgbClr val="1A1408"/>
            </a:solidFill>
            <a:ln w="9525">
              <a:solidFill>
                <a:srgbClr val="FFC857"/>
              </a:solidFill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8832723" y="4339114"/>
              <a:ext cx="109853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标签绝不混用</a:t>
              </a:r>
            </a:p>
          </p:txBody>
        </p:sp>
        <p:sp>
          <p:nvSpPr>
            <p:cNvPr id="73" name="Line 73"/>
            <p:cNvSpPr/>
            <p:nvPr/>
          </p:nvSpPr>
          <p:spPr>
            <a:xfrm>
              <a:off x="8839200" y="4610100"/>
              <a:ext cx="2438400" cy="9525"/>
            </a:xfrm>
            <a:custGeom>
              <a:avLst/>
              <a:gdLst/>
              <a:ahLst/>
              <a:cxnLst/>
              <a:rect l="l" t="t" r="r" b="b"/>
              <a:pathLst>
                <a:path w="2438400" h="9525">
                  <a:moveTo>
                    <a:pt x="0" y="0"/>
                  </a:moveTo>
                  <a:lnTo>
                    <a:pt x="2438400" y="0"/>
                  </a:lnTo>
                </a:path>
              </a:pathLst>
            </a:custGeom>
            <a:noFill/>
            <a:ln w="9525">
              <a:solidFill>
                <a:srgbClr val="3A2E12"/>
              </a:solidFill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8833866" y="4801552"/>
              <a:ext cx="1210818" cy="4530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050" dirty="0">
                  <a:solidFill>
                    <a:srgbClr val="93A4C0"/>
                  </a:solidFill>
                  <a:latin typeface="Consolas"/>
                  <a:ea typeface="Microsoft YaHei"/>
                  <a:cs typeface="Consolas"/>
                </a:rPr>
                <a:t>1000 类 → imagenet</a:t>
              </a:r>
              <a:br/>
              <a:r>
                <a:rPr lang="zh-CN" sz="1050" dirty="0">
                  <a:solidFill>
                    <a:srgbClr val="93A4C0"/>
                  </a:solidFill>
                  <a:latin typeface="Consolas"/>
                  <a:ea typeface="Microsoft YaHei"/>
                  <a:cs typeface="Consolas"/>
                </a:rPr>
                <a:t>37 类　 → pet</a:t>
              </a:r>
            </a:p>
          </p:txBody>
        </p:sp>
        <p:sp>
          <p:nvSpPr>
            <p:cNvPr id="75" name="Line 75"/>
            <p:cNvSpPr/>
            <p:nvPr/>
          </p:nvSpPr>
          <p:spPr>
            <a:xfrm>
              <a:off x="8839200" y="5353050"/>
              <a:ext cx="2438400" cy="9525"/>
            </a:xfrm>
            <a:custGeom>
              <a:avLst/>
              <a:gdLst/>
              <a:ahLst/>
              <a:cxnLst/>
              <a:rect l="l" t="t" r="r" b="b"/>
              <a:pathLst>
                <a:path w="2438400" h="9525">
                  <a:moveTo>
                    <a:pt x="0" y="0"/>
                  </a:moveTo>
                  <a:lnTo>
                    <a:pt x="2438400" y="0"/>
                  </a:lnTo>
                </a:path>
              </a:pathLst>
            </a:custGeom>
            <a:noFill/>
            <a:ln w="9525">
              <a:solidFill>
                <a:srgbClr val="3A2E12"/>
              </a:solidFill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8834247" y="5533549"/>
              <a:ext cx="1690116" cy="571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00"/>
                </a:lnSpc>
              </a:pPr>
              <a:r>
                <a:rPr lang="zh-CN" sz="98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registry 的 labels_for(key)</a:t>
              </a:r>
              <a:br/>
              <a:r>
                <a:rPr lang="zh-CN" sz="98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按模型强制选择，行数 ≠</a:t>
              </a:r>
              <a:br/>
              <a:r>
                <a:rPr lang="zh-CN" sz="98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num_classes 立即断言失败</a:t>
              </a:r>
            </a:p>
          </p:txBody>
        </p:sp>
      </p:grpSp>
      <p:grpSp>
        <p:nvGrpSpPr>
          <p:cNvPr id="80" name="Group 80"/>
          <p:cNvGrpSpPr/>
          <p:nvPr/>
        </p:nvGrpSpPr>
        <p:grpSpPr>
          <a:xfrm>
            <a:off x="680847" y="6401752"/>
            <a:ext cx="10830687" cy="205359"/>
            <a:chOff x="680847" y="6401752"/>
            <a:chExt cx="10830687" cy="205359"/>
          </a:xfrm>
        </p:grpSpPr>
        <p:sp>
          <p:nvSpPr>
            <p:cNvPr id="78" name="TextBox 78"/>
            <p:cNvSpPr txBox="1"/>
            <p:nvPr/>
          </p:nvSpPr>
          <p:spPr>
            <a:xfrm>
              <a:off x="680847" y="6409849"/>
              <a:ext cx="735167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数据来源：outputs/metrics/consistency_*.json · outputs/benchmarks/export_*.json · deploy/model_registry.py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1345380" y="64017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857852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延迟不与 MACs 成正比，M1.1 是零增益的被支配点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73600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ORT 1.30.0 CPUExecutionProvider · FP32 · batch=1 · 224×224 · 预热 10 + 正式 50 · threads=4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</p:sp>
      </p:grpSp>
      <p:grpSp>
        <p:nvGrpSpPr>
          <p:cNvPr id="50" name="Group 50"/>
          <p:cNvGrpSpPr/>
          <p:nvPr/>
        </p:nvGrpSpPr>
        <p:grpSpPr>
          <a:xfrm>
            <a:off x="685800" y="1600200"/>
            <a:ext cx="6858000" cy="2609850"/>
            <a:chOff x="685800" y="1600200"/>
            <a:chExt cx="6858000" cy="260985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6858000" cy="2609850"/>
            </a:xfrm>
            <a:prstGeom prst="roundRect">
              <a:avLst>
                <a:gd name="adj" fmla="val 3650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685800" y="1600200"/>
              <a:ext cx="6858000" cy="438150"/>
              <a:chOff x="685800" y="1600200"/>
              <a:chExt cx="6858000" cy="438150"/>
            </a:xfrm>
          </p:grpSpPr>
          <p:sp>
            <p:nvSpPr>
              <p:cNvPr id="7" name="Rectangle 7"/>
              <p:cNvSpPr/>
              <p:nvPr/>
            </p:nvSpPr>
            <p:spPr>
              <a:xfrm>
                <a:off x="685800" y="1600200"/>
                <a:ext cx="6858000" cy="438150"/>
              </a:xfrm>
              <a:prstGeom prst="roundRect">
                <a:avLst>
                  <a:gd name="adj" fmla="val 21739"/>
                </a:avLst>
              </a:prstGeom>
              <a:solidFill>
                <a:srgbClr val="1B2740"/>
              </a:solidFill>
              <a:ln>
                <a:noFill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947166" y="1772602"/>
                <a:ext cx="307505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模型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3055064" y="1772602"/>
                <a:ext cx="366873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mean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4342040" y="1772602"/>
                <a:ext cx="26942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P50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5580290" y="1772602"/>
                <a:ext cx="26942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P95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6835240" y="1772602"/>
                <a:ext cx="42652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Top-1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946785" y="2194560"/>
              <a:ext cx="6371285" cy="234696"/>
              <a:chOff x="946785" y="2194560"/>
              <a:chExt cx="6371285" cy="234696"/>
            </a:xfrm>
          </p:grpSpPr>
          <p:sp>
            <p:nvSpPr>
              <p:cNvPr id="14" name="TextBox 14"/>
              <p:cNvSpPr txBox="1"/>
              <p:nvPr/>
            </p:nvSpPr>
            <p:spPr>
              <a:xfrm>
                <a:off x="946785" y="2202656"/>
                <a:ext cx="750225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m0_9_in1k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3066933" y="2202656"/>
                <a:ext cx="34313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7.45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4284071" y="2194560"/>
                <a:ext cx="385359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7.37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5543433" y="2202656"/>
                <a:ext cx="34313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8.00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6778930" y="2202656"/>
                <a:ext cx="53914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78.20%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946785" y="2518410"/>
              <a:ext cx="6371285" cy="234696"/>
              <a:chOff x="946785" y="2518410"/>
              <a:chExt cx="6371285" cy="234696"/>
            </a:xfrm>
          </p:grpSpPr>
          <p:sp>
            <p:nvSpPr>
              <p:cNvPr id="20" name="TextBox 20"/>
              <p:cNvSpPr txBox="1"/>
              <p:nvPr/>
            </p:nvSpPr>
            <p:spPr>
              <a:xfrm>
                <a:off x="946785" y="2526506"/>
                <a:ext cx="750225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m1_0_in1k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066933" y="2526506"/>
                <a:ext cx="34313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9.20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4284071" y="2518410"/>
                <a:ext cx="385359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9.15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5543433" y="2526506"/>
                <a:ext cx="34313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9.76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6778930" y="2526506"/>
                <a:ext cx="53914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79.90%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946785" y="2850356"/>
              <a:ext cx="6371285" cy="220028"/>
              <a:chOff x="946785" y="2850356"/>
              <a:chExt cx="6371285" cy="220028"/>
            </a:xfrm>
          </p:grpSpPr>
          <p:sp>
            <p:nvSpPr>
              <p:cNvPr id="26" name="TextBox 26"/>
              <p:cNvSpPr txBox="1"/>
              <p:nvPr/>
            </p:nvSpPr>
            <p:spPr>
              <a:xfrm>
                <a:off x="946785" y="2850356"/>
                <a:ext cx="750225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m1_1_in1k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3025470" y="2850356"/>
                <a:ext cx="4260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10.41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263720" y="2850356"/>
                <a:ext cx="4260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10.23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501970" y="2850356"/>
                <a:ext cx="4260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11.24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6778930" y="2850356"/>
                <a:ext cx="53914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79.90%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946785" y="3174206"/>
              <a:ext cx="6371285" cy="220028"/>
              <a:chOff x="946785" y="3174206"/>
              <a:chExt cx="6371285" cy="220028"/>
            </a:xfrm>
          </p:grpSpPr>
          <p:sp>
            <p:nvSpPr>
              <p:cNvPr id="32" name="TextBox 32"/>
              <p:cNvSpPr txBox="1"/>
              <p:nvPr/>
            </p:nvSpPr>
            <p:spPr>
              <a:xfrm>
                <a:off x="946785" y="3174206"/>
                <a:ext cx="750225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m1_5_in1k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3025470" y="3174206"/>
                <a:ext cx="4260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17.78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263720" y="3174206"/>
                <a:ext cx="4260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17.65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5501970" y="3174206"/>
                <a:ext cx="4260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18.93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6778930" y="3174206"/>
                <a:ext cx="53914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82.80%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946785" y="3498056"/>
              <a:ext cx="6371285" cy="220028"/>
              <a:chOff x="946785" y="3498056"/>
              <a:chExt cx="6371285" cy="220028"/>
            </a:xfrm>
          </p:grpSpPr>
          <p:sp>
            <p:nvSpPr>
              <p:cNvPr id="38" name="TextBox 38"/>
              <p:cNvSpPr txBox="1"/>
              <p:nvPr/>
            </p:nvSpPr>
            <p:spPr>
              <a:xfrm>
                <a:off x="946785" y="3498056"/>
                <a:ext cx="750225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m2_3_in1k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3025470" y="3498056"/>
                <a:ext cx="4260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32.65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4263720" y="3498056"/>
                <a:ext cx="4260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32.69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5501970" y="3498056"/>
                <a:ext cx="4260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33.32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6778930" y="3498056"/>
                <a:ext cx="53914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83.10%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946785" y="3813810"/>
              <a:ext cx="6371285" cy="234696"/>
              <a:chOff x="946785" y="3813810"/>
              <a:chExt cx="6371285" cy="234696"/>
            </a:xfrm>
          </p:grpSpPr>
          <p:sp>
            <p:nvSpPr>
              <p:cNvPr id="44" name="TextBox 44"/>
              <p:cNvSpPr txBox="1"/>
              <p:nvPr/>
            </p:nvSpPr>
            <p:spPr>
              <a:xfrm>
                <a:off x="946785" y="3821906"/>
                <a:ext cx="87084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C79BFF"/>
                    </a:solidFill>
                    <a:latin typeface="Consolas"/>
                    <a:ea typeface="Consolas"/>
                    <a:cs typeface="Consolas"/>
                  </a:rPr>
                  <a:t>m0_9_pet37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3066933" y="3821906"/>
                <a:ext cx="34313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7.20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4284071" y="3813810"/>
                <a:ext cx="385359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7.12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5543433" y="3821906"/>
                <a:ext cx="34313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7.69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6778930" y="3821906"/>
                <a:ext cx="53914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92.34%</a:t>
                </a:r>
              </a:p>
            </p:txBody>
          </p:sp>
        </p:grpSp>
      </p:grpSp>
      <p:grpSp>
        <p:nvGrpSpPr>
          <p:cNvPr id="69" name="Group 69"/>
          <p:cNvGrpSpPr/>
          <p:nvPr/>
        </p:nvGrpSpPr>
        <p:grpSpPr>
          <a:xfrm>
            <a:off x="7848600" y="1600200"/>
            <a:ext cx="3657600" cy="2613184"/>
            <a:chOff x="7848600" y="1600200"/>
            <a:chExt cx="3657600" cy="2613184"/>
          </a:xfrm>
        </p:grpSpPr>
        <p:sp>
          <p:nvSpPr>
            <p:cNvPr id="51" name="Rectangle 51"/>
            <p:cNvSpPr/>
            <p:nvPr/>
          </p:nvSpPr>
          <p:spPr>
            <a:xfrm>
              <a:off x="7848600" y="1600200"/>
              <a:ext cx="3657600" cy="2609850"/>
            </a:xfrm>
            <a:prstGeom prst="roundRect">
              <a:avLst>
                <a:gd name="adj" fmla="val 3650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089392" y="1797368"/>
              <a:ext cx="19410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边际收益（acc / ms）</a:t>
              </a:r>
            </a:p>
          </p:txBody>
        </p:sp>
        <p:sp>
          <p:nvSpPr>
            <p:cNvPr id="53" name="Line 53"/>
            <p:cNvSpPr/>
            <p:nvPr/>
          </p:nvSpPr>
          <p:spPr>
            <a:xfrm>
              <a:off x="8096250" y="2076450"/>
              <a:ext cx="3162300" cy="9525"/>
            </a:xfrm>
            <a:custGeom>
              <a:avLst/>
              <a:gdLst/>
              <a:ahLst/>
              <a:cxnLst/>
              <a:rect l="l" t="t" r="r" b="b"/>
              <a:pathLst>
                <a:path w="3162300" h="9525">
                  <a:moveTo>
                    <a:pt x="0" y="0"/>
                  </a:moveTo>
                  <a:lnTo>
                    <a:pt x="31623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8090916" y="2270760"/>
              <a:ext cx="3173730" cy="234696"/>
              <a:chOff x="8090916" y="2270760"/>
              <a:chExt cx="3173730" cy="234696"/>
            </a:xfrm>
          </p:grpSpPr>
          <p:sp>
            <p:nvSpPr>
              <p:cNvPr id="54" name="TextBox 54"/>
              <p:cNvSpPr txBox="1"/>
              <p:nvPr/>
            </p:nvSpPr>
            <p:spPr>
              <a:xfrm>
                <a:off x="8090916" y="2286952"/>
                <a:ext cx="89931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M0.9 → M1.0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10785996" y="2270760"/>
                <a:ext cx="47865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en-US" sz="120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+0.96</a:t>
                </a:r>
              </a:p>
            </p:txBody>
          </p:sp>
        </p:grpSp>
        <p:grpSp>
          <p:nvGrpSpPr>
            <p:cNvPr id="59" name="Group 59"/>
            <p:cNvGrpSpPr/>
            <p:nvPr/>
          </p:nvGrpSpPr>
          <p:grpSpPr>
            <a:xfrm>
              <a:off x="8090916" y="2613660"/>
              <a:ext cx="3173730" cy="234696"/>
              <a:chOff x="8090916" y="2613660"/>
              <a:chExt cx="3173730" cy="234696"/>
            </a:xfrm>
          </p:grpSpPr>
          <p:sp>
            <p:nvSpPr>
              <p:cNvPr id="57" name="TextBox 57"/>
              <p:cNvSpPr txBox="1"/>
              <p:nvPr/>
            </p:nvSpPr>
            <p:spPr>
              <a:xfrm>
                <a:off x="8090916" y="2629852"/>
                <a:ext cx="89931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M1.0 → M1.1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10879287" y="2613660"/>
                <a:ext cx="385359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en-US" sz="1200" b="1" dirty="0">
                    <a:solidFill>
                      <a:srgbClr val="FF6B6B"/>
                    </a:solidFill>
                    <a:latin typeface="Consolas"/>
                    <a:ea typeface="Consolas"/>
                    <a:cs typeface="Consolas"/>
                  </a:rPr>
                  <a:t>0.00</a:t>
                </a:r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8090916" y="2956560"/>
              <a:ext cx="3173730" cy="234696"/>
              <a:chOff x="8090916" y="2956560"/>
              <a:chExt cx="3173730" cy="234696"/>
            </a:xfrm>
          </p:grpSpPr>
          <p:sp>
            <p:nvSpPr>
              <p:cNvPr id="60" name="TextBox 60"/>
              <p:cNvSpPr txBox="1"/>
              <p:nvPr/>
            </p:nvSpPr>
            <p:spPr>
              <a:xfrm>
                <a:off x="8090916" y="2972752"/>
                <a:ext cx="89931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M1.1 → M1.5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10785996" y="2956560"/>
                <a:ext cx="47865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en-US" sz="120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+0.39</a:t>
                </a:r>
              </a:p>
            </p:txBody>
          </p:sp>
        </p:grpSp>
        <p:grpSp>
          <p:nvGrpSpPr>
            <p:cNvPr id="65" name="Group 65"/>
            <p:cNvGrpSpPr/>
            <p:nvPr/>
          </p:nvGrpSpPr>
          <p:grpSpPr>
            <a:xfrm>
              <a:off x="8090916" y="3299460"/>
              <a:ext cx="3173730" cy="234696"/>
              <a:chOff x="8090916" y="3299460"/>
              <a:chExt cx="3173730" cy="234696"/>
            </a:xfrm>
          </p:grpSpPr>
          <p:sp>
            <p:nvSpPr>
              <p:cNvPr id="63" name="TextBox 63"/>
              <p:cNvSpPr txBox="1"/>
              <p:nvPr/>
            </p:nvSpPr>
            <p:spPr>
              <a:xfrm>
                <a:off x="8090916" y="3315652"/>
                <a:ext cx="89931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M1.5 → M2.3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10785996" y="3299460"/>
                <a:ext cx="47865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en-US" sz="1200" b="1" dirty="0">
                    <a:solidFill>
                      <a:srgbClr val="FF6B6B"/>
                    </a:solidFill>
                    <a:latin typeface="Consolas"/>
                    <a:ea typeface="Consolas"/>
                    <a:cs typeface="Consolas"/>
                  </a:rPr>
                  <a:t>+0.02</a:t>
                </a:r>
              </a:p>
            </p:txBody>
          </p:sp>
        </p:grpSp>
        <p:sp>
          <p:nvSpPr>
            <p:cNvPr id="66" name="Line 66"/>
            <p:cNvSpPr/>
            <p:nvPr/>
          </p:nvSpPr>
          <p:spPr>
            <a:xfrm>
              <a:off x="8096250" y="3638550"/>
              <a:ext cx="3162300" cy="9525"/>
            </a:xfrm>
            <a:custGeom>
              <a:avLst/>
              <a:gdLst/>
              <a:ahLst/>
              <a:cxnLst/>
              <a:rect l="l" t="t" r="r" b="b"/>
              <a:pathLst>
                <a:path w="3162300" h="9525">
                  <a:moveTo>
                    <a:pt x="0" y="0"/>
                  </a:moveTo>
                  <a:lnTo>
                    <a:pt x="31623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8090916" y="3772852"/>
              <a:ext cx="17100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推荐（P50 ≤ 15 ms 预算）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090535" y="3993356"/>
              <a:ext cx="13570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repvit_m0_9_in1k</a:t>
              </a:r>
            </a:p>
          </p:txBody>
        </p:sp>
      </p:grpSp>
      <p:grpSp>
        <p:nvGrpSpPr>
          <p:cNvPr id="75" name="Group 75"/>
          <p:cNvGrpSpPr/>
          <p:nvPr/>
        </p:nvGrpSpPr>
        <p:grpSpPr>
          <a:xfrm>
            <a:off x="685800" y="4362450"/>
            <a:ext cx="10820400" cy="1123950"/>
            <a:chOff x="685800" y="4362450"/>
            <a:chExt cx="10820400" cy="1123950"/>
          </a:xfrm>
        </p:grpSpPr>
        <p:sp>
          <p:nvSpPr>
            <p:cNvPr id="70" name="Rectangle 70"/>
            <p:cNvSpPr/>
            <p:nvPr/>
          </p:nvSpPr>
          <p:spPr>
            <a:xfrm>
              <a:off x="685800" y="4362450"/>
              <a:ext cx="10820400" cy="1123950"/>
            </a:xfrm>
            <a:prstGeom prst="roundRect">
              <a:avLst>
                <a:gd name="adj" fmla="val 8475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945642" y="4540568"/>
              <a:ext cx="37932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为什么更大的模型不一定按 MACs 比例变慢</a:t>
              </a:r>
            </a:p>
          </p:txBody>
        </p:sp>
        <p:sp>
          <p:nvSpPr>
            <p:cNvPr id="72" name="Line 72"/>
            <p:cNvSpPr/>
            <p:nvPr/>
          </p:nvSpPr>
          <p:spPr>
            <a:xfrm>
              <a:off x="952500" y="48196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947166" y="4992052"/>
              <a:ext cx="47953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① 小模型受固定开销支配（算子启动、内存分配、线程同步与计算量同量级）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947166" y="5220652"/>
              <a:ext cx="74355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② depthwise 卷积算术强度低，瓶颈在内存带宽而非算力　③ 分类头维度差异被放大：37 类的 Gemm 比 1000 类小得多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685800" y="5638800"/>
            <a:ext cx="10820400" cy="571500"/>
            <a:chOff x="685800" y="5638800"/>
            <a:chExt cx="10820400" cy="571500"/>
          </a:xfrm>
        </p:grpSpPr>
        <p:sp>
          <p:nvSpPr>
            <p:cNvPr id="76" name="Rectangle 76"/>
            <p:cNvSpPr/>
            <p:nvPr/>
          </p:nvSpPr>
          <p:spPr>
            <a:xfrm>
              <a:off x="685800" y="5638800"/>
              <a:ext cx="10820400" cy="571500"/>
            </a:xfrm>
            <a:prstGeom prst="roundRect">
              <a:avLst>
                <a:gd name="adj" fmla="val 16667"/>
              </a:avLst>
            </a:prstGeom>
            <a:solidFill>
              <a:srgbClr val="1A1408"/>
            </a:solidFill>
            <a:ln w="9525">
              <a:solidFill>
                <a:srgbClr val="FFC857"/>
              </a:solidFill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946785" y="5784056"/>
              <a:ext cx="7779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mean 易被慢样本拉高；P50 是典型耗时，最适合横向比较；P95 反映尾延迟（本机 P95/P50 ≈ 1.09，分布很稳）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947547" y="6009799"/>
              <a:ext cx="59066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不同设备 / 后端 / 精度下的延迟不可横向比较；官方 iPhone 12 延迟不得与本机 CPU 结果直接对比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680847" y="6401752"/>
            <a:ext cx="10830687" cy="205359"/>
            <a:chOff x="680847" y="6401752"/>
            <a:chExt cx="10830687" cy="205359"/>
          </a:xfrm>
        </p:grpSpPr>
        <p:sp>
          <p:nvSpPr>
            <p:cNvPr id="80" name="TextBox 80"/>
            <p:cNvSpPr txBox="1"/>
            <p:nvPr/>
          </p:nvSpPr>
          <p:spPr>
            <a:xfrm>
              <a:off x="680847" y="6409849"/>
              <a:ext cx="76287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数据来源：outputs/benchmarks/summary.csv · outputs/advanced/marginal_returns.csv · model_recommendation.csv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345380" y="64017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1428750"/>
            <a:ext cx="12192000" cy="4295775"/>
            <a:chOff x="0" y="1428750"/>
            <a:chExt cx="12192000" cy="4295775"/>
          </a:xfrm>
        </p:grpSpPr>
        <p:sp>
          <p:nvSpPr>
            <p:cNvPr id="2" name="Line 2"/>
            <p:cNvSpPr/>
            <p:nvPr/>
          </p:nvSpPr>
          <p:spPr>
            <a:xfrm>
              <a:off x="0" y="142875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</p:sp>
        <p:sp>
          <p:nvSpPr>
            <p:cNvPr id="3" name="Line 3"/>
            <p:cNvSpPr/>
            <p:nvPr/>
          </p:nvSpPr>
          <p:spPr>
            <a:xfrm>
              <a:off x="0" y="57150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5" name="TextBox 5"/>
            <p:cNvSpPr txBox="1"/>
            <p:nvPr/>
          </p:nvSpPr>
          <p:spPr>
            <a:xfrm>
              <a:off x="672846" y="505778"/>
              <a:ext cx="831614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复现链路完整、数字可溯源、控制变量有工程化校验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79704" y="994410"/>
              <a:ext cx="62397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37 条验收项自检 0 失败；代码零写死绝对路径；每个数字都能回到 outputs/ 里的文件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</p:sp>
      </p:grpSp>
      <p:grpSp>
        <p:nvGrpSpPr>
          <p:cNvPr id="20" name="Group 20"/>
          <p:cNvGrpSpPr/>
          <p:nvPr/>
        </p:nvGrpSpPr>
        <p:grpSpPr>
          <a:xfrm>
            <a:off x="685800" y="1600200"/>
            <a:ext cx="10820400" cy="1866900"/>
            <a:chOff x="685800" y="1600200"/>
            <a:chExt cx="10820400" cy="1866900"/>
          </a:xfrm>
        </p:grpSpPr>
        <p:sp>
          <p:nvSpPr>
            <p:cNvPr id="9" name="Rectangle 9"/>
            <p:cNvSpPr/>
            <p:nvPr/>
          </p:nvSpPr>
          <p:spPr>
            <a:xfrm>
              <a:off x="685800" y="1600200"/>
              <a:ext cx="10820400" cy="1866900"/>
            </a:xfrm>
            <a:prstGeom prst="roundRect">
              <a:avLst>
                <a:gd name="adj" fmla="val 5102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45642" y="1797368"/>
              <a:ext cx="19219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三个最有代表性的问题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952500" y="20764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946785" y="2278856"/>
              <a:ext cx="5107210" cy="461105"/>
              <a:chOff x="946785" y="2278856"/>
              <a:chExt cx="5107210" cy="461105"/>
            </a:xfrm>
          </p:grpSpPr>
          <p:sp>
            <p:nvSpPr>
              <p:cNvPr id="12" name="TextBox 12"/>
              <p:cNvSpPr txBox="1"/>
              <p:nvPr/>
            </p:nvSpPr>
            <p:spPr>
              <a:xfrm>
                <a:off x="946785" y="2278856"/>
                <a:ext cx="18557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01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423035" y="2278856"/>
                <a:ext cx="326815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官方 .pth 与 timm 键名交集为 0（713 vs 389）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423416" y="2534602"/>
                <a:ext cx="463057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3FDB9B"/>
                    </a:solidFill>
                    <a:latin typeface="Microsoft YaHei"/>
                    <a:ea typeface="Microsoft YaHei"/>
                    <a:cs typeface="Microsoft YaHei"/>
                  </a:rPr>
                  <a:t>实测证明两条路线权重逐位等价（max|Δlogits| = 0），省去手写键转换器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946785" y="2850356"/>
              <a:ext cx="5751957" cy="461105"/>
              <a:chOff x="946785" y="2850356"/>
              <a:chExt cx="5751957" cy="461105"/>
            </a:xfrm>
          </p:grpSpPr>
          <p:sp>
            <p:nvSpPr>
              <p:cNvPr id="16" name="TextBox 16"/>
              <p:cNvSpPr txBox="1"/>
              <p:nvPr/>
            </p:nvSpPr>
            <p:spPr>
              <a:xfrm>
                <a:off x="946785" y="2850356"/>
                <a:ext cx="18557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02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423035" y="2850356"/>
                <a:ext cx="316779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data/provided/ 在 29 页试题 PDF 中从未定义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423416" y="3106102"/>
                <a:ext cx="527532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3FDB9B"/>
                    </a:solidFill>
                    <a:latin typeface="Microsoft YaHei"/>
                    <a:ea typeface="Microsoft YaHei"/>
                    <a:cs typeface="Microsoft YaHei"/>
                  </a:rPr>
                  <a:t>改判为结构性偏差，改用官方归档 + 自建子集，并在 README 与报告中显式声明</a:t>
                </a:r>
              </a:p>
            </p:txBody>
          </p:sp>
        </p:grpSp>
      </p:grpSp>
      <p:grpSp>
        <p:nvGrpSpPr>
          <p:cNvPr id="25" name="Group 25"/>
          <p:cNvGrpSpPr/>
          <p:nvPr/>
        </p:nvGrpSpPr>
        <p:grpSpPr>
          <a:xfrm>
            <a:off x="685800" y="3581400"/>
            <a:ext cx="10820400" cy="876300"/>
            <a:chOff x="685800" y="3581400"/>
            <a:chExt cx="10820400" cy="876300"/>
          </a:xfrm>
        </p:grpSpPr>
        <p:sp>
          <p:nvSpPr>
            <p:cNvPr id="21" name="Rectangle 21"/>
            <p:cNvSpPr/>
            <p:nvPr/>
          </p:nvSpPr>
          <p:spPr>
            <a:xfrm>
              <a:off x="685800" y="3581400"/>
              <a:ext cx="10820400" cy="876300"/>
            </a:xfrm>
            <a:prstGeom prst="roundRect">
              <a:avLst>
                <a:gd name="adj" fmla="val 10870"/>
              </a:avLst>
            </a:prstGeom>
            <a:solidFill>
              <a:srgbClr val="1A1408"/>
            </a:solidFill>
            <a:ln w="9525">
              <a:solidFill>
                <a:srgbClr val="FFC857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46785" y="37838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FFC857"/>
                  </a:solidFill>
                  <a:latin typeface="Consolas"/>
                  <a:ea typeface="Consolas"/>
                  <a:cs typeface="Consolas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23035" y="3783806"/>
              <a:ext cx="5522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早停导致训练预算不等价（opt_mix 25 epoch vs baseline 40 epoch，差 37.5%）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423416" y="4058602"/>
              <a:ext cx="66258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处置：统一关闭早停，8 组实验全部 40 epoch 满预算；把预算等价性固化成可执行检查 same_budget.py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85800" y="4648200"/>
            <a:ext cx="6667500" cy="1638300"/>
            <a:chOff x="685800" y="4648200"/>
            <a:chExt cx="6667500" cy="1638300"/>
          </a:xfrm>
        </p:grpSpPr>
        <p:sp>
          <p:nvSpPr>
            <p:cNvPr id="26" name="Rectangle 26"/>
            <p:cNvSpPr/>
            <p:nvPr/>
          </p:nvSpPr>
          <p:spPr>
            <a:xfrm>
              <a:off x="685800" y="4648200"/>
              <a:ext cx="6667500" cy="1638300"/>
            </a:xfrm>
            <a:prstGeom prst="roundRect">
              <a:avLst>
                <a:gd name="adj" fmla="val 5814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45642" y="4845368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结论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952500" y="5124450"/>
              <a:ext cx="6134100" cy="9525"/>
            </a:xfrm>
            <a:custGeom>
              <a:avLst/>
              <a:gdLst/>
              <a:ahLst/>
              <a:cxnLst/>
              <a:rect l="l" t="t" r="r" b="b"/>
              <a:pathLst>
                <a:path w="6134100" h="9525">
                  <a:moveTo>
                    <a:pt x="0" y="0"/>
                  </a:moveTo>
                  <a:lnTo>
                    <a:pt x="61341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46785" y="5307806"/>
              <a:ext cx="42062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① RepViT 确为纯卷积，M0.9 实测 78.20%，贴近官方 78.7%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46785" y="5555456"/>
              <a:ext cx="36328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② Pet-37 test Top-1 92.34%，跨物种错误仅 3.56%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6785" y="5803106"/>
              <a:ext cx="36197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③ 重参数化数值等价、BN 归零；ONNX 一致率 100%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46785" y="6050756"/>
              <a:ext cx="36073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④ 四项优化均未超出噪声：这本身是有价值的负面结论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7658100" y="4648200"/>
            <a:ext cx="3848100" cy="1638300"/>
            <a:chOff x="7658100" y="4648200"/>
            <a:chExt cx="3848100" cy="1638300"/>
          </a:xfrm>
        </p:grpSpPr>
        <p:sp>
          <p:nvSpPr>
            <p:cNvPr id="34" name="Rectangle 34"/>
            <p:cNvSpPr/>
            <p:nvPr/>
          </p:nvSpPr>
          <p:spPr>
            <a:xfrm>
              <a:off x="7658100" y="4648200"/>
              <a:ext cx="3848100" cy="1638300"/>
            </a:xfrm>
            <a:prstGeom prst="roundRect">
              <a:avLst>
                <a:gd name="adj" fmla="val 5814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898892" y="484536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后续计划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7905750" y="512445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900416" y="5315902"/>
              <a:ext cx="26019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INT8 量化 / 知识蒸馏（M2.3 → M0.9）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900416" y="5563552"/>
              <a:ext cx="2272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集显后端（本机无集显，需换设备）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900416" y="5811202"/>
              <a:ext cx="236296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置信度校准（实测温度 T = 0.615）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900416" y="6058852"/>
              <a:ext cx="26609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七类鲁棒性扰动已跑，可扩展 severity 级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80466" y="6401752"/>
            <a:ext cx="10830687" cy="205359"/>
            <a:chOff x="680466" y="6401752"/>
            <a:chExt cx="10830687" cy="205359"/>
          </a:xfrm>
        </p:grpSpPr>
        <p:sp>
          <p:nvSpPr>
            <p:cNvPr id="42" name="TextBox 42"/>
            <p:cNvSpPr txBox="1"/>
            <p:nvPr/>
          </p:nvSpPr>
          <p:spPr>
            <a:xfrm>
              <a:off x="680466" y="6401752"/>
              <a:ext cx="298517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github.com/8ga-tech/RepViT-Reproduction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294109" y="6409849"/>
              <a:ext cx="12170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感谢聆听 · 敬请提问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训练曲线：40 epoch 过程与误差口径</a:t>
            </a:r>
          </a:p>
        </p:txBody>
      </p:sp>
      <p:pic>
        <p:nvPicPr>
          <p:cNvPr id="3" name="Picture 2" descr="opt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14400"/>
            <a:ext cx="7498079" cy="38990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83879" y="960120"/>
            <a:ext cx="3474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8BDF8"/>
                </a:solidFill>
              </a:defRPr>
            </a:pPr>
            <a:r>
              <a:t>怎么看这张图</a:t>
            </a:r>
          </a:p>
          <a:p>
            <a:pPr>
              <a:spcAft>
                <a:spcPts val="800"/>
              </a:spcAft>
              <a:defRPr sz="1600" b="0">
                <a:solidFill>
                  <a:srgbClr val="E6EDF3"/>
                </a:solidFill>
              </a:defRPr>
            </a:pPr>
            <a:r>
              <a:t>• 前 3 个 epoch 是 warmup，指标上升最快</a:t>
            </a:r>
          </a:p>
          <a:p>
            <a:pPr>
              <a:spcAft>
                <a:spcPts val="800"/>
              </a:spcAft>
              <a:defRPr sz="1600" b="0">
                <a:solidFill>
                  <a:srgbClr val="E6EDF3"/>
                </a:solidFill>
              </a:defRPr>
            </a:pPr>
            <a:r>
              <a:t>• epoch 15 后进入平台，末段没有明显过拟合</a:t>
            </a:r>
          </a:p>
          <a:p>
            <a:pPr>
              <a:spcAft>
                <a:spcPts val="800"/>
              </a:spcAft>
              <a:defRPr sz="1600" b="0">
                <a:solidFill>
                  <a:srgbClr val="E6EDF3"/>
                </a:solidFill>
              </a:defRPr>
            </a:pPr>
            <a:r>
              <a:t>• Mixup/CutMix 的 train loss 不能和 baseline 直接比，软标签会抬高损失</a:t>
            </a:r>
          </a:p>
          <a:p>
            <a:pPr>
              <a:spcAft>
                <a:spcPts val="800"/>
              </a:spcAft>
              <a:defRPr sz="2000" b="1">
                <a:solidFill>
                  <a:srgbClr val="FACC15"/>
                </a:solidFill>
              </a:defRPr>
            </a:pPr>
            <a:r>
              <a:t>本页固定口径</a:t>
            </a:r>
          </a:p>
          <a:p>
            <a:pPr>
              <a:spcAft>
                <a:spcPts val="800"/>
              </a:spcAft>
              <a:defRPr sz="1500" b="0">
                <a:solidFill>
                  <a:srgbClr val="E6EDF3"/>
                </a:solidFill>
              </a:defRPr>
            </a:pPr>
            <a:r>
              <a:t>Pet-37 迁移训练；Baseline 与 opt_combo；同一划分、seed=42、40 epoch；曲线文件：outputs/curves/opt_compare.png</a:t>
            </a:r>
          </a:p>
          <a:p>
            <a:pPr>
              <a:spcAft>
                <a:spcPts val="800"/>
              </a:spcAft>
              <a:defRPr sz="2000" b="1">
                <a:solidFill>
                  <a:srgbClr val="FACC15"/>
                </a:solidFill>
              </a:defRPr>
            </a:pPr>
            <a:r>
              <a:t>误差分两类</a:t>
            </a:r>
          </a:p>
          <a:p>
            <a:pPr>
              <a:spcAft>
                <a:spcPts val="800"/>
              </a:spcAft>
              <a:defRPr sz="1500" b="0">
                <a:solidFill>
                  <a:srgbClr val="E6EDF3"/>
                </a:solidFill>
              </a:defRPr>
            </a:pPr>
            <a:r>
              <a:t>重参数化：融合前后 PyTorch，32 张，max|Δ|=7.093e-06。 PyTorch↔ONNX：训练侧与部署侧代码分开；比较同一输入，n=12，max|Δ|=6.198883e-06（展示 6.199e-06）。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pvit-defense">
  <a:themeElements>
    <a:clrScheme name="repvit-defens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repvit-defens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pvit-defens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2026-09-13T09:34:54Z</dcterms:created>
  <dcterms:modified xsi:type="dcterms:W3CDTF">2026-09-13T09:34:54Z</dcterms:modified>
  <cp:category/>
  <cp:contentStatus/>
</cp:coreProperties>
</file>