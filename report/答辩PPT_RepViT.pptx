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59" r:id="rId10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0.00125"/>
          <c:min val="0.0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1.6480000000000001</c:v>
                </c:pt>
                <c:pt idx="1">
                  <c:v>65.0626</c:v>
                </c:pt>
                <c:pt idx="2">
                  <c:v>83.9734</c:v>
                </c:pt>
                <c:pt idx="3">
                  <c:v>89.3809</c:v>
                </c:pt>
                <c:pt idx="4">
                  <c:v>91.57690000000001</c:v>
                </c:pt>
                <c:pt idx="5">
                  <c:v>92.24</c:v>
                </c:pt>
                <c:pt idx="6">
                  <c:v>92.9732</c:v>
                </c:pt>
                <c:pt idx="7">
                  <c:v>93.0965</c:v>
                </c:pt>
                <c:pt idx="8">
                  <c:v>92.9541</c:v>
                </c:pt>
                <c:pt idx="9">
                  <c:v>93.099</c:v>
                </c:pt>
                <c:pt idx="10">
                  <c:v>93.1787</c:v>
                </c:pt>
                <c:pt idx="11">
                  <c:v>93.6514</c:v>
                </c:pt>
                <c:pt idx="12">
                  <c:v>93.5278</c:v>
                </c:pt>
                <c:pt idx="13">
                  <c:v>93.9223</c:v>
                </c:pt>
                <c:pt idx="14">
                  <c:v>93.8169</c:v>
                </c:pt>
                <c:pt idx="15">
                  <c:v>94.2133</c:v>
                </c:pt>
                <c:pt idx="16">
                  <c:v>93.49640000000001</c:v>
                </c:pt>
                <c:pt idx="17">
                  <c:v>93.382</c:v>
                </c:pt>
                <c:pt idx="18">
                  <c:v>93.95700000000001</c:v>
                </c:pt>
                <c:pt idx="19">
                  <c:v>93.9492</c:v>
                </c:pt>
                <c:pt idx="20">
                  <c:v>93.7651</c:v>
                </c:pt>
                <c:pt idx="21">
                  <c:v>93.8209</c:v>
                </c:pt>
                <c:pt idx="22">
                  <c:v>93.7899</c:v>
                </c:pt>
                <c:pt idx="23">
                  <c:v>94.0453</c:v>
                </c:pt>
                <c:pt idx="24">
                  <c:v>93.3699</c:v>
                </c:pt>
                <c:pt idx="25">
                  <c:v>94.2106</c:v>
                </c:pt>
                <c:pt idx="26">
                  <c:v>93.5211</c:v>
                </c:pt>
                <c:pt idx="27">
                  <c:v>93.8183</c:v>
                </c:pt>
                <c:pt idx="28">
                  <c:v>94.0662</c:v>
                </c:pt>
                <c:pt idx="29">
                  <c:v>93.6712</c:v>
                </c:pt>
                <c:pt idx="30">
                  <c:v>94.0571</c:v>
                </c:pt>
                <c:pt idx="31">
                  <c:v>94.22460000000001</c:v>
                </c:pt>
                <c:pt idx="32">
                  <c:v>93.9371</c:v>
                </c:pt>
                <c:pt idx="33">
                  <c:v>94.46480000000001</c:v>
                </c:pt>
                <c:pt idx="34">
                  <c:v>94.61659999999999</c:v>
                </c:pt>
                <c:pt idx="35">
                  <c:v>94.2163</c:v>
                </c:pt>
                <c:pt idx="36">
                  <c:v>93.6673</c:v>
                </c:pt>
                <c:pt idx="37">
                  <c:v>94.2079</c:v>
                </c:pt>
                <c:pt idx="38">
                  <c:v>94.0643</c:v>
                </c:pt>
                <c:pt idx="39">
                  <c:v>94.0726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1.3806</c:v>
                </c:pt>
                <c:pt idx="1">
                  <c:v>53.032999999999994</c:v>
                </c:pt>
                <c:pt idx="2">
                  <c:v>78.3583</c:v>
                </c:pt>
                <c:pt idx="3">
                  <c:v>87.7163</c:v>
                </c:pt>
                <c:pt idx="4">
                  <c:v>90.6625</c:v>
                </c:pt>
                <c:pt idx="5">
                  <c:v>91.44200000000001</c:v>
                </c:pt>
                <c:pt idx="6">
                  <c:v>91.96260000000001</c:v>
                </c:pt>
                <c:pt idx="7">
                  <c:v>91.9257</c:v>
                </c:pt>
                <c:pt idx="8">
                  <c:v>92.5154</c:v>
                </c:pt>
                <c:pt idx="9">
                  <c:v>93.0802</c:v>
                </c:pt>
                <c:pt idx="10">
                  <c:v>92.28699999999999</c:v>
                </c:pt>
                <c:pt idx="11">
                  <c:v>92.9931</c:v>
                </c:pt>
                <c:pt idx="12">
                  <c:v>93.54</c:v>
                </c:pt>
                <c:pt idx="13">
                  <c:v>93.1198</c:v>
                </c:pt>
                <c:pt idx="14">
                  <c:v>92.8256</c:v>
                </c:pt>
                <c:pt idx="15">
                  <c:v>93.65400000000001</c:v>
                </c:pt>
                <c:pt idx="16">
                  <c:v>94.0696</c:v>
                </c:pt>
                <c:pt idx="17">
                  <c:v>93.7923</c:v>
                </c:pt>
                <c:pt idx="18">
                  <c:v>93.6591</c:v>
                </c:pt>
                <c:pt idx="19">
                  <c:v>93.9533</c:v>
                </c:pt>
                <c:pt idx="20">
                  <c:v>94.4645</c:v>
                </c:pt>
                <c:pt idx="21">
                  <c:v>94.4816</c:v>
                </c:pt>
                <c:pt idx="22">
                  <c:v>94.3488</c:v>
                </c:pt>
                <c:pt idx="23">
                  <c:v>94.607</c:v>
                </c:pt>
                <c:pt idx="24">
                  <c:v>94.0779</c:v>
                </c:pt>
                <c:pt idx="25">
                  <c:v>94.0739</c:v>
                </c:pt>
                <c:pt idx="26">
                  <c:v>94.1991</c:v>
                </c:pt>
                <c:pt idx="27">
                  <c:v>93.9251</c:v>
                </c:pt>
                <c:pt idx="28">
                  <c:v>94.07140000000001</c:v>
                </c:pt>
                <c:pt idx="29">
                  <c:v>94.7365</c:v>
                </c:pt>
                <c:pt idx="30">
                  <c:v>94.6124</c:v>
                </c:pt>
                <c:pt idx="31">
                  <c:v>94.7396</c:v>
                </c:pt>
                <c:pt idx="32">
                  <c:v>94.6222</c:v>
                </c:pt>
                <c:pt idx="33">
                  <c:v>94.18339999999999</c:v>
                </c:pt>
                <c:pt idx="34">
                  <c:v>94.0651</c:v>
                </c:pt>
                <c:pt idx="35">
                  <c:v>94.5932</c:v>
                </c:pt>
                <c:pt idx="36">
                  <c:v>94.595</c:v>
                </c:pt>
                <c:pt idx="37">
                  <c:v>94.32350000000001</c:v>
                </c:pt>
                <c:pt idx="38">
                  <c:v>94.7365</c:v>
                </c:pt>
                <c:pt idx="39">
                  <c:v>94.8882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1.6216000000000002</c:v>
                </c:pt>
                <c:pt idx="1">
                  <c:v>66.2162</c:v>
                </c:pt>
                <c:pt idx="2">
                  <c:v>84.5946</c:v>
                </c:pt>
                <c:pt idx="3">
                  <c:v>89.4595</c:v>
                </c:pt>
                <c:pt idx="4">
                  <c:v>91.6216</c:v>
                </c:pt>
                <c:pt idx="5">
                  <c:v>92.2973</c:v>
                </c:pt>
                <c:pt idx="6">
                  <c:v>92.973</c:v>
                </c:pt>
                <c:pt idx="7">
                  <c:v>93.10810000000001</c:v>
                </c:pt>
                <c:pt idx="8">
                  <c:v>92.973</c:v>
                </c:pt>
                <c:pt idx="9">
                  <c:v>93.10810000000001</c:v>
                </c:pt>
                <c:pt idx="10">
                  <c:v>93.2432</c:v>
                </c:pt>
                <c:pt idx="11">
                  <c:v>93.6486</c:v>
                </c:pt>
                <c:pt idx="12">
                  <c:v>93.51350000000001</c:v>
                </c:pt>
                <c:pt idx="13">
                  <c:v>93.91890000000001</c:v>
                </c:pt>
                <c:pt idx="14">
                  <c:v>93.7838</c:v>
                </c:pt>
                <c:pt idx="15">
                  <c:v>94.1892</c:v>
                </c:pt>
                <c:pt idx="16">
                  <c:v>93.51350000000001</c:v>
                </c:pt>
                <c:pt idx="17">
                  <c:v>93.3784</c:v>
                </c:pt>
                <c:pt idx="18">
                  <c:v>93.91890000000001</c:v>
                </c:pt>
                <c:pt idx="19">
                  <c:v>93.91890000000001</c:v>
                </c:pt>
                <c:pt idx="20">
                  <c:v>93.7838</c:v>
                </c:pt>
                <c:pt idx="21">
                  <c:v>93.7838</c:v>
                </c:pt>
                <c:pt idx="22">
                  <c:v>93.7838</c:v>
                </c:pt>
                <c:pt idx="23">
                  <c:v>94.05409999999999</c:v>
                </c:pt>
                <c:pt idx="24">
                  <c:v>93.3784</c:v>
                </c:pt>
                <c:pt idx="25">
                  <c:v>94.1892</c:v>
                </c:pt>
                <c:pt idx="26">
                  <c:v>93.51350000000001</c:v>
                </c:pt>
                <c:pt idx="27">
                  <c:v>93.7838</c:v>
                </c:pt>
                <c:pt idx="28">
                  <c:v>94.05409999999999</c:v>
                </c:pt>
                <c:pt idx="29">
                  <c:v>93.6486</c:v>
                </c:pt>
                <c:pt idx="30">
                  <c:v>94.05409999999999</c:v>
                </c:pt>
                <c:pt idx="31">
                  <c:v>94.1892</c:v>
                </c:pt>
                <c:pt idx="32">
                  <c:v>93.91890000000001</c:v>
                </c:pt>
                <c:pt idx="33">
                  <c:v>94.45949999999999</c:v>
                </c:pt>
                <c:pt idx="34">
                  <c:v>94.5946</c:v>
                </c:pt>
                <c:pt idx="35">
                  <c:v>94.1892</c:v>
                </c:pt>
                <c:pt idx="36">
                  <c:v>93.6486</c:v>
                </c:pt>
                <c:pt idx="37">
                  <c:v>94.1892</c:v>
                </c:pt>
                <c:pt idx="38">
                  <c:v>94.05409999999999</c:v>
                </c:pt>
                <c:pt idx="39">
                  <c:v>94.05409999999999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1.3514</c:v>
                </c:pt>
                <c:pt idx="1">
                  <c:v>55.1351</c:v>
                </c:pt>
                <c:pt idx="2">
                  <c:v>79.8649</c:v>
                </c:pt>
                <c:pt idx="3">
                  <c:v>88.10810000000001</c:v>
                </c:pt>
                <c:pt idx="4">
                  <c:v>90.8108</c:v>
                </c:pt>
                <c:pt idx="5">
                  <c:v>91.4865</c:v>
                </c:pt>
                <c:pt idx="6">
                  <c:v>92.027</c:v>
                </c:pt>
                <c:pt idx="7">
                  <c:v>92.027</c:v>
                </c:pt>
                <c:pt idx="8">
                  <c:v>92.5676</c:v>
                </c:pt>
                <c:pt idx="9">
                  <c:v>93.10810000000001</c:v>
                </c:pt>
                <c:pt idx="10">
                  <c:v>92.2973</c:v>
                </c:pt>
                <c:pt idx="11">
                  <c:v>92.973</c:v>
                </c:pt>
                <c:pt idx="12">
                  <c:v>93.51350000000001</c:v>
                </c:pt>
                <c:pt idx="13">
                  <c:v>93.10810000000001</c:v>
                </c:pt>
                <c:pt idx="14">
                  <c:v>92.8378</c:v>
                </c:pt>
                <c:pt idx="15">
                  <c:v>93.6486</c:v>
                </c:pt>
                <c:pt idx="16">
                  <c:v>94.05409999999999</c:v>
                </c:pt>
                <c:pt idx="17">
                  <c:v>93.7838</c:v>
                </c:pt>
                <c:pt idx="18">
                  <c:v>93.6486</c:v>
                </c:pt>
                <c:pt idx="19">
                  <c:v>93.91890000000001</c:v>
                </c:pt>
                <c:pt idx="20">
                  <c:v>94.45949999999999</c:v>
                </c:pt>
                <c:pt idx="21">
                  <c:v>94.45949999999999</c:v>
                </c:pt>
                <c:pt idx="22">
                  <c:v>94.32430000000001</c:v>
                </c:pt>
                <c:pt idx="23">
                  <c:v>94.5946</c:v>
                </c:pt>
                <c:pt idx="24">
                  <c:v>94.05409999999999</c:v>
                </c:pt>
                <c:pt idx="25">
                  <c:v>94.05409999999999</c:v>
                </c:pt>
                <c:pt idx="26">
                  <c:v>94.1892</c:v>
                </c:pt>
                <c:pt idx="27">
                  <c:v>93.91890000000001</c:v>
                </c:pt>
                <c:pt idx="28">
                  <c:v>94.05409999999999</c:v>
                </c:pt>
                <c:pt idx="29">
                  <c:v>94.7297</c:v>
                </c:pt>
                <c:pt idx="30">
                  <c:v>94.5946</c:v>
                </c:pt>
                <c:pt idx="31">
                  <c:v>94.7297</c:v>
                </c:pt>
                <c:pt idx="32">
                  <c:v>94.5946</c:v>
                </c:pt>
                <c:pt idx="33">
                  <c:v>94.1892</c:v>
                </c:pt>
                <c:pt idx="34">
                  <c:v>94.05409999999999</c:v>
                </c:pt>
                <c:pt idx="35">
                  <c:v>94.5946</c:v>
                </c:pt>
                <c:pt idx="36">
                  <c:v>94.5946</c:v>
                </c:pt>
                <c:pt idx="37">
                  <c:v>94.32430000000001</c:v>
                </c:pt>
                <c:pt idx="38">
                  <c:v>94.7297</c:v>
                </c:pt>
                <c:pt idx="39">
                  <c:v>94.86489999999999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3.650064</c:v>
                </c:pt>
                <c:pt idx="1">
                  <c:v>3.340333</c:v>
                </c:pt>
                <c:pt idx="2">
                  <c:v>2.417484</c:v>
                </c:pt>
                <c:pt idx="3">
                  <c:v>1.399619</c:v>
                </c:pt>
                <c:pt idx="4">
                  <c:v>1.065965</c:v>
                </c:pt>
                <c:pt idx="5">
                  <c:v>0.958617</c:v>
                </c:pt>
                <c:pt idx="6">
                  <c:v>0.913994</c:v>
                </c:pt>
                <c:pt idx="7">
                  <c:v>0.883491</c:v>
                </c:pt>
                <c:pt idx="8">
                  <c:v>0.850445</c:v>
                </c:pt>
                <c:pt idx="9">
                  <c:v>0.838216</c:v>
                </c:pt>
                <c:pt idx="10">
                  <c:v>0.818988</c:v>
                </c:pt>
                <c:pt idx="11">
                  <c:v>0.80327</c:v>
                </c:pt>
                <c:pt idx="12">
                  <c:v>0.797152</c:v>
                </c:pt>
                <c:pt idx="13">
                  <c:v>0.782725</c:v>
                </c:pt>
                <c:pt idx="14">
                  <c:v>0.785338</c:v>
                </c:pt>
                <c:pt idx="15">
                  <c:v>0.781938</c:v>
                </c:pt>
                <c:pt idx="16">
                  <c:v>0.773129</c:v>
                </c:pt>
                <c:pt idx="17">
                  <c:v>0.770628</c:v>
                </c:pt>
                <c:pt idx="18">
                  <c:v>0.762286</c:v>
                </c:pt>
                <c:pt idx="19">
                  <c:v>0.756404</c:v>
                </c:pt>
                <c:pt idx="20">
                  <c:v>0.759709</c:v>
                </c:pt>
                <c:pt idx="21">
                  <c:v>0.75677</c:v>
                </c:pt>
                <c:pt idx="22">
                  <c:v>0.750825</c:v>
                </c:pt>
                <c:pt idx="23">
                  <c:v>0.751612</c:v>
                </c:pt>
                <c:pt idx="24">
                  <c:v>0.746871</c:v>
                </c:pt>
                <c:pt idx="25">
                  <c:v>0.745619</c:v>
                </c:pt>
                <c:pt idx="26">
                  <c:v>0.740717</c:v>
                </c:pt>
                <c:pt idx="27">
                  <c:v>0.746159</c:v>
                </c:pt>
                <c:pt idx="28">
                  <c:v>0.741716</c:v>
                </c:pt>
                <c:pt idx="29">
                  <c:v>0.739014</c:v>
                </c:pt>
                <c:pt idx="30">
                  <c:v>0.73751</c:v>
                </c:pt>
                <c:pt idx="31">
                  <c:v>0.736745</c:v>
                </c:pt>
                <c:pt idx="32">
                  <c:v>0.733911</c:v>
                </c:pt>
                <c:pt idx="33">
                  <c:v>0.739235</c:v>
                </c:pt>
                <c:pt idx="34">
                  <c:v>0.739688</c:v>
                </c:pt>
                <c:pt idx="35">
                  <c:v>0.733909</c:v>
                </c:pt>
                <c:pt idx="36">
                  <c:v>0.733532</c:v>
                </c:pt>
                <c:pt idx="37">
                  <c:v>0.729967</c:v>
                </c:pt>
                <c:pt idx="38">
                  <c:v>0.731419</c:v>
                </c:pt>
                <c:pt idx="39">
                  <c:v>0.736097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3.644843</c:v>
                </c:pt>
                <c:pt idx="1">
                  <c:v>3.465572</c:v>
                </c:pt>
                <c:pt idx="2">
                  <c:v>2.997306</c:v>
                </c:pt>
                <c:pt idx="3">
                  <c:v>2.375531</c:v>
                </c:pt>
                <c:pt idx="4">
                  <c:v>1.950906</c:v>
                </c:pt>
                <c:pt idx="5">
                  <c:v>1.955643</c:v>
                </c:pt>
                <c:pt idx="6">
                  <c:v>1.775409</c:v>
                </c:pt>
                <c:pt idx="7">
                  <c:v>1.709704</c:v>
                </c:pt>
                <c:pt idx="8">
                  <c:v>1.833871</c:v>
                </c:pt>
                <c:pt idx="9">
                  <c:v>1.691916</c:v>
                </c:pt>
                <c:pt idx="10">
                  <c:v>1.780054</c:v>
                </c:pt>
                <c:pt idx="11">
                  <c:v>1.637641</c:v>
                </c:pt>
                <c:pt idx="12">
                  <c:v>1.640945</c:v>
                </c:pt>
                <c:pt idx="13">
                  <c:v>1.709644</c:v>
                </c:pt>
                <c:pt idx="14">
                  <c:v>1.626981</c:v>
                </c:pt>
                <c:pt idx="15">
                  <c:v>1.542563</c:v>
                </c:pt>
                <c:pt idx="16">
                  <c:v>1.554269</c:v>
                </c:pt>
                <c:pt idx="17">
                  <c:v>1.500675</c:v>
                </c:pt>
                <c:pt idx="18">
                  <c:v>1.533797</c:v>
                </c:pt>
                <c:pt idx="19">
                  <c:v>1.695746</c:v>
                </c:pt>
                <c:pt idx="20">
                  <c:v>1.681996</c:v>
                </c:pt>
                <c:pt idx="21">
                  <c:v>1.600051</c:v>
                </c:pt>
                <c:pt idx="22">
                  <c:v>1.576141</c:v>
                </c:pt>
                <c:pt idx="23">
                  <c:v>1.488927</c:v>
                </c:pt>
                <c:pt idx="24">
                  <c:v>1.551476</c:v>
                </c:pt>
                <c:pt idx="25">
                  <c:v>1.55356</c:v>
                </c:pt>
                <c:pt idx="26">
                  <c:v>1.555999</c:v>
                </c:pt>
                <c:pt idx="27">
                  <c:v>1.699456</c:v>
                </c:pt>
                <c:pt idx="28">
                  <c:v>1.548116</c:v>
                </c:pt>
                <c:pt idx="29">
                  <c:v>1.515924</c:v>
                </c:pt>
                <c:pt idx="30">
                  <c:v>1.605627</c:v>
                </c:pt>
                <c:pt idx="31">
                  <c:v>1.607826</c:v>
                </c:pt>
                <c:pt idx="32">
                  <c:v>1.442644</c:v>
                </c:pt>
                <c:pt idx="33">
                  <c:v>1.420347</c:v>
                </c:pt>
                <c:pt idx="34">
                  <c:v>1.553397</c:v>
                </c:pt>
                <c:pt idx="35">
                  <c:v>1.413508</c:v>
                </c:pt>
                <c:pt idx="36">
                  <c:v>1.483258</c:v>
                </c:pt>
                <c:pt idx="37">
                  <c:v>1.38146</c:v>
                </c:pt>
                <c:pt idx="38">
                  <c:v>1.490589</c:v>
                </c:pt>
                <c:pt idx="39">
                  <c:v>1.528419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3.646849</c:v>
                </c:pt>
                <c:pt idx="1">
                  <c:v>2.877319</c:v>
                </c:pt>
                <c:pt idx="2">
                  <c:v>1.318459</c:v>
                </c:pt>
                <c:pt idx="3">
                  <c:v>0.514603</c:v>
                </c:pt>
                <c:pt idx="4">
                  <c:v>0.403145</c:v>
                </c:pt>
                <c:pt idx="5">
                  <c:v>0.363732</c:v>
                </c:pt>
                <c:pt idx="6">
                  <c:v>0.342003</c:v>
                </c:pt>
                <c:pt idx="7">
                  <c:v>0.34134</c:v>
                </c:pt>
                <c:pt idx="8">
                  <c:v>0.333772</c:v>
                </c:pt>
                <c:pt idx="9">
                  <c:v>0.336938</c:v>
                </c:pt>
                <c:pt idx="10">
                  <c:v>0.346271</c:v>
                </c:pt>
                <c:pt idx="11">
                  <c:v>0.347715</c:v>
                </c:pt>
                <c:pt idx="12">
                  <c:v>0.334254</c:v>
                </c:pt>
                <c:pt idx="13">
                  <c:v>0.336081</c:v>
                </c:pt>
                <c:pt idx="14">
                  <c:v>0.32657</c:v>
                </c:pt>
                <c:pt idx="15">
                  <c:v>0.330052</c:v>
                </c:pt>
                <c:pt idx="16">
                  <c:v>0.3443</c:v>
                </c:pt>
                <c:pt idx="17">
                  <c:v>0.333807</c:v>
                </c:pt>
                <c:pt idx="18">
                  <c:v>0.334056</c:v>
                </c:pt>
                <c:pt idx="19">
                  <c:v>0.338237</c:v>
                </c:pt>
                <c:pt idx="20">
                  <c:v>0.354305</c:v>
                </c:pt>
                <c:pt idx="21">
                  <c:v>0.328294</c:v>
                </c:pt>
                <c:pt idx="22">
                  <c:v>0.34978</c:v>
                </c:pt>
                <c:pt idx="23">
                  <c:v>0.349989</c:v>
                </c:pt>
                <c:pt idx="24">
                  <c:v>0.348213</c:v>
                </c:pt>
                <c:pt idx="25">
                  <c:v>0.349404</c:v>
                </c:pt>
                <c:pt idx="26">
                  <c:v>0.342029</c:v>
                </c:pt>
                <c:pt idx="27">
                  <c:v>0.347343</c:v>
                </c:pt>
                <c:pt idx="28">
                  <c:v>0.346217</c:v>
                </c:pt>
                <c:pt idx="29">
                  <c:v>0.343025</c:v>
                </c:pt>
                <c:pt idx="30">
                  <c:v>0.345742</c:v>
                </c:pt>
                <c:pt idx="31">
                  <c:v>0.338855</c:v>
                </c:pt>
                <c:pt idx="32">
                  <c:v>0.346061</c:v>
                </c:pt>
                <c:pt idx="33">
                  <c:v>0.339792</c:v>
                </c:pt>
                <c:pt idx="34">
                  <c:v>0.346665</c:v>
                </c:pt>
                <c:pt idx="35">
                  <c:v>0.343303</c:v>
                </c:pt>
                <c:pt idx="36">
                  <c:v>0.352725</c:v>
                </c:pt>
                <c:pt idx="37">
                  <c:v>0.351029</c:v>
                </c:pt>
                <c:pt idx="38">
                  <c:v>0.347959</c:v>
                </c:pt>
                <c:pt idx="39">
                  <c:v>0.352268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3.651001</c:v>
                </c:pt>
                <c:pt idx="1">
                  <c:v>3.093787</c:v>
                </c:pt>
                <c:pt idx="2">
                  <c:v>2.014341</c:v>
                </c:pt>
                <c:pt idx="3">
                  <c:v>0.929365</c:v>
                </c:pt>
                <c:pt idx="4">
                  <c:v>0.653127</c:v>
                </c:pt>
                <c:pt idx="5">
                  <c:v>0.591324</c:v>
                </c:pt>
                <c:pt idx="6">
                  <c:v>0.520724</c:v>
                </c:pt>
                <c:pt idx="7">
                  <c:v>0.52614</c:v>
                </c:pt>
                <c:pt idx="8">
                  <c:v>0.523514</c:v>
                </c:pt>
                <c:pt idx="9">
                  <c:v>0.505148</c:v>
                </c:pt>
                <c:pt idx="10">
                  <c:v>0.498441</c:v>
                </c:pt>
                <c:pt idx="11">
                  <c:v>0.51635</c:v>
                </c:pt>
                <c:pt idx="12">
                  <c:v>0.477191</c:v>
                </c:pt>
                <c:pt idx="13">
                  <c:v>0.505392</c:v>
                </c:pt>
                <c:pt idx="14">
                  <c:v>0.470496</c:v>
                </c:pt>
                <c:pt idx="15">
                  <c:v>0.468182</c:v>
                </c:pt>
                <c:pt idx="16">
                  <c:v>0.442523</c:v>
                </c:pt>
                <c:pt idx="17">
                  <c:v>0.42225</c:v>
                </c:pt>
                <c:pt idx="18">
                  <c:v>0.483194</c:v>
                </c:pt>
                <c:pt idx="19">
                  <c:v>0.470084</c:v>
                </c:pt>
                <c:pt idx="20">
                  <c:v>0.541411</c:v>
                </c:pt>
                <c:pt idx="21">
                  <c:v>0.478774</c:v>
                </c:pt>
                <c:pt idx="22">
                  <c:v>0.418721</c:v>
                </c:pt>
                <c:pt idx="23">
                  <c:v>0.470669</c:v>
                </c:pt>
                <c:pt idx="24">
                  <c:v>0.46522</c:v>
                </c:pt>
                <c:pt idx="25">
                  <c:v>0.479187</c:v>
                </c:pt>
                <c:pt idx="26">
                  <c:v>0.464335</c:v>
                </c:pt>
                <c:pt idx="27">
                  <c:v>0.490611</c:v>
                </c:pt>
                <c:pt idx="28">
                  <c:v>0.443554</c:v>
                </c:pt>
                <c:pt idx="29">
                  <c:v>0.477822</c:v>
                </c:pt>
                <c:pt idx="30">
                  <c:v>0.452515</c:v>
                </c:pt>
                <c:pt idx="31">
                  <c:v>0.467338</c:v>
                </c:pt>
                <c:pt idx="32">
                  <c:v>0.413063</c:v>
                </c:pt>
                <c:pt idx="33">
                  <c:v>0.402067</c:v>
                </c:pt>
                <c:pt idx="34">
                  <c:v>0.414865</c:v>
                </c:pt>
                <c:pt idx="35">
                  <c:v>0.417458</c:v>
                </c:pt>
                <c:pt idx="36">
                  <c:v>0.453964</c:v>
                </c:pt>
                <c:pt idx="37">
                  <c:v>0.405091</c:v>
                </c:pt>
                <c:pt idx="38">
                  <c:v>0.420371</c:v>
                </c:pt>
                <c:pt idx="39">
                  <c:v>0.453505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融合前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融合后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M0.9-Pet37</c:v>
                </c:pt>
                <c:pt idx="2">
                  <c:v>M1.0</c:v>
                </c:pt>
                <c:pt idx="3">
                  <c:v>M1.1</c:v>
                </c:pt>
                <c:pt idx="4">
                  <c:v>M1.5</c:v>
                </c:pt>
                <c:pt idx="5">
                  <c:v>M2.3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7.684</c:v>
                </c:pt>
                <c:pt idx="1">
                  <c:v>7.555</c:v>
                </c:pt>
                <c:pt idx="2">
                  <c:v>10.404</c:v>
                </c:pt>
                <c:pt idx="3">
                  <c:v>10.929</c:v>
                </c:pt>
                <c:pt idx="4">
                  <c:v>18.437</c:v>
                </c:pt>
                <c:pt idx="5">
                  <c:v>34.41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M0.9-Pet37</c:v>
                </c:pt>
                <c:pt idx="2">
                  <c:v>M1.0</c:v>
                </c:pt>
                <c:pt idx="3">
                  <c:v>M1.1</c:v>
                </c:pt>
                <c:pt idx="4">
                  <c:v>M1.5</c:v>
                </c:pt>
                <c:pt idx="5">
                  <c:v>M2.3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8.488</c:v>
                </c:pt>
                <c:pt idx="1">
                  <c:v>8.16</c:v>
                </c:pt>
                <c:pt idx="2">
                  <c:v>11.37</c:v>
                </c:pt>
                <c:pt idx="3">
                  <c:v>11.993</c:v>
                </c:pt>
                <c:pt idx="4">
                  <c:v>19.756</c:v>
                </c:pt>
                <c:pt idx="5">
                  <c:v>35.48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M0.9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Sheet1!$A$2:$A$2</c:f>
              <c:numCache>
                <c:formatCode>General</c:formatCode>
                <c:ptCount val="1"/>
                <c:pt idx="0">
                  <c:v>7.684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68.7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M1.0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Sheet1!$A$5:$A$5</c:f>
              <c:numCache>
                <c:formatCode>General</c:formatCode>
                <c:ptCount val="1"/>
                <c:pt idx="0">
                  <c:v>10.404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69.2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M1.1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Sheet1!$A$8:$A$8</c:f>
              <c:numCache>
                <c:formatCode>General</c:formatCode>
                <c:ptCount val="1"/>
                <c:pt idx="0">
                  <c:v>10.929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70.8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M1.5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18.437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71.4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M2.3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34.41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73.6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t>P50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  <c:max val="74.0"/>
          <c:min val="68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Top-1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tools/plot_curves.py --runs baseline=outputs/logs/baseline_metrics.csv opt_combo=outputs/logs/opt_combo_metrics.csv --out outputs/curves/opt_compare.png</a:t>
            </a:r>
          </a:p>
          <a:p>
            <a:r>
              <a:t>元信息：模型 RepViT-M0.9（timm 实现，num_classes=37）；输入 224×224；训练 batch 64 / 评价 batch 128；硬件 RTX 4060 Laptop GPU（CUDA 12.6）；推理后端 PyTorch 2.14.0+cu126；精度 bf16 autocast（评价 FP32）；测试集 3669 张，评价次数 Baseline=1、组合=2（落盘 eval_count）。</a:t>
            </a:r>
          </a:p>
          <a:p>
            <a:r>
              <a:t>曲线直接来自 CSV；epoch 从 0 开始。Mixup/CutMix、Label Smoothing 影响 train loss，不直接把训练损失高低当作泛化优劣。</a:t>
            </a:r>
          </a:p>
          <a:p>
            <a:r>
              <a:t>单种子、同一测试集上的小差异不能证明统计显著或稳定提升。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tools/check_cm.py --pred-csv outputs/predictions/baseline_test_preds.csv --classes labels/pet_classes.txt --out-dir outputs/confusion_matrix</a:t>
            </a:r>
          </a:p>
          <a:p>
            <a:r>
              <a:t>左图按真实类别逐行归一化；中间柱状图是 37 类的每类 F1（数据源 outputs/confusion_matrix/baseline_per_class.csv）。</a:t>
            </a:r>
          </a:p>
          <a:p>
            <a:r>
              <a:t>正确的案例见第 11 页（8 张测试集预测）与第 10 页 Grad-CAM；本页只保留 2 个典型失败案例，不回避失败。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tools/gradcam.py --help</a:t>
            </a:r>
          </a:p>
          <a:p>
            <a:r>
              <a:t>挂载点与原始图生成配置见 outputs/gradcam/ 下的 JSON。</a:t>
            </a:r>
          </a:p>
          <a:p>
            <a:r>
              <a:t>外部实拍样本来自 ImageNet 跨集合图片，8/8 判对只是小样本观察，不能证明跨域泛化或没有过拟合。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tools/reparam_verify.py --model repvit_m0_9_pet37 --weights checkpoints/baseline_best.pt --num-samples 32 --batch-size 8 --seed 20240912 --skip-onnx --out-dir outputs/verification/reparam_pet37</a:t>
            </a:r>
          </a:p>
          <a:p>
            <a:r>
              <a:t>元信息：模型 RepViT-M0.9（num_classes=37）；输入 1×3×224×224；batch 8；n=32 个 torch.randn 固定输入（seed=20240912）；硬件 i7-13650HX / Windows 11；后端 PyTorch 2.14.0+cu126（CPU 侧 FP32 对比）；1 次完整对比。</a:t>
            </a:r>
          </a:p>
          <a:p>
            <a:r>
              <a:t>max_abs_err=7.092952728271484e-06；mean_abs_err=2.030726818702533e-06。32 个输入是 torch.randn，不是真实测试图片。</a:t>
            </a:r>
          </a:p>
          <a:p>
            <a:r>
              <a:t>权重 missing=0 / unexpected=0。BN 模块 107→0；ONNX 图的 BN 节点 24→0 是另一种统计，不可混用。</a:t>
            </a:r>
          </a:p>
          <a:p>
            <a:r>
              <a:t>历史官方 C=1000 报告存在权重键不匹配，不纳入结论；见 report/LOGITS_AUDIT.md。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deploy/compare_torch_onnx.py --model repvit_m0_9_pet37 --images datasets/lists/pet_test.txt --limit 12 --out outputs/verification/consistency_repvit_m0_9_pet37_n12.json</a:t>
            </a:r>
          </a:p>
          <a:p>
            <a:r>
              <a:t>元信息：输入 1×3×224×224；batch 1；硬件 i7-13650HX / Windows 11；后端 ONNX Runtime 1.30.0 CPUExecutionProvider；精度 FP32；入库的 5 个型号各 12 张真实图片、每张只跑一次。</a:t>
            </a:r>
          </a:p>
          <a:p>
            <a:r>
              <a:t>Pet-37 与 ImageNet 型号各自按固定列表顺序取前 12 张（图片列表从落盘 JSON 的 images 字段现读：imagenetv2_mf_1000.txt / pet_test.txt）；每张预处理一次，同一 numpy 张量送入两端。</a:t>
            </a:r>
          </a:p>
          <a:p>
            <a:r>
              <a:t>max=6.198883056640625e-06；mean=1.5006899711048998e-06；Top-1/Top-5 集合均 1.0（Pet-37）。</a:t>
            </a:r>
          </a:p>
          <a:p>
            <a:r>
              <a:t>5.25e-06 是未找到对应完整产物的旧引用；旧命令写 limit=8 不能证明该值来自 n=8。当前权重跑 n=8 也不能复现旧值。</a:t>
            </a:r>
          </a:p>
          <a:p>
            <a:r>
              <a:t>不是全测试集一致率，不验证两套预处理独立实现等价，也不能排除所有部署错误；只有入库的 5 个型号各 12 张，不代表全部六个 ONNX 型号（M2.3 因体积未入库，只做导出检查与性能结果）。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deploy/benchmark.py --model repvit_m0_9_in1k --model repvit_m0_9_pet37 --model repvit_m1_0_in1k --model repvit_m1_1_in1k --model repvit_m1_5_in1k --model repvit_m2_3_in1k --warmup 10 --runs 50 --threads 4 --out-dir outputs/verification/benchmarks</a:t>
            </a:r>
          </a:p>
          <a:p>
            <a:r>
              <a:t>元信息：6 个 ONNX 模型（M0.9 / M0.9-Pet37 / M1.0 / M1.1 / M1.5 / M2.3）；输入 1×3×224×224；batch 1；硬件 13th Gen Intel(R) Core(TM) i7-13650HX / Windows-11-10.0.26200-SP0；后端 ONNX Runtime 1.30.0 CPUExecutionProvider；精度 FP32；每个模型预热 10 次 + 正式 50 次（threads=4）。</a:t>
            </a:r>
          </a:p>
          <a:p>
            <a:r>
              <a:t>左图含六个部署模型，只比速度；右图只放 ImageNetV2 固定子集的五个官方型号（准确率来自 PyTorch，延迟来自 ONNX Runtime CPU）。</a:t>
            </a:r>
          </a:p>
          <a:p>
            <a:r>
              <a:t>P50 区间（同一台机器 / ORT CPU）：官方 ImageNet-1K 型号 7.68（M0.9） ~ 34.41（M2.3）ms；把自训练 Pet-37 也算进来时最小 7.55 ms。</a:t>
            </a:r>
          </a:p>
          <a:p>
            <a:r>
              <a:t>官方 iPhone 延迟与本机 CPU 延迟不可直接比较。性能数据是历史落盘值，现场新测会有波动。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【本页是合并页】试题第 16–17 页建议结构的「环节 2 RepViT 核心结构」与「环节 3 为什么 RepViT 不是标准 ViT」合并到同一页：左栏 = 环节 2，右栏 = 环节 3。合并原因：PPT 需控制在 15 页内，同时新增第 11 页「预测结果」承载试题第 10 页的三条可视化硬要求（≥8 张测试集预测 / ≥4 张同图对比 / ≥5 张训练集外实际图片）。</a:t>
            </a:r>
          </a:p>
          <a:p>
            <a:r>
              <a:t>题干 15 个建议环节的落点：1 题目与任务完成情况→P01–P02；2 RepViT 核心结构→P03 左栏；3 为什么不是标准 ViT→P03 右栏；4 官方多型号评价→P04；5 数据集和训练流程→P05；6 Baseline 结果→P06；7 优化假设与控制变量→P07；8 曲线和定量结果→P08；9 混淆矩阵与失败案例→P09；10 Grad-CAM 结果→P10；11 结构重参数化→P12；12 ONNX 多模型部署→P13；13 性能比较→P14；14 遇到的问题→P15；15 总结→P15。（P11 为新增页，对应试题第 10 页「必须提供的结果」里的预测可视化三条。）</a:t>
            </a:r>
          </a:p>
          <a:p>
            <a:r>
              <a:t>数据来源：python tools/draw_arch.py → outputs/architecture/repvit_m0_9_arch.png / .md；ONNX 算子直方图见 outputs/reparam/repvit_m0_9_onnx_nodes.json。形状由 forward hook 现测，非论文插图。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本页三个面板的出图命令：</a:t>
            </a:r>
          </a:p>
          <a:p>
            <a:r>
              <a:t>python tools/plot_predictions.py --pred-csv outputs/predictions/baseline_test_preds.csv --classes labels/pet_classes.txt --num 8 --cols 4 --out outputs/predictions/test_top5_baseline_grid8.png --tag baseline</a:t>
            </a:r>
          </a:p>
          <a:p>
            <a:r>
              <a:t>python tools/plot_side_by_side.py --pred-csv-a outputs/predictions/baseline_test_preds.csv --pred-csv-b outputs/predictions/opt_combo_test_preds.csv --name-a baseline --name-b opt_combo --num 4 --out outputs/predictions/compare_baseline_vs_opt_combo_grid4.png</a:t>
            </a:r>
          </a:p>
          <a:p>
            <a:r>
              <a:t>python tools/predict_external.py --model repvit_m0_9_pet37 --dir external --num 8  → outputs/benchmarks/external_top5_repvit_m0_9_pet37.csv</a:t>
            </a:r>
          </a:p>
          <a:p>
            <a:r>
              <a:t>python tools/plot_predictions.py --images external/*.JPEG --pred-csv outputs/benchmarks/external_top5_repvit_m0_9_pet37.csv --num 5 --out outputs/predictions/external_top5_pet37_grid5.png --tag pet37</a:t>
            </a:r>
          </a:p>
          <a:p>
            <a:r>
              <a:t>数据源：outputs/predictions/baseline_test_preds.csv（3669 行）、baseline_vs_opt_combo_predict_compare.json、pet_compare_ids.json、outputs/benchmarks/external_top5_repvit_m0_9_pet37.csv、distribution_compare_summary.csv。</a:t>
            </a:r>
          </a:p>
          <a:p>
            <a:r>
              <a:t>同图对比按 image_id 做 inner join（不能按行号对齐）；外部图片没有 GT，只看 Top-5 与置信度。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封面数字的口径：68.70% = ImageNetV2 matched-frequency 固定子集 1000 张（PyTorch 2.14.0+cu126 / CUDA / batch 64；与 ImageNet-1K 公布值不可比）；92.34% = Pet-37 test 3669 张（Baseline 的 test 只评价 1 次，eval_count=1）；7.093e-06 = 结构重参数化 B4（32 个固定随机输入，outputs/reparam/repvit_m0_9_pet37_reparam_report.json）；100% = PyTorch↔ONNX B1（Pet-37 前 12 张真实图片）。重参数化误差与 ONNX 一致率是两批实验，不并成一句结论。</a:t>
            </a:r>
          </a:p>
          <a:p>
            <a:r>
              <a:t>逐条依据与桶分级见 report/LOGITS_AUDIT_FINDINGS.md 第 1 节。</a:t>
            </a:r>
          </a:p>
          <a:p>
            <a:r>
              <a:t>口径纪律：ImageNetV2 是 Recht et al. 2019 独立重采样的测试集，其准确率与论文/官方公布的 ImageNet-1K 数值不可直接比较（低 10~15 个点是基准性质）。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六个环节卡片对应试题基础任务 1–6 的交付物；卡片里每行末尾是落盘路径。</a:t>
            </a:r>
          </a:p>
          <a:p>
            <a:r>
              <a:t>口径边界（试题第 16–17 页要求区分：论文 / 官方仓库 / 官方权重实跑 / 自训 Baseline / 优化模型 / PyTorch / ONNX）：卡片 01 是官方权重实跑，02/03/05 是自训结果，05 是 PyTorch 侧重参数化，06 是 ONNX 部署与性能。</a:t>
            </a:r>
          </a:p>
          <a:p>
            <a:r>
              <a:t>ONNX 一致性只有入库的 5 个型号（M0.9-Pet37 / M0.9 / M1.0 / M1.1 / M1.5）各 12 张的落盘 JSON，其余型号不做一致性声明（不含 5.25e-06 旧引用，该值无配套产物）。</a:t>
            </a:r>
          </a:p>
          <a:p>
            <a:r>
              <a:t>test 评价次数：Baseline 的 test 只评价 1 次；4 个优化臂跨重跑累计为 2 次，模型选择始终只用验证集 val_macro_f1，两次结果均落盘可查。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复跑：python tools/run_all_pretrained.py --cfg configs/pretrained_eval.yaml --model repvit_m0_9 repvit_m1_0 repvit_m1_1 repvit_m1_5 repvit_m2_3</a:t>
            </a:r>
          </a:p>
          <a:p>
            <a:r>
              <a:t>元信息：模型 5 个官方型号；输入 224×224；batch 64；硬件 NVIDIA GeForce RTX 4060 Laptop GPU；后端 PyTorch 2.14.0+cu126（CUDA）；精度 FP32；每型号评价次数 1 次（1000 张）。</a:t>
            </a:r>
          </a:p>
          <a:p>
            <a:r>
              <a:t>口径纪律：ImageNetV2 是 Recht et al. 2019 独立重采样的测试集，其准确率与 ImageNet-1K 的公布值不可直接比较（预期低 10~15 个点是基准性质，不是模型退化）；因此本页只报本机实测，不做跨数据集并列或差值。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repvit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repvit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3.xml"/><Relationship Id="rId6" Type="http://schemas.openxmlformats.org/officeDocument/2006/relationships/chart" Target="../charts/chart2.xml"/><Relationship Id="rId7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Line 2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4" name="Line 4"/>
            <p:cNvSpPr/>
            <p:nvPr/>
          </p:nvSpPr>
          <p:spPr>
            <a:xfrm>
              <a:off x="9334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11" name="Group 11"/>
          <p:cNvGrpSpPr/>
          <p:nvPr/>
        </p:nvGrpSpPr>
        <p:grpSpPr>
          <a:xfrm>
            <a:off x="9448800" y="381000"/>
            <a:ext cx="2438400" cy="2438400"/>
            <a:chOff x="9448800" y="381000"/>
            <a:chExt cx="2438400" cy="2438400"/>
          </a:xfrm>
        </p:grpSpPr>
        <p:sp>
          <p:nvSpPr>
            <p:cNvPr id="6" name="Ellipse 6"/>
            <p:cNvSpPr/>
            <p:nvPr/>
          </p:nvSpPr>
          <p:spPr>
            <a:xfrm>
              <a:off x="9448800" y="381000"/>
              <a:ext cx="2438400" cy="2438400"/>
            </a:xfrm>
            <a:prstGeom prst="ellipse">
              <a:avLst/>
            </a:pr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848850" y="781050"/>
              <a:ext cx="1638300" cy="1638300"/>
            </a:xfrm>
            <a:prstGeom prst="ellipse">
              <a:avLst/>
            </a:prstGeom>
            <a:noFill/>
            <a:ln w="19050">
              <a:solidFill>
                <a:srgbClr val="24406B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534650" y="1466850"/>
              <a:ext cx="266700" cy="266700"/>
            </a:xfrm>
            <a:prstGeom prst="ellipse">
              <a:avLst/>
            </a:prstGeom>
            <a:solidFill>
              <a:srgbClr val="35D0F0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Line 9"/>
            <p:cNvSpPr/>
            <p:nvPr/>
          </p:nvSpPr>
          <p:spPr>
            <a:xfrm>
              <a:off x="9448800" y="16002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  <p:sp>
          <p:nvSpPr>
            <p:cNvPr id="10" name="Line 10"/>
            <p:cNvSpPr/>
            <p:nvPr/>
          </p:nvSpPr>
          <p:spPr>
            <a:xfrm>
              <a:off x="10668000" y="381000"/>
              <a:ext cx="9525" cy="2438400"/>
            </a:xfrm>
            <a:custGeom>
              <a:avLst/>
              <a:gdLst/>
              <a:ahLst/>
              <a:cxnLst/>
              <a:rect l="l" t="t" r="r" b="b"/>
              <a:pathLst>
                <a:path w="9525" h="2438400">
                  <a:moveTo>
                    <a:pt x="0" y="0"/>
                  </a:moveTo>
                  <a:lnTo>
                    <a:pt x="0" y="243840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</p:grpSp>
      <p:grpSp>
        <p:nvGrpSpPr>
          <p:cNvPr id="15" name="Group 15"/>
          <p:cNvGrpSpPr/>
          <p:nvPr/>
        </p:nvGrpSpPr>
        <p:grpSpPr>
          <a:xfrm>
            <a:off x="896874" y="1299210"/>
            <a:ext cx="7256526" cy="1860613"/>
            <a:chOff x="896874" y="1299210"/>
            <a:chExt cx="7256526" cy="1860613"/>
          </a:xfrm>
        </p:grpSpPr>
        <p:sp>
          <p:nvSpPr>
            <p:cNvPr id="12" name="TextBox 12"/>
            <p:cNvSpPr txBox="1"/>
            <p:nvPr/>
          </p:nvSpPr>
          <p:spPr>
            <a:xfrm>
              <a:off x="908304" y="1299210"/>
              <a:ext cx="2590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spc="30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REPVIT REPRODUCTION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6874" y="1894522"/>
              <a:ext cx="5256705" cy="12653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RepViT 轻量图像分类模型</a:t>
              </a:r>
              <a:br/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复现、优化与多模型部署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14400" y="3143250"/>
              <a:ext cx="7239000" cy="9525"/>
            </a:xfrm>
            <a:custGeom>
              <a:avLst/>
              <a:gdLst/>
              <a:ahLst/>
              <a:cxnLst/>
              <a:rect l="l" t="t" r="r" b="b"/>
              <a:pathLst>
                <a:path w="7239000" h="9525">
                  <a:moveTo>
                    <a:pt x="0" y="0"/>
                  </a:moveTo>
                  <a:lnTo>
                    <a:pt x="7239000" y="0"/>
                  </a:lnTo>
                </a:path>
              </a:pathLst>
            </a:custGeom>
            <a:noFill/>
            <a:ln w="28575">
              <a:solidFill>
                <a:srgbClr val="35D0F0"/>
              </a:solidFill>
            </a:ln>
          </p:spPr>
          <p:txBody>
            <a:bodyPr/>
            <a:p/>
          </p:txBody>
        </p:sp>
      </p:grpSp>
      <p:grpSp>
        <p:nvGrpSpPr>
          <p:cNvPr id="18" name="Group 18"/>
          <p:cNvGrpSpPr/>
          <p:nvPr/>
        </p:nvGrpSpPr>
        <p:grpSpPr>
          <a:xfrm>
            <a:off x="906780" y="3171825"/>
            <a:ext cx="6102096" cy="971931"/>
            <a:chOff x="906780" y="3171825"/>
            <a:chExt cx="6102096" cy="971931"/>
          </a:xfrm>
        </p:grpSpPr>
        <p:sp>
          <p:nvSpPr>
            <p:cNvPr id="16" name="TextBox 16"/>
            <p:cNvSpPr txBox="1"/>
            <p:nvPr/>
          </p:nvSpPr>
          <p:spPr>
            <a:xfrm>
              <a:off x="906780" y="3171825"/>
              <a:ext cx="40110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2026 秋 one 团队 AI 算法组考核 · 答辩汇报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3604260"/>
              <a:ext cx="6100572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RepViT: Revisiting Mobile CNN From ViT Perspective · CVPR 2024 · arXiv:2307.09283</a:t>
              </a:r>
              <a:br/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99922" y="5334000"/>
            <a:ext cx="10377678" cy="879634"/>
            <a:chOff x="899922" y="5334000"/>
            <a:chExt cx="10377678" cy="879634"/>
          </a:xfrm>
        </p:grpSpPr>
        <p:sp>
          <p:nvSpPr>
            <p:cNvPr id="19" name="Line 19"/>
            <p:cNvSpPr/>
            <p:nvPr/>
          </p:nvSpPr>
          <p:spPr>
            <a:xfrm>
              <a:off x="914400" y="5334000"/>
              <a:ext cx="10363200" cy="9525"/>
            </a:xfrm>
            <a:custGeom>
              <a:avLst/>
              <a:gdLst/>
              <a:ahLst/>
              <a:cxnLst/>
              <a:rect l="l" t="t" r="r" b="b"/>
              <a:pathLst>
                <a:path w="10363200" h="9525">
                  <a:moveTo>
                    <a:pt x="0" y="0"/>
                  </a:moveTo>
                  <a:lnTo>
                    <a:pt x="103632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899922" y="5483542"/>
              <a:ext cx="1505282" cy="730092"/>
              <a:chOff x="899922" y="5483542"/>
              <a:chExt cx="1505282" cy="730092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999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68.70%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08685" y="5993606"/>
                <a:ext cx="149651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ImageNetV2 固定子集 Top-1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414522" y="5483542"/>
              <a:ext cx="1438932" cy="730092"/>
              <a:chOff x="3414522" y="5483542"/>
              <a:chExt cx="1438932" cy="730092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34145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423285" y="5993606"/>
                <a:ext cx="13608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Pet-37 test Top-1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929122" y="5483542"/>
              <a:ext cx="1579930" cy="730092"/>
              <a:chOff x="5929122" y="5483542"/>
              <a:chExt cx="1579930" cy="730092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5929122" y="5483542"/>
                <a:ext cx="1579930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7.093e-06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937885" y="5993606"/>
                <a:ext cx="15428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结构重参数化（32 随机输入）max|Δ|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443722" y="5483542"/>
              <a:ext cx="1903948" cy="730092"/>
              <a:chOff x="8443722" y="5483542"/>
              <a:chExt cx="1903948" cy="730092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8443722" y="5483542"/>
                <a:ext cx="99579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100%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452485" y="5993606"/>
                <a:ext cx="189518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ONNX 一致（入库 5 型号各 12 张）</a:t>
                </a:r>
              </a:p>
            </p:txBody>
          </p:sp>
        </p:grpSp>
      </p:grpSp>
      <p:sp>
        <p:nvSpPr>
          <p:cNvPr id="33" name="TextBox 32"/>
          <p:cNvSpPr txBox="1"/>
          <p:nvPr/>
        </p:nvSpPr>
        <p:spPr>
          <a:xfrm>
            <a:off x="896112" y="6327648"/>
            <a:ext cx="10378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B6C5DC"/>
                </a:solidFill>
                <a:latin typeface="Microsoft YaHei"/>
              </a:defRPr>
            </a:pPr>
            <a:r>
              <a:t>口径分开：结构重参数化 = 32 个固定随机输入（max|Δ| 7.093e-06，Top-1 32/32）；ONNX 一致性 = 入库的 5 个型号（M0.9-Pet37 / M0.9 / M1.0 / M1.1 / M1.5）各 12 张真实图片（第 13 页，5 份 n=12 落盘），只覆盖这些图片，不代表全部六个 ONNX 型号（M2.3 未入库）。旧的 5.25e-06 未找到配套产物。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43878"/>
            <a:ext cx="10833354" cy="799147"/>
            <a:chOff x="672846" y="5438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43878"/>
              <a:ext cx="77934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六个考核环节全部交付，34 条验收项自检 0 失败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1032510"/>
              <a:ext cx="54643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运行 → 迁移 → 优化 → 可视化 → 重参数化 → 部署，每个数字都可在仓库中溯源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333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1676400"/>
            <a:ext cx="3409950" cy="1981200"/>
            <a:chOff x="685800" y="1676400"/>
            <a:chExt cx="3409950" cy="1981200"/>
          </a:xfrm>
        </p:grpSpPr>
        <p:sp>
          <p:nvSpPr>
            <p:cNvPr id="6" name="Rectangle 6"/>
            <p:cNvSpPr/>
            <p:nvPr/>
          </p:nvSpPr>
          <p:spPr>
            <a:xfrm>
              <a:off x="6858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77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250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官方模型评价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334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27354" y="278511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5 个型号 · ImageNetV2 1000 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7354" y="3051810"/>
              <a:ext cx="1548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M0.9 Top-1 68.70%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8116" y="3334702"/>
              <a:ext cx="1805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outputs/pretrained_eval/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381500" y="1676400"/>
            <a:ext cx="3409950" cy="1981200"/>
            <a:chOff x="4381500" y="1676400"/>
            <a:chExt cx="3409950" cy="1981200"/>
          </a:xfrm>
        </p:grpSpPr>
        <p:sp>
          <p:nvSpPr>
            <p:cNvPr id="14" name="Rectangle 14"/>
            <p:cNvSpPr/>
            <p:nvPr/>
          </p:nvSpPr>
          <p:spPr>
            <a:xfrm>
              <a:off x="43815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6234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20768" y="2260282"/>
              <a:ext cx="16678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迁移训练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46291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23054" y="2785110"/>
              <a:ext cx="15821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Pet 37 类 · 40 epoch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3054" y="3051810"/>
              <a:ext cx="1485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test Top-1 92.34%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23816" y="3334702"/>
              <a:ext cx="2081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checkpoints/baseline_best.pt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1676400"/>
            <a:ext cx="3429000" cy="1981200"/>
            <a:chOff x="8077200" y="1676400"/>
            <a:chExt cx="3429000" cy="1981200"/>
          </a:xfrm>
        </p:grpSpPr>
        <p:sp>
          <p:nvSpPr>
            <p:cNvPr id="22" name="Rectangle 22"/>
            <p:cNvSpPr/>
            <p:nvPr/>
          </p:nvSpPr>
          <p:spPr>
            <a:xfrm>
              <a:off x="8077200" y="16764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191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164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控制变量优化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24850" y="26098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18754" y="2785110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4 方案 + 3 组消融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18754" y="3051810"/>
              <a:ext cx="1480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C857"/>
                  </a:solidFill>
                  <a:latin typeface="Consolas"/>
                  <a:ea typeface="Microsoft YaHei"/>
                  <a:cs typeface="Consolas"/>
                </a:rPr>
                <a:t>7 份配置 DIFF PASS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9516" y="3334702"/>
              <a:ext cx="1367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configs/opt_*.yaml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3848100"/>
            <a:ext cx="3409950" cy="1981200"/>
            <a:chOff x="685800" y="3848100"/>
            <a:chExt cx="3409950" cy="1981200"/>
          </a:xfrm>
        </p:grpSpPr>
        <p:sp>
          <p:nvSpPr>
            <p:cNvPr id="30" name="Rectangle 30"/>
            <p:cNvSpPr/>
            <p:nvPr/>
          </p:nvSpPr>
          <p:spPr>
            <a:xfrm>
              <a:off x="6858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277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5068" y="443198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可视化与可解释性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334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7354" y="4956810"/>
              <a:ext cx="23302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五条曲线 · 混淆矩阵 · Grad-CAM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7354" y="5223510"/>
              <a:ext cx="15064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跨物种错误仅 3.56%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81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outputs/gradcam/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381500" y="3848100"/>
            <a:ext cx="3409950" cy="1981200"/>
            <a:chOff x="4381500" y="3848100"/>
            <a:chExt cx="3409950" cy="1981200"/>
          </a:xfrm>
        </p:grpSpPr>
        <p:sp>
          <p:nvSpPr>
            <p:cNvPr id="38" name="Rectangle 38"/>
            <p:cNvSpPr/>
            <p:nvPr/>
          </p:nvSpPr>
          <p:spPr>
            <a:xfrm>
              <a:off x="43815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6234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20768" y="44319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结构重参数化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291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23054" y="4956810"/>
              <a:ext cx="21467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BN 107 → 0 · Conv 126 → 103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23054" y="5223510"/>
              <a:ext cx="23221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max|Δ| 7.093e-06 · 32/32 一致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238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outputs/reparam/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77200" y="3848100"/>
            <a:ext cx="3429000" cy="1981200"/>
            <a:chOff x="8077200" y="3848100"/>
            <a:chExt cx="3429000" cy="1981200"/>
          </a:xfrm>
        </p:grpSpPr>
        <p:sp>
          <p:nvSpPr>
            <p:cNvPr id="46" name="Rectangle 46"/>
            <p:cNvSpPr/>
            <p:nvPr/>
          </p:nvSpPr>
          <p:spPr>
            <a:xfrm>
              <a:off x="8077200" y="38481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83191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16468" y="4431982"/>
              <a:ext cx="19142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ONNX 多模型部署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7815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8318754" y="4956810"/>
              <a:ext cx="16337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6 个 ONNX · ORT CPU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18754" y="5223510"/>
              <a:ext cx="14194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P50 7.68 ~ 34.41 ms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19516" y="550640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onnx/*.onnx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466" y="6057900"/>
            <a:ext cx="10831068" cy="358711"/>
            <a:chOff x="680466" y="6057900"/>
            <a:chExt cx="10831068" cy="358711"/>
          </a:xfrm>
        </p:grpSpPr>
        <p:sp>
          <p:nvSpPr>
            <p:cNvPr id="54" name="Line 54"/>
            <p:cNvSpPr/>
            <p:nvPr/>
          </p:nvSpPr>
          <p:spPr>
            <a:xfrm>
              <a:off x="685800" y="6057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80466" y="6211252"/>
              <a:ext cx="73289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范围声明：不做第八章拓展任务（INT8 量化 / 知识蒸馏 / 剪枝 / 多随机种子 / 边缘部署 / 核心模块独立实现）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2112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</p:grpSp>
      <p:sp>
        <p:nvSpPr>
          <p:cNvPr id="58" name="TextBox 57"/>
          <p:cNvSpPr txBox="1"/>
          <p:nvPr/>
        </p:nvSpPr>
        <p:spPr>
          <a:xfrm>
            <a:off x="676656" y="6446520"/>
            <a:ext cx="10835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口径与边界：PyTorch 与 ONNX 的 Top-1 一致率只测了入库的 5 个型号（M0.9-Pet37 / M0.9 / M1.0 / M1.1 / M1.5）各 12 张（均为 100%）；其余型号（M2.3 未入库）只有导出检查与性能结果，不做同口径一致性声明。重参数化 7.093e-06 来自 32 个固定随机输入，与上面这批 ONNX 实验不是同一批。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E6EDF7"/>
                </a:solidFill>
                <a:latin typeface="Microsoft YaHei"/>
              </a:defRPr>
            </a:pPr>
            <a:r>
              <a:t>M0.9 是纯卷积流水线：名字里有 ViT，结构里没有注意力算子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环节 2 + 环节 3 合并页 · 左：M0.9 结构（形状由 forward hook 现测）；右：标准 ViT 与 RepViT 逐项对应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数据来源：outputs/architecture/repvit_m0_9_arch.md/.png（python tools/draw_arch.py）· outputs/reparam/repvit_m0_9_onnx_nodes.json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左栏 · 环节 2：M0.9 是一条纯卷积流水线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349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输入　224×224×3 RGB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Stem　conv1 3×3 s2 → 24ch 112×112；conv2 3×3 s2 → 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0　2 × RepViT Block　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1　2 × RepViT Block　96ch 28×28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2　14 × RepViT Block　192ch 14×14（Block 最多）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3　2 × RepViT Block　384ch 7×7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GAP → 384 维　Head RepVitClassifier（NormLinear）→ 37 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68496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单个 RepViT Block 内部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5349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空间混合（Token Mixer）：RepVGGDW = 3×3 dw + 1×1 dw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通道混合（Channel Mixer）：1×1 升维 → GELU → 1×1 降维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残差连接；SE 只放在部分 Block（全局池化有真实延迟）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训练态：3×3 dw 分支 + 1×1 dw 分支，各自带 BatchNorm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推理态：BN 折进卷积核后相加 → 单个 3×3 depthwise 卷积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48D9AE"/>
                </a:solidFill>
                <a:latin typeface="Microsoft YaHei"/>
              </a:defRPr>
            </a:pPr>
            <a:r>
              <a:t>一句话：整条链路只有卷积 / GELU / 池化，没有注意力；名字里的 ViT 说的是宏观架构选择。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81328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右栏 · 环节 3：标准 ViT 与 RepViT 的对应关系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80760" y="1792224"/>
          <a:ext cx="5623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57400"/>
                <a:gridCol w="2651760"/>
              </a:tblGrid>
              <a:tr h="335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环节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标准 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空间混合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Multi-Head Self-Attention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RepVGGDW（3×3 dw + 1×1 dw）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通道混合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MLP / FFN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Channel Mixer（1×1→GELU）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下采样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patchify（stride=16 大核）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Early Conv Stem（两组 stride=2）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归纳偏置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弱，依赖大数据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强（卷积自带局部性 / 平移等变）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ONNX 图内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MatMul + Softmax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无注意力算子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4114800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E6EDF7"/>
                </a:solidFill>
                <a:latin typeface="Microsoft YaHei"/>
              </a:defRPr>
            </a:pPr>
            <a:r>
              <a:t>实证：onnx/*.onnx 的算子直方图里只有 Conv / Gemm / Add / Mul / Div / Clip / Relu，没有 MatMul + Softmax 这一对注意力算子组合（outputs/reparam/repvit_m0_9_onnx_nodes.json）。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4828032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四个关键设计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5138928"/>
            <a:ext cx="5623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① 分离 Token / Channel Mixer —— 空间与通道容量可独立调节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② 扩张比降到约 2 并同时加宽 —— 省下的 MACs 换成通道数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③ SE 不做每块都放 —— 全局池化的延迟不可忽略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④ 简单分类头 —— 单个 BN + Linear，省真实延迟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M0.9 实测：20 个 Block，按 Stage 分布 [2, 2, 14, 2]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官方权重在 ImageNetV2 固定子集上的实际表现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5 个官方型号 · ImageNetV2 matched-frequency 固定子集 1000 张（1000 类各 1 张，确定性选取）· 224×224 · batch 64 · FP32 · NVIDIA GeForce RTX 4060 Laptop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数据来源：outputs/pretrained_eval/&lt;model&gt;/metrics.json（Top-1/Top-5/参数量/MACs/文件大小）· 清单 datasets/lists/imagenetv2_mf_1000.txt（SHA-256 见 report/IMAGENETV2_PROVENANCE.md）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54480"/>
          <a:ext cx="76809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1188720"/>
                <a:gridCol w="1188720"/>
                <a:gridCol w="1188720"/>
              </a:tblGrid>
              <a:tr h="3886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型号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参数量 (M)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MACs (G)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文件大小 (MB)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5.067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0.847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21.38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68.70%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85.70%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6.810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1.143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28.30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69.20%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86.40%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8.244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1.377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34.02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70.80%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87.20%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14.050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2.340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56.62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71.40%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89.00%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M2.3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22.927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4.626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91.42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73.60%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89.90%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49640" y="15727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预处理口径必须标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1901952"/>
            <a:ext cx="3063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crop_pct = 0.875 → Resize(256) + CenterCrop(224)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crop_pct = 0.95 → Resize(235) + CenterCrop(224)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M0.9：68.70 / 68.30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M1.0：69.20 / 69.40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两套口径差 0.2~1.9 个点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41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必须声明的口径边界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70832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ImageNetV2 是独立重采样的测试集，不代表论文完整 ImageNet-1K 验证集结果；本页 Top-1/Top-5 与论文/官方的 ImageNet-1K 公布值不可直接比较。</a:t>
            </a:r>
          </a:p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清单固定可复现：1000 类各 1 张、按类目录内文件名 sorted() 取第一个、无随机种子（datasets/lists/imagenetv2_mf_1000.txt）。</a:t>
            </a:r>
          </a:p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参数量取「融合后单头」口径；MACs 取 thop「未融合」口径（不乘 2）；官方 iPhone 12 延迟（0.9 / 1.0 ms）与本机结果不可横向比较，延迟口径见第 14 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6071616"/>
            <a:ext cx="10835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元信息补全：推理后端 PyTorch 2.14.0+cu126（CUDA，逐型号评价）；测试次数：主口径 crop_pct=0.875 每型号评价次数 1 次（1000 张），另有 crop_pct=0.95 口径对照 1 次（仅额外推断，两套口径结果不可比）。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793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两套数据两套标签，三层划分零泄漏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6988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类与 1000 类必须分别使用各自的标签文件；混用会让 Top-5 名称整体错乱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1600200"/>
            <a:ext cx="6667500" cy="2552700"/>
            <a:chOff x="685800" y="1600200"/>
            <a:chExt cx="6667500" cy="25527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552700"/>
            </a:xfrm>
            <a:prstGeom prst="roundRect">
              <a:avLst>
                <a:gd name="adj" fmla="val 3731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4412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Oxford-IIIT Pet 划分（唯一划分脚本，seed=42）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2" name="Group 12"/>
            <p:cNvGrpSpPr/>
            <p:nvPr/>
          </p:nvGrpSpPr>
          <p:grpSpPr>
            <a:xfrm>
              <a:off x="952500" y="2266950"/>
              <a:ext cx="1905000" cy="533400"/>
              <a:chOff x="952500" y="2266950"/>
              <a:chExt cx="1905000" cy="5334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952500" y="22669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439423" y="2393156"/>
                <a:ext cx="93115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trainval.txt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302" y="25917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3680 行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3238500" y="2266950"/>
              <a:ext cx="1714500" cy="533400"/>
              <a:chOff x="3238500" y="2266950"/>
              <a:chExt cx="1714500" cy="533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32385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569863" y="2393156"/>
                <a:ext cx="1051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pet_train.txt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404864" y="2591752"/>
                <a:ext cx="138177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2940 行 · 每类 73~80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5334000" y="2266950"/>
              <a:ext cx="1714500" cy="533400"/>
              <a:chOff x="5334000" y="2266950"/>
              <a:chExt cx="1714500" cy="5334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3340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748289" y="2393156"/>
                <a:ext cx="88592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pet_val.txt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4499" y="2591752"/>
                <a:ext cx="135350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740 行 · 每类恰好 20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952500" y="3105150"/>
              <a:ext cx="1905000" cy="533400"/>
              <a:chOff x="952500" y="3105150"/>
              <a:chExt cx="1905000" cy="5334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952500" y="31051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567581" y="3231356"/>
                <a:ext cx="67483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test.txt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652302" y="34299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3669 行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238500" y="3105150"/>
              <a:ext cx="1714500" cy="533400"/>
              <a:chOff x="3238500" y="3105150"/>
              <a:chExt cx="1714500" cy="5334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238500" y="31051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FDB9B"/>
                </a:solidFill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592479" y="3231356"/>
                <a:ext cx="100654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pet_test.txt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365992" y="3429952"/>
                <a:ext cx="14595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3669 行 · 每类 88~100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47166" y="3239452"/>
              <a:ext cx="5901111" cy="776859"/>
              <a:chOff x="947166" y="3239452"/>
              <a:chExt cx="5901111" cy="776859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5328666" y="3239452"/>
                <a:ext cx="107080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C857"/>
                    </a:solidFill>
                    <a:latin typeface="Microsoft YaHei"/>
                    <a:ea typeface="Microsoft YaHei"/>
                    <a:cs typeface="Microsoft YaHei"/>
                  </a:rPr>
                  <a:t>Baseline 的 test 只评价 1 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328666" y="3429952"/>
                <a:ext cx="99305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eval_count = 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7166" y="3810952"/>
                <a:ext cx="59011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官方 CLASS-ID 是 1-based，0-based 标签 = CLASS-ID − 1；类名用 rsplit('_', 1) 取前缀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7658100" y="1600200"/>
            <a:ext cx="3848100" cy="2552700"/>
            <a:chOff x="7658100" y="1600200"/>
            <a:chExt cx="3848100" cy="2552700"/>
          </a:xfrm>
        </p:grpSpPr>
        <p:sp>
          <p:nvSpPr>
            <p:cNvPr id="34" name="Rectangle 34"/>
            <p:cNvSpPr/>
            <p:nvPr/>
          </p:nvSpPr>
          <p:spPr>
            <a:xfrm>
              <a:off x="7658100" y="1600200"/>
              <a:ext cx="3848100" cy="2552700"/>
            </a:xfrm>
            <a:prstGeom prst="roundRect">
              <a:avLst>
                <a:gd name="adj" fmla="val 3731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1797368"/>
              <a:ext cx="2332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泄漏检查（三层 + 内容级）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035" y="2297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文件名交集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14355" y="22898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035" y="2640806"/>
              <a:ext cx="1469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MD5 交集（防改名）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14355" y="26327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00035" y="29837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孤儿图误入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605" y="2975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00035" y="33266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划分内部重复图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63605" y="3318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7905750" y="36576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7900416" y="3830002"/>
              <a:ext cx="23924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python datasets/audit_leakage.py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85800" y="4343400"/>
            <a:ext cx="10820400" cy="1714500"/>
            <a:chOff x="685800" y="4343400"/>
            <a:chExt cx="10820400" cy="1714500"/>
          </a:xfrm>
        </p:grpSpPr>
        <p:sp>
          <p:nvSpPr>
            <p:cNvPr id="48" name="Rectangle 48"/>
            <p:cNvSpPr/>
            <p:nvPr/>
          </p:nvSpPr>
          <p:spPr>
            <a:xfrm>
              <a:off x="685800" y="4343400"/>
              <a:ext cx="10820400" cy="1714500"/>
            </a:xfrm>
            <a:prstGeom prst="roundRect">
              <a:avLst>
                <a:gd name="adj" fmla="val 555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945642" y="45405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官方数据事实基线（全部实测）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48196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941832" y="4954905"/>
              <a:ext cx="1118540" cy="585406"/>
              <a:chOff x="941832" y="4954905"/>
              <a:chExt cx="1118540" cy="585406"/>
            </a:xfrm>
          </p:grpSpPr>
          <p:sp>
            <p:nvSpPr>
              <p:cNvPr id="51" name="TextBox 51"/>
              <p:cNvSpPr txBox="1"/>
              <p:nvPr/>
            </p:nvSpPr>
            <p:spPr>
              <a:xfrm>
                <a:off x="9418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7390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47166" y="5334952"/>
                <a:ext cx="111320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images/ 下的 jpg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32582" y="4954905"/>
              <a:ext cx="1203350" cy="585406"/>
              <a:chOff x="3132582" y="4954905"/>
              <a:chExt cx="1203350" cy="58540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313258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3680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137916" y="5334952"/>
                <a:ext cx="11980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trainval.txt 行数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5323332" y="4954905"/>
              <a:ext cx="963054" cy="585406"/>
              <a:chOff x="5323332" y="4954905"/>
              <a:chExt cx="963054" cy="58540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53233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3669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5328666" y="5334952"/>
                <a:ext cx="9577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test.txt 行数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7514082" y="4954905"/>
              <a:ext cx="1015740" cy="585406"/>
              <a:chOff x="7514082" y="4954905"/>
              <a:chExt cx="1015740" cy="58540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514082" y="4954905"/>
                <a:ext cx="10157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12 / 25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519416" y="5334952"/>
                <a:ext cx="9223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猫 / 狗 类别数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04832" y="4954905"/>
              <a:ext cx="1164159" cy="585406"/>
              <a:chOff x="9704832" y="4954905"/>
              <a:chExt cx="1164159" cy="58540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9704832" y="4954905"/>
                <a:ext cx="116415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1-based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10166" y="5334952"/>
                <a:ext cx="97398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 CLASS-ID</a:t>
                </a:r>
              </a:p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947166" y="5715952"/>
              <a:ext cx="6215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官方不存在 train.txt / val.txt，只有 trainval.txt 与 test.txt；train/val 必须自行分层切分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68" name="Line 6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69" name="TextBox 69"/>
            <p:cNvSpPr txBox="1"/>
            <p:nvPr/>
          </p:nvSpPr>
          <p:spPr>
            <a:xfrm>
              <a:off x="680847" y="6371749"/>
              <a:ext cx="72131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数据来源：outputs/metrics/leakage_check.json · dataset_report.json · pet_label_audit.json · split_audit.json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6671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40 epoch 迁移训练把 test Top-1 做到 92.34%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996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AdamW · cosine + 3ep warmup · Label Smoothing 0.1 · bf16 autocast · batch 64 · seed 42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685800" y="1600200"/>
            <a:ext cx="6667500" cy="2076450"/>
            <a:chOff x="685800" y="1600200"/>
            <a:chExt cx="6667500" cy="20764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2780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测试集（3669 张，只评价一次）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1" name="Group 11"/>
            <p:cNvGrpSpPr/>
            <p:nvPr/>
          </p:nvGrpSpPr>
          <p:grpSpPr>
            <a:xfrm>
              <a:off x="934974" y="2351722"/>
              <a:ext cx="1741865" cy="756762"/>
              <a:chOff x="934974" y="2351722"/>
              <a:chExt cx="1741865" cy="756762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349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4678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 Accuracy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3125724" y="2351722"/>
              <a:ext cx="1741865" cy="756762"/>
              <a:chOff x="3125724" y="2351722"/>
              <a:chExt cx="1741865" cy="756762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312572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99.26%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13753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Top-5 Accuracy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316474" y="2351722"/>
              <a:ext cx="1741865" cy="756762"/>
              <a:chOff x="5316474" y="2351722"/>
              <a:chExt cx="1741865" cy="756762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53164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92.22%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5328285" y="2888456"/>
                <a:ext cx="7180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Macro-F1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947166" y="3296602"/>
              <a:ext cx="4399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验证集（740 张）best 选模依据 val_macro_f1 = 0.9462 @ epoch 34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58100" y="1600200"/>
            <a:ext cx="3848100" cy="2076450"/>
            <a:chOff x="7658100" y="1600200"/>
            <a:chExt cx="3848100" cy="2076450"/>
          </a:xfrm>
        </p:grpSpPr>
        <p:sp>
          <p:nvSpPr>
            <p:cNvPr id="20" name="Rectangle 20"/>
            <p:cNvSpPr/>
            <p:nvPr/>
          </p:nvSpPr>
          <p:spPr>
            <a:xfrm>
              <a:off x="7658100" y="1600200"/>
              <a:ext cx="384810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7898892" y="17973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训练检查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900035" y="229790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骨干确实被训练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94880" y="2306002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706 张量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00035" y="2621756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其中骨干张量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36231" y="2629852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699 个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00035" y="2945606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Baseline 的 test 只评价 1 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55637" y="2953702"/>
              <a:ext cx="9082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eval_count=1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00035" y="32694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权重加载无异常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20299" y="3277552"/>
              <a:ext cx="9435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unexpected=0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3867150"/>
            <a:ext cx="10820400" cy="2190750"/>
            <a:chOff x="685800" y="3867150"/>
            <a:chExt cx="10820400" cy="2190750"/>
          </a:xfrm>
        </p:grpSpPr>
        <p:sp>
          <p:nvSpPr>
            <p:cNvPr id="32" name="Rectangle 32"/>
            <p:cNvSpPr/>
            <p:nvPr/>
          </p:nvSpPr>
          <p:spPr>
            <a:xfrm>
              <a:off x="685800" y="3867150"/>
              <a:ext cx="10820400" cy="2190750"/>
            </a:xfrm>
            <a:prstGeom prst="roundRect">
              <a:avLst>
                <a:gd name="adj" fmla="val 434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45642" y="4064318"/>
              <a:ext cx="3076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1000 类 → 37 类：怎么做、差异在哪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52500" y="43434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946785" y="4564856"/>
              <a:ext cx="3550691" cy="1280255"/>
              <a:chOff x="946785" y="4564856"/>
              <a:chExt cx="3550691" cy="128025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946785" y="45648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正确做法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47166" y="4858702"/>
                <a:ext cx="293663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timm.create_model(..., num_classes=37,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087302"/>
                <a:ext cx="12799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distillation=False)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392102"/>
                <a:ext cx="355031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保留分类头的 BN 统计量（与类别数无关的迁移先验）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7166" y="5639752"/>
                <a:ext cx="316346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missing = 2（仅换头后的 Linear weight / bias）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905500" y="4552950"/>
              <a:ext cx="5334000" cy="1333500"/>
              <a:chOff x="5905500" y="4552950"/>
              <a:chExt cx="5334000" cy="13335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5905500" y="4552950"/>
                <a:ext cx="5334000" cy="1333500"/>
              </a:xfrm>
              <a:prstGeom prst="roundRect">
                <a:avLst>
                  <a:gd name="adj" fmla="val 5714"/>
                </a:avLst>
              </a:prstGeom>
              <a:solidFill>
                <a:srgbClr val="1F1114"/>
              </a:solidFill>
              <a:ln w="9525">
                <a:solidFill>
                  <a:srgbClr val="FF6B6B"/>
                </a:solidFill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147435" y="47363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FF6B6B"/>
                    </a:solidFill>
                    <a:latin typeface="Microsoft YaHei"/>
                    <a:ea typeface="Microsoft YaHei"/>
                    <a:cs typeface="Microsoft YaHei"/>
                  </a:rPr>
                  <a:t>禁止做法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147816" y="5030152"/>
                <a:ext cx="191890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model.reset_classifier(37)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147816" y="5315902"/>
                <a:ext cx="353768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会丢掉 head.head.bn 的统计量；distillation=False 时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147816" y="5544502"/>
                <a:ext cx="297903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head_dist 属性被整体删除，后续断言必然失败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421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数据来源：outputs/metrics/baseline_test.json · backbone_updated.json · weight_load_report.json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四组优化各有假设，控制变量由工具强制校验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6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Baseline 有两个问题：样本仅 2940 张而参数 473 万（过拟合风险）；主干前期被大学习率推离预训练解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1600200"/>
            <a:ext cx="5391150" cy="1238250"/>
            <a:chOff x="685800" y="1600200"/>
            <a:chExt cx="5391150" cy="12382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6592" y="1778318"/>
              <a:ext cx="991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B 混合增强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60501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3 个差异键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27735" y="2107406"/>
              <a:ext cx="329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Mixup α=0.2 + CutMix α=1.0，每个 batch 都做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7735" y="237410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假设：混合两张图片与标签，尝试减少对训练样本的记忆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8116" y="2629852"/>
              <a:ext cx="20390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代价：需要更多 epoch 才能收敛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53150" y="1600200"/>
            <a:ext cx="5353050" cy="1238250"/>
            <a:chOff x="6153150" y="1600200"/>
            <a:chExt cx="5353050" cy="1238250"/>
          </a:xfrm>
        </p:grpSpPr>
        <p:sp>
          <p:nvSpPr>
            <p:cNvPr id="13" name="Rectangle 13"/>
            <p:cNvSpPr/>
            <p:nvPr/>
          </p:nvSpPr>
          <p:spPr>
            <a:xfrm>
              <a:off x="6153150" y="160020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6393942" y="177831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C 加强数据增强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6766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8 个差异键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5085" y="2107406"/>
              <a:ext cx="3808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RandAugment(n=2, m=9) + RRC scale 下限 0.35→0.25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95085" y="2374106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假设：覆盖旋转 / 剪切 / 色调变换，减少对局部纹理的依赖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95466" y="2629852"/>
              <a:ext cx="17775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风险：2940 张下容易过增强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5800" y="2990850"/>
            <a:ext cx="5391150" cy="1238250"/>
            <a:chOff x="685800" y="2990850"/>
            <a:chExt cx="5391150" cy="1238250"/>
          </a:xfrm>
        </p:grpSpPr>
        <p:sp>
          <p:nvSpPr>
            <p:cNvPr id="20" name="Rectangle 20"/>
            <p:cNvSpPr/>
            <p:nvPr/>
          </p:nvSpPr>
          <p:spPr>
            <a:xfrm>
              <a:off x="685800" y="299085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26592" y="316896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D 差异化学习率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05014" y="3201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1 个差异键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7735" y="349805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主干倍率 0.1 → 0.05（有效 lr 1e-4 → 5e-5）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7735" y="376475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假设：新头快速收敛，让主干更新幅度更小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8116" y="4020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代价：训练曲线整体右移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153150" y="2990850"/>
            <a:ext cx="5353050" cy="1238250"/>
            <a:chOff x="6153150" y="2990850"/>
            <a:chExt cx="5353050" cy="1238250"/>
          </a:xfrm>
        </p:grpSpPr>
        <p:sp>
          <p:nvSpPr>
            <p:cNvPr id="27" name="Rectangle 27"/>
            <p:cNvSpPr/>
            <p:nvPr/>
          </p:nvSpPr>
          <p:spPr>
            <a:xfrm>
              <a:off x="6153150" y="299085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7304A"/>
            </a:solidFill>
            <a:ln w="19050">
              <a:solidFill>
                <a:srgbClr val="35D0F0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3942" y="3168968"/>
              <a:ext cx="2604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A 组合式（基础任务所选项）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89921" y="3201352"/>
              <a:ext cx="773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12 个差异键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498056"/>
              <a:ext cx="1007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 + C + D 全开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764756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假设：三者机制互补，前段更稳 + 末段更高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5466" y="402050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风险：正则叠加会延长收敛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4381500"/>
            <a:ext cx="10820400" cy="1809750"/>
            <a:chOff x="685800" y="4381500"/>
            <a:chExt cx="10820400" cy="1809750"/>
          </a:xfrm>
        </p:grpSpPr>
        <p:sp>
          <p:nvSpPr>
            <p:cNvPr id="34" name="Rectangle 34"/>
            <p:cNvSpPr/>
            <p:nvPr/>
          </p:nvSpPr>
          <p:spPr>
            <a:xfrm>
              <a:off x="685800" y="4381500"/>
              <a:ext cx="10820400" cy="1809750"/>
            </a:xfrm>
            <a:prstGeom prst="roundRect">
              <a:avLst>
                <a:gd name="adj" fmla="val 526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45642" y="4578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控制变量不是靠自觉，而是可执行校验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952500" y="48577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1" name="Group 41"/>
            <p:cNvGrpSpPr/>
            <p:nvPr/>
          </p:nvGrpSpPr>
          <p:grpSpPr>
            <a:xfrm>
              <a:off x="946785" y="5060156"/>
              <a:ext cx="6366077" cy="1039178"/>
              <a:chOff x="946785" y="5060156"/>
              <a:chExt cx="6366077" cy="1039178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946785" y="5060156"/>
                <a:ext cx="562023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python tools/diff_config.py configs/baseline.yaml configs/opt_combo.yaml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6785" y="5345906"/>
                <a:ext cx="477590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叶子级比对，实际差异键必须与配置声明的 _expected_diff_ 逐项一致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6785" y="5612606"/>
                <a:ext cx="4026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7 份配置全部 DIFF PASS（3 / 8 / 1 / 12 / 8 / 1 / 9 键）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46785" y="5879306"/>
                <a:ext cx="63660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python tools/same_budget.py → total_iters_equal=True（8 组均为 40 epoch × 45 step）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0" y="5048250"/>
              <a:ext cx="2857500" cy="952500"/>
              <a:chOff x="8382000" y="5048250"/>
              <a:chExt cx="2857500" cy="952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8382000" y="504825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8604885" y="51935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保持不变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605647" y="5457349"/>
                <a:ext cx="1764543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数据划分 · 预训练权重 · 种子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605647" y="5666899"/>
                <a:ext cx="189647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训练预算 · 评价方式 · 选模标准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863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数据来源：configs/opt_*.yaml 的 _expected_diff_ · outputs/metrics/{check_opt_diff,same_budget}.json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训练曲线：两组都收敛，组合方案未提高测试准确率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· Pet-37 · 输入 224×224 · batch 64 · NVIDIA GeForce RTX 4060 Laptop GPU · PyTorch 2.14.0+cu126（bf16 autocast）· 曲线共用坐标范围 · test 评价次数 Baseline 1 / 组合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来源：outputs/logs/{baseline,opt_combo}_metrics.csv；outputs/metrics/{baseline,opt_combo}_test.json；outputs/logs/*_test_eval_count.json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训练损失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52544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验证损失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52544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56448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Top-1 (%)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8156448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Macro-F1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352544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学习率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352544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165592" y="37947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测试集结果（3669 张）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165592" y="4197096"/>
          <a:ext cx="3474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</a:tblGrid>
              <a:tr h="3086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组合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92.34%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92.12%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99.26%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99.59%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Macro-F1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92.22%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92.01%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65592" y="5577840"/>
            <a:ext cx="34747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前几轮提升最快，后段逐渐稳定。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软标签改变 train loss，不能直接横比。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单种子结果不足以判断稳定提升。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错在哪里：多数是同物种内的品种混淆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Pet-37 test · 3669 张 · PyTorch 2.14.0+cu126 / CUDA / FP32 / 224×224 / 每张只推理一次 · 左：行归一化混淆矩阵；中：每类 F1 柱状图；右：失败案例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来源：outputs/confusion_matrix/{baseline_cm.png,baseline_per_class.csv,baseline_per_class_f1.png,baseline_cat_dog_block.json}；outputs/predictions/case_wrong_baseline_case*.png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09</a:t>
            </a:r>
          </a:p>
        </p:txBody>
      </p:sp>
      <p:pic>
        <p:nvPicPr>
          <p:cNvPr id="6" name="Picture 5" descr="baseline_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8749"/>
            <a:ext cx="3977639" cy="3638829"/>
          </a:xfrm>
          <a:prstGeom prst="rect">
            <a:avLst/>
          </a:prstGeom>
        </p:spPr>
      </p:pic>
      <p:pic>
        <p:nvPicPr>
          <p:cNvPr id="7" name="Picture 6" descr="baseline_per_class_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59062"/>
            <a:ext cx="2743200" cy="3478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60020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281 个错误中，10 个跨猫狗物种（3.56%），其余 271 个是同物种品种判断错误。</a:t>
            </a:r>
          </a:p>
        </p:txBody>
      </p:sp>
      <p:pic>
        <p:nvPicPr>
          <p:cNvPr id="9" name="Picture 8" descr="case_wrong_baseline_case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867230"/>
            <a:ext cx="1920240" cy="931514"/>
          </a:xfrm>
          <a:prstGeom prst="rect">
            <a:avLst/>
          </a:prstGeom>
        </p:spPr>
      </p:pic>
      <p:pic>
        <p:nvPicPr>
          <p:cNvPr id="10" name="Picture 9" descr="case_wrong_baseline_case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2894056"/>
            <a:ext cx="1920240" cy="8778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4315968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E6EDF7"/>
                </a:solidFill>
                <a:latin typeface="Microsoft YaHei"/>
              </a:defRPr>
            </a:pPr>
            <a:r>
              <a:t>上面两张是失败案例：相似外形、遮挡和背景都会影响判断；热力图只能用来检查线索，不能仅凭它确定因果。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66928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48D9AE"/>
                </a:solidFill>
                <a:latin typeface="Microsoft YaHei"/>
              </a:defRPr>
            </a:pPr>
            <a:r>
              <a:t>每类 F1：最低 0.696（Staffordshire Bull Terrier），最高 0.995（Japanese Chin）；37 类 Macro-F1 = 92.22%（数据源 baseline_per_class.csv）。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59436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48D9AE"/>
                </a:solidFill>
                <a:latin typeface="Microsoft YaHei"/>
              </a:defRPr>
            </a:pPr>
            <a:r>
              <a:t>下一步：补充容易混淆的品种（上面这类）和不同拍摄角度。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Grad-CAM：同时看判对和判错的图片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挂载 stages[-1].blocks[-1] · 原图 / 热力图 / 叠加图 · PyTorch 2.14.0+cu126 / CUDA / FP32 / 224×224 / 每张只推理一次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来源：outputs/gradcam/gradcam_{correct,wrong}_baseline_*.png；实拍图片的完整 Top-5 见第 11 页（outputs/predictions/external_top5_pet37_grid5.png）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正确：Bengal</a:t>
            </a:r>
          </a:p>
        </p:txBody>
      </p:sp>
      <p:pic>
        <p:nvPicPr>
          <p:cNvPr id="7" name="Picture 6" descr="gradcam_correct_baseline_Bengal_30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756" y="1929384"/>
            <a:ext cx="1389888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正确：Russian Blue</a:t>
            </a:r>
          </a:p>
        </p:txBody>
      </p:sp>
      <p:pic>
        <p:nvPicPr>
          <p:cNvPr id="9" name="Picture 8" descr="gradcam_correct_baseline_Russian_Blue_205_corr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196" y="1929384"/>
            <a:ext cx="1389888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失败：Boxer</a:t>
            </a:r>
          </a:p>
        </p:txBody>
      </p:sp>
      <p:pic>
        <p:nvPicPr>
          <p:cNvPr id="11" name="Picture 10" descr="gradcam_wrong_baseline_boxer_2_wr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756" y="3849624"/>
            <a:ext cx="1389888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失败：Egyptian Mau</a:t>
            </a:r>
          </a:p>
        </p:txBody>
      </p:sp>
      <p:pic>
        <p:nvPicPr>
          <p:cNvPr id="13" name="Picture 12" descr="gradcam_wrong_baseline_Egyptian_Mau_204_wr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6196" y="3849624"/>
            <a:ext cx="1389888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57424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关注到主体 ≠ 品种一定判断正确。热力图用于检查线索，仍要结合失败案例和完整测试集（3669 张）。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预测结果：8 张测试集 + 4 组同图对比 + 5 张实拍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= RepViT-M0.9 Pet-37（test Top-1 92.34%）· 逐张 Top-5 类别与置信度 · 每个面板下方标注该面板自己的推理口径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来源：outputs/predictions/{baseline_test_preds,cases_test_baseline}.csv · baseline_vs_opt_combo_predict_compare.json · outputs/benchmarks/external_top5_repvit_m0_9_pet37.csv · distribution_compare_summary.csv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① 同图对比 4 组</a:t>
            </a:r>
          </a:p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Baseline vs 组合方案</a:t>
            </a:r>
          </a:p>
        </p:txBody>
      </p:sp>
      <p:pic>
        <p:nvPicPr>
          <p:cNvPr id="7" name="Picture 6" descr="compare_baseline_vs_opt_combo_gri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65" y="1956816"/>
            <a:ext cx="2042829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882896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按 image_id 配对（不按行号）；全测试集里两模型预测不同的有 142 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落盘 JSON 另抽的 4 张两组都判对（both_correct=4、fixed_by_opt=0、broken_by_opt=0）——同图对比要看有差异的样本。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6304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② 测试集预测 8 张（Top-5 类别 + 置信度）</a:t>
            </a:r>
          </a:p>
        </p:txBody>
      </p:sp>
      <p:pic>
        <p:nvPicPr>
          <p:cNvPr id="10" name="Picture 9" descr="test_top5_baseline_gri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5189" y="1737360"/>
            <a:ext cx="7345821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11880" y="3328416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取测试列表顺序前 8 张（Abyssinian_2 … Abyssinian_207）：8/8 判对，Top-1 置信度 0.508 ~ 0.900；顺序取样，不是挑出来的好例子。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84048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③ 训练集以外的实拍图片 5 张（Top-5 类别 + 置信度）</a:t>
            </a:r>
          </a:p>
        </p:txBody>
      </p:sp>
      <p:pic>
        <p:nvPicPr>
          <p:cNvPr id="13" name="Picture 12" descr="external_top5_pet37_grid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2083" y="4114800"/>
            <a:ext cx="7972032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11880" y="4846320"/>
            <a:ext cx="8092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Top-1 置信度（图从左到右）：Beagle 0.903、Boxer 0.643、Chihuahua 0.680、Great Pyrenees 0.869、Newfoundland 0.771 —— 5 张都判到对应品种。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最低的 Boxer 只有 0.643：置信度低不等于判错，反过来高置信度也不保证一定可靠。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外部实拍共 8 张，本页展示按文件名排序的前 5 张（试题要求 ≥5 张）；没有 GT（真值），只看 Top-5 与置信度，不报准确率。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数据集 vs 外部图片的分布差异：短边均值 348 → 381 px，亮度均值 0.455 → 0.503，背景复杂度 0.478 → 0.593；分布不同，不能直接比准确率。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口径：ONNX Runtime 1.30.0 CPUExecutionProvider / FP32 / batch 1 / 224×224 / i7-13650HX / 每张只推理一次。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重参数化：合并分支后，误差仍在设定阈值内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Pet-37（baseline_best.pt）· 1×3×224×224 · batch 8 · n=32 · i7-13650HX CPU · PyTorch 2.14.0+cu126 / FP32 · 1 次融合前后对比 · seed=20240912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来源：outputs/reparam/repvit_m0_9_pet37_reparam_report.json；本页是 32 个固定随机输入的重参数化实验，与第 13 页 n=12 真实图片的 ONNX 实验分开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PyTorch 模块数量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956816"/>
            <a:ext cx="5486400" cy="2935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1956816"/>
          <a:ext cx="5486400" cy="29352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83080"/>
          <a:ext cx="51206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953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数值验证（32 个固定随机输入）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7.093e-06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2.031e-06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一致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32 / 32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 最小交集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 / 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阈值 / 判定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max &lt; 1e-4 / PASS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436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做法：把 BN 的均值方差折进卷积核，再把 3×3、1×1 与 identity 三条分支的核相加，必须在 eval() 之后做。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54126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看到：32 个固定随机输入 max|Δlogits| = 7.093e-06（&lt; 1e-4 阈值），Top-1 32/32 一致，BN 模块 107 → 0。</a:t>
            </a:r>
          </a:p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还不能说明：这是代数等价的替换 + 已测输入 + 设定阈值，不是位级完全相等，也不代表所有输入都如此。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PyTorch ↔ ONNX：固定 n=12，比较同一输入张量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原模型 vs 融合后 ONNX · ORT 1.30.0 CPUExecutionProvider · FP32 · batch 1 · 1×3×224×224 · i7-13650HX / Windows 11 · 入库的 5 个型号各 12 张真实图片 · 每张只跑一次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来源：outputs/metrics/consistency_{repvit_m0_9_pet37,repvit_m0_9_in1k,repvit_m1_0_in1k,repvit_m1_1_in1k,repvit_m1_5_in1k}.json（入库 5 个型号各 n=12）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72768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548640"/>
                <a:gridCol w="2194560"/>
                <a:gridCol w="2194560"/>
                <a:gridCol w="26974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模型 / 输入列表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n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/ 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Pet-37 / pet_test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6.199e-06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1.501e-06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1.383e-05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2.334e-06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1.335e-05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2.215e-06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M1.1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1.860e-05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2.219e-06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M1.5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1.144e-05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1.876e-06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319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1  重参数化 7.093e-06（32 个随机输入）是第 12 页的另一批实验，不与本页并成一句结论。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2  部署预处理由 PIL 独立实现；本次对比把同一张量送入两个推理后端，因此这里不比预处理实现。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3  结论仅覆盖每型号这 12 张图片：不能说成完整测试集，也不能说成全部六个模型一致。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4  旧的 5.25e-06 缺少对应完整记录，当前统一引用上表落盘值（4 位有效数字）。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96128"/>
            <a:ext cx="1097280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复跑：python deploy/compare_torch_onnx.py --model repvit_m0_9_pet37 --limit 12</a:t>
            </a:r>
          </a:p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完整命令、固定列表与输出路径已写入本页备注和 report/LOGITS_AUDIT.md。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部署怎么选：先看同一机器上的延迟和准确率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型号：M0.9 / M0.9-Pet37 / M1.0 / M1.1 / M1.5 / M2.3 · 输入 1×3×224×224 · batch 1 · i7-13650HX · ORT 1.30.0 CPUExecutionProvider · FP32 · 预热 10 + 正式 50 次 · threads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来源：outputs/benchmarks/summary.csv（含 cpu_model / os / ort_version / warmup / runs / threads 全字段）；outputs/pretrained_eval/&lt;model&gt;/metrics.json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六个 ONNX 模型的推理耗时 (ms)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02536"/>
            <a:ext cx="5532120" cy="3300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2002536"/>
          <a:ext cx="5532120" cy="33009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46520" y="1691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ImageNetV2 固定子集（1000 张）：速度与准确率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011680"/>
            <a:ext cx="512064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011680"/>
          <a:ext cx="5120640" cy="3246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360" y="534924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右图只放 ImageNetV2 固定子集的五个官方型号，看的是「多花多少毫秒换多少点准确率」。更大模型的额外耗时，需要结合使用场景判断。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右图元信息：准确率来自 PyTorch 2.14.0+cu126（64 batch / cuda / fp32）在 ImageNetV2 固定子集（同一 1000 张）上的评价；延迟来自本机 ONNX Runtime CPU（batch 1）。两者口径不同，只做参考。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428750"/>
            <a:ext cx="12192000" cy="4295775"/>
            <a:chOff x="0" y="1428750"/>
            <a:chExt cx="12192000" cy="4295775"/>
          </a:xfrm>
        </p:grpSpPr>
        <p:sp>
          <p:nvSpPr>
            <p:cNvPr id="2" name="Line 2"/>
            <p:cNvSpPr/>
            <p:nvPr/>
          </p:nvSpPr>
          <p:spPr>
            <a:xfrm>
              <a:off x="0" y="142875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8" name="Group 8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5" name="TextBox 5"/>
            <p:cNvSpPr txBox="1"/>
            <p:nvPr/>
          </p:nvSpPr>
          <p:spPr>
            <a:xfrm>
              <a:off x="672846" y="505778"/>
              <a:ext cx="83161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复现链路完整、数字可溯源、控制变量有工程化校验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9704" y="994410"/>
              <a:ext cx="6239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34 条验收项自检 0 失败；代码零写死绝对路径；关键数字与实验口径见 outputs/ 和审计说明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1600200"/>
            <a:ext cx="10820400" cy="1866900"/>
            <a:chOff x="685800" y="1600200"/>
            <a:chExt cx="10820400" cy="18669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10820400" cy="1866900"/>
            </a:xfrm>
            <a:prstGeom prst="roundRect">
              <a:avLst>
                <a:gd name="adj" fmla="val 5102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45642" y="179736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三个最有代表性的问题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52500" y="20764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46785" y="2278856"/>
              <a:ext cx="5107210" cy="461105"/>
              <a:chOff x="946785" y="2278856"/>
              <a:chExt cx="5107210" cy="461105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46785" y="22788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423035" y="2278856"/>
                <a:ext cx="326815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官方 .pth 与 timm 键名交集为 0（713 vs 389）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423416" y="2534602"/>
                <a:ext cx="463057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实测两条路线权重逐位相同（同进程同权重对比，max|Δlogits| = 0），省去手写键转换器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850356"/>
              <a:ext cx="5751957" cy="461105"/>
              <a:chOff x="946785" y="2850356"/>
              <a:chExt cx="5751957" cy="46110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785" y="28503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23035" y="2850356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data/provided/ 在 29 页试题 PDF 中从未定义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423416" y="3106102"/>
                <a:ext cx="527532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改判为结构性偏差：改用官方归档构建的 ImageNetV2 固定子集与 Oxford-IIIT Pet，并在 README 与报告中显式声明</a:t>
                </a:r>
              </a:p>
            </p:txBody>
          </p:sp>
        </p:grpSp>
      </p:grpSp>
      <p:grpSp>
        <p:nvGrpSpPr>
          <p:cNvPr id="25" name="Group 25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21" name="Rectangle 21"/>
            <p:cNvSpPr/>
            <p:nvPr/>
          </p:nvSpPr>
          <p:spPr>
            <a:xfrm>
              <a:off x="685800" y="3581400"/>
              <a:ext cx="10820400" cy="876300"/>
            </a:xfrm>
            <a:prstGeom prst="roundRect">
              <a:avLst>
                <a:gd name="adj" fmla="val 10870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7838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23035" y="3783806"/>
              <a:ext cx="5522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早停导致训练预算不等价（opt_mix 25 epoch vs baseline 40 epoch，差 37.5%）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23416" y="4058602"/>
              <a:ext cx="66258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处置：统一关闭早停，8 组实验全部 40 epoch 满预算；把预算等价性固化成可执行检查 same_budget.py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4648200"/>
            <a:ext cx="6667500" cy="1638300"/>
            <a:chOff x="685800" y="4648200"/>
            <a:chExt cx="66675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648200"/>
              <a:ext cx="66675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45642" y="48453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结论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52500" y="5124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46785" y="5307806"/>
              <a:ext cx="42062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RepViT 确为纯卷积；M0.9 在 ImageNetV2 固定子集上实测 68.70%（与 ImageNet-1K 公布值不可比）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785" y="5555456"/>
              <a:ext cx="36328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Pet-37 test Top-1 92.34%（跨物种错误仅 3.56%）；四项优化未显示稳定提升，需多种子实验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5803106"/>
              <a:ext cx="3619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③ 重参数化（32 个固定随机输入）max|Δ| = 7.093e-06，Top-1 32/32 一致（与下面 ONNX 实验分列）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6050756"/>
              <a:ext cx="36073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④ ONNX 一致性（Pet-37，n=12 真实图片）max|Δ| = 6.199e-06，Top-1/Top-5 集合一致率 100%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58100" y="4648200"/>
            <a:ext cx="3848100" cy="1638300"/>
            <a:chOff x="7658100" y="4648200"/>
            <a:chExt cx="3848100" cy="1638300"/>
          </a:xfrm>
        </p:grpSpPr>
        <p:sp>
          <p:nvSpPr>
            <p:cNvPr id="34" name="Rectangle 34"/>
            <p:cNvSpPr/>
            <p:nvPr/>
          </p:nvSpPr>
          <p:spPr>
            <a:xfrm>
              <a:off x="7658100" y="4648200"/>
              <a:ext cx="38481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48453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后续计划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5124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416" y="5315902"/>
              <a:ext cx="26019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INT8 量化 / 知识蒸馏（M2.3 → M0.9）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00416" y="55635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集显后端（本机无集显，需换设备）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416" y="5811202"/>
              <a:ext cx="23629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置信度校准（实测温度 T = 0.615）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00416" y="6058852"/>
              <a:ext cx="2660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七类鲁棒性扰动已跑，可扩展 severity 级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401752"/>
            <a:ext cx="10830687" cy="205359"/>
            <a:chOff x="680466" y="6401752"/>
            <a:chExt cx="10830687" cy="205359"/>
          </a:xfrm>
        </p:grpSpPr>
        <p:sp>
          <p:nvSpPr>
            <p:cNvPr id="42" name="TextBox 42"/>
            <p:cNvSpPr txBox="1"/>
            <p:nvPr/>
          </p:nvSpPr>
          <p:spPr>
            <a:xfrm>
              <a:off x="680466" y="6401752"/>
              <a:ext cx="2985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94109" y="6409849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感谢聆听 · 敬请提问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repvit-defense">
  <a:themeElements>
    <a:clrScheme name="repvit-defens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repvit-defens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pvit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2026-09-13T09:34:54Z</dcterms:created>
  <dcterms:modified xsi:type="dcterms:W3CDTF">2026-09-13T09:34:54Z</dcterms:modified>
  <cp:category/>
  <cp:contentStatus/>
</cp:coreProperties>
</file>