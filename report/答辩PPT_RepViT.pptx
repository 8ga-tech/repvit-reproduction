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3.650064</c:v>
                </c:pt>
                <c:pt idx="1">
                  <c:v>3.340333</c:v>
                </c:pt>
                <c:pt idx="2">
                  <c:v>2.417484</c:v>
                </c:pt>
                <c:pt idx="3">
                  <c:v>1.399619</c:v>
                </c:pt>
                <c:pt idx="4">
                  <c:v>1.065965</c:v>
                </c:pt>
                <c:pt idx="5">
                  <c:v>0.958617</c:v>
                </c:pt>
                <c:pt idx="6">
                  <c:v>0.913994</c:v>
                </c:pt>
                <c:pt idx="7">
                  <c:v>0.883491</c:v>
                </c:pt>
                <c:pt idx="8">
                  <c:v>0.850445</c:v>
                </c:pt>
                <c:pt idx="9">
                  <c:v>0.838216</c:v>
                </c:pt>
                <c:pt idx="10">
                  <c:v>0.818988</c:v>
                </c:pt>
                <c:pt idx="11">
                  <c:v>0.80327</c:v>
                </c:pt>
                <c:pt idx="12">
                  <c:v>0.797152</c:v>
                </c:pt>
                <c:pt idx="13">
                  <c:v>0.782725</c:v>
                </c:pt>
                <c:pt idx="14">
                  <c:v>0.785338</c:v>
                </c:pt>
                <c:pt idx="15">
                  <c:v>0.781938</c:v>
                </c:pt>
                <c:pt idx="16">
                  <c:v>0.773129</c:v>
                </c:pt>
                <c:pt idx="17">
                  <c:v>0.770628</c:v>
                </c:pt>
                <c:pt idx="18">
                  <c:v>0.762286</c:v>
                </c:pt>
                <c:pt idx="19">
                  <c:v>0.756404</c:v>
                </c:pt>
                <c:pt idx="20">
                  <c:v>0.759709</c:v>
                </c:pt>
                <c:pt idx="21">
                  <c:v>0.75677</c:v>
                </c:pt>
                <c:pt idx="22">
                  <c:v>0.750825</c:v>
                </c:pt>
                <c:pt idx="23">
                  <c:v>0.751612</c:v>
                </c:pt>
                <c:pt idx="24">
                  <c:v>0.746871</c:v>
                </c:pt>
                <c:pt idx="25">
                  <c:v>0.745619</c:v>
                </c:pt>
                <c:pt idx="26">
                  <c:v>0.740717</c:v>
                </c:pt>
                <c:pt idx="27">
                  <c:v>0.746159</c:v>
                </c:pt>
                <c:pt idx="28">
                  <c:v>0.741716</c:v>
                </c:pt>
                <c:pt idx="29">
                  <c:v>0.739014</c:v>
                </c:pt>
                <c:pt idx="30">
                  <c:v>0.73751</c:v>
                </c:pt>
                <c:pt idx="31">
                  <c:v>0.736745</c:v>
                </c:pt>
                <c:pt idx="32">
                  <c:v>0.733911</c:v>
                </c:pt>
                <c:pt idx="33">
                  <c:v>0.739235</c:v>
                </c:pt>
                <c:pt idx="34">
                  <c:v>0.739688</c:v>
                </c:pt>
                <c:pt idx="35">
                  <c:v>0.733909</c:v>
                </c:pt>
                <c:pt idx="36">
                  <c:v>0.733532</c:v>
                </c:pt>
                <c:pt idx="37">
                  <c:v>0.729967</c:v>
                </c:pt>
                <c:pt idx="38">
                  <c:v>0.731419</c:v>
                </c:pt>
                <c:pt idx="39">
                  <c:v>0.736097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3.644843</c:v>
                </c:pt>
                <c:pt idx="1">
                  <c:v>3.465572</c:v>
                </c:pt>
                <c:pt idx="2">
                  <c:v>2.997306</c:v>
                </c:pt>
                <c:pt idx="3">
                  <c:v>2.375531</c:v>
                </c:pt>
                <c:pt idx="4">
                  <c:v>1.950906</c:v>
                </c:pt>
                <c:pt idx="5">
                  <c:v>1.955643</c:v>
                </c:pt>
                <c:pt idx="6">
                  <c:v>1.775409</c:v>
                </c:pt>
                <c:pt idx="7">
                  <c:v>1.709704</c:v>
                </c:pt>
                <c:pt idx="8">
                  <c:v>1.833871</c:v>
                </c:pt>
                <c:pt idx="9">
                  <c:v>1.691916</c:v>
                </c:pt>
                <c:pt idx="10">
                  <c:v>1.780054</c:v>
                </c:pt>
                <c:pt idx="11">
                  <c:v>1.637641</c:v>
                </c:pt>
                <c:pt idx="12">
                  <c:v>1.640945</c:v>
                </c:pt>
                <c:pt idx="13">
                  <c:v>1.709644</c:v>
                </c:pt>
                <c:pt idx="14">
                  <c:v>1.626981</c:v>
                </c:pt>
                <c:pt idx="15">
                  <c:v>1.542563</c:v>
                </c:pt>
                <c:pt idx="16">
                  <c:v>1.554269</c:v>
                </c:pt>
                <c:pt idx="17">
                  <c:v>1.500675</c:v>
                </c:pt>
                <c:pt idx="18">
                  <c:v>1.533797</c:v>
                </c:pt>
                <c:pt idx="19">
                  <c:v>1.695746</c:v>
                </c:pt>
                <c:pt idx="20">
                  <c:v>1.681996</c:v>
                </c:pt>
                <c:pt idx="21">
                  <c:v>1.600051</c:v>
                </c:pt>
                <c:pt idx="22">
                  <c:v>1.576141</c:v>
                </c:pt>
                <c:pt idx="23">
                  <c:v>1.488927</c:v>
                </c:pt>
                <c:pt idx="24">
                  <c:v>1.551476</c:v>
                </c:pt>
                <c:pt idx="25">
                  <c:v>1.55356</c:v>
                </c:pt>
                <c:pt idx="26">
                  <c:v>1.555999</c:v>
                </c:pt>
                <c:pt idx="27">
                  <c:v>1.699456</c:v>
                </c:pt>
                <c:pt idx="28">
                  <c:v>1.548116</c:v>
                </c:pt>
                <c:pt idx="29">
                  <c:v>1.515924</c:v>
                </c:pt>
                <c:pt idx="30">
                  <c:v>1.605627</c:v>
                </c:pt>
                <c:pt idx="31">
                  <c:v>1.607826</c:v>
                </c:pt>
                <c:pt idx="32">
                  <c:v>1.442644</c:v>
                </c:pt>
                <c:pt idx="33">
                  <c:v>1.420347</c:v>
                </c:pt>
                <c:pt idx="34">
                  <c:v>1.553397</c:v>
                </c:pt>
                <c:pt idx="35">
                  <c:v>1.413508</c:v>
                </c:pt>
                <c:pt idx="36">
                  <c:v>1.483258</c:v>
                </c:pt>
                <c:pt idx="37">
                  <c:v>1.38146</c:v>
                </c:pt>
                <c:pt idx="38">
                  <c:v>1.490589</c:v>
                </c:pt>
                <c:pt idx="39">
                  <c:v>1.528419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0"/>
      </c:catAx>
      <c:valAx>
        <c:axId val="2140495176"/>
        <c:scaling>
          <c:max val="4.0"/>
          <c:min val="0.0"/>
        </c:scaling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3.646849</c:v>
                </c:pt>
                <c:pt idx="1">
                  <c:v>2.877319</c:v>
                </c:pt>
                <c:pt idx="2">
                  <c:v>1.318459</c:v>
                </c:pt>
                <c:pt idx="3">
                  <c:v>0.514603</c:v>
                </c:pt>
                <c:pt idx="4">
                  <c:v>0.403145</c:v>
                </c:pt>
                <c:pt idx="5">
                  <c:v>0.363732</c:v>
                </c:pt>
                <c:pt idx="6">
                  <c:v>0.342003</c:v>
                </c:pt>
                <c:pt idx="7">
                  <c:v>0.34134</c:v>
                </c:pt>
                <c:pt idx="8">
                  <c:v>0.333772</c:v>
                </c:pt>
                <c:pt idx="9">
                  <c:v>0.336938</c:v>
                </c:pt>
                <c:pt idx="10">
                  <c:v>0.346271</c:v>
                </c:pt>
                <c:pt idx="11">
                  <c:v>0.347715</c:v>
                </c:pt>
                <c:pt idx="12">
                  <c:v>0.334254</c:v>
                </c:pt>
                <c:pt idx="13">
                  <c:v>0.336081</c:v>
                </c:pt>
                <c:pt idx="14">
                  <c:v>0.32657</c:v>
                </c:pt>
                <c:pt idx="15">
                  <c:v>0.330052</c:v>
                </c:pt>
                <c:pt idx="16">
                  <c:v>0.3443</c:v>
                </c:pt>
                <c:pt idx="17">
                  <c:v>0.333807</c:v>
                </c:pt>
                <c:pt idx="18">
                  <c:v>0.334056</c:v>
                </c:pt>
                <c:pt idx="19">
                  <c:v>0.338237</c:v>
                </c:pt>
                <c:pt idx="20">
                  <c:v>0.354305</c:v>
                </c:pt>
                <c:pt idx="21">
                  <c:v>0.328294</c:v>
                </c:pt>
                <c:pt idx="22">
                  <c:v>0.34978</c:v>
                </c:pt>
                <c:pt idx="23">
                  <c:v>0.349989</c:v>
                </c:pt>
                <c:pt idx="24">
                  <c:v>0.348213</c:v>
                </c:pt>
                <c:pt idx="25">
                  <c:v>0.349404</c:v>
                </c:pt>
                <c:pt idx="26">
                  <c:v>0.342029</c:v>
                </c:pt>
                <c:pt idx="27">
                  <c:v>0.347343</c:v>
                </c:pt>
                <c:pt idx="28">
                  <c:v>0.346217</c:v>
                </c:pt>
                <c:pt idx="29">
                  <c:v>0.343025</c:v>
                </c:pt>
                <c:pt idx="30">
                  <c:v>0.345742</c:v>
                </c:pt>
                <c:pt idx="31">
                  <c:v>0.338855</c:v>
                </c:pt>
                <c:pt idx="32">
                  <c:v>0.346061</c:v>
                </c:pt>
                <c:pt idx="33">
                  <c:v>0.339792</c:v>
                </c:pt>
                <c:pt idx="34">
                  <c:v>0.346665</c:v>
                </c:pt>
                <c:pt idx="35">
                  <c:v>0.343303</c:v>
                </c:pt>
                <c:pt idx="36">
                  <c:v>0.352725</c:v>
                </c:pt>
                <c:pt idx="37">
                  <c:v>0.351029</c:v>
                </c:pt>
                <c:pt idx="38">
                  <c:v>0.347959</c:v>
                </c:pt>
                <c:pt idx="39">
                  <c:v>0.352268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3.651001</c:v>
                </c:pt>
                <c:pt idx="1">
                  <c:v>3.093787</c:v>
                </c:pt>
                <c:pt idx="2">
                  <c:v>2.014341</c:v>
                </c:pt>
                <c:pt idx="3">
                  <c:v>0.929365</c:v>
                </c:pt>
                <c:pt idx="4">
                  <c:v>0.653127</c:v>
                </c:pt>
                <c:pt idx="5">
                  <c:v>0.591324</c:v>
                </c:pt>
                <c:pt idx="6">
                  <c:v>0.520724</c:v>
                </c:pt>
                <c:pt idx="7">
                  <c:v>0.52614</c:v>
                </c:pt>
                <c:pt idx="8">
                  <c:v>0.523514</c:v>
                </c:pt>
                <c:pt idx="9">
                  <c:v>0.505148</c:v>
                </c:pt>
                <c:pt idx="10">
                  <c:v>0.498441</c:v>
                </c:pt>
                <c:pt idx="11">
                  <c:v>0.51635</c:v>
                </c:pt>
                <c:pt idx="12">
                  <c:v>0.477191</c:v>
                </c:pt>
                <c:pt idx="13">
                  <c:v>0.505392</c:v>
                </c:pt>
                <c:pt idx="14">
                  <c:v>0.470496</c:v>
                </c:pt>
                <c:pt idx="15">
                  <c:v>0.468182</c:v>
                </c:pt>
                <c:pt idx="16">
                  <c:v>0.442523</c:v>
                </c:pt>
                <c:pt idx="17">
                  <c:v>0.42225</c:v>
                </c:pt>
                <c:pt idx="18">
                  <c:v>0.483194</c:v>
                </c:pt>
                <c:pt idx="19">
                  <c:v>0.470084</c:v>
                </c:pt>
                <c:pt idx="20">
                  <c:v>0.541411</c:v>
                </c:pt>
                <c:pt idx="21">
                  <c:v>0.478774</c:v>
                </c:pt>
                <c:pt idx="22">
                  <c:v>0.418721</c:v>
                </c:pt>
                <c:pt idx="23">
                  <c:v>0.470669</c:v>
                </c:pt>
                <c:pt idx="24">
                  <c:v>0.46522</c:v>
                </c:pt>
                <c:pt idx="25">
                  <c:v>0.479187</c:v>
                </c:pt>
                <c:pt idx="26">
                  <c:v>0.464335</c:v>
                </c:pt>
                <c:pt idx="27">
                  <c:v>0.490611</c:v>
                </c:pt>
                <c:pt idx="28">
                  <c:v>0.443554</c:v>
                </c:pt>
                <c:pt idx="29">
                  <c:v>0.477822</c:v>
                </c:pt>
                <c:pt idx="30">
                  <c:v>0.452515</c:v>
                </c:pt>
                <c:pt idx="31">
                  <c:v>0.467338</c:v>
                </c:pt>
                <c:pt idx="32">
                  <c:v>0.413063</c:v>
                </c:pt>
                <c:pt idx="33">
                  <c:v>0.402067</c:v>
                </c:pt>
                <c:pt idx="34">
                  <c:v>0.414865</c:v>
                </c:pt>
                <c:pt idx="35">
                  <c:v>0.417458</c:v>
                </c:pt>
                <c:pt idx="36">
                  <c:v>0.453964</c:v>
                </c:pt>
                <c:pt idx="37">
                  <c:v>0.405091</c:v>
                </c:pt>
                <c:pt idx="38">
                  <c:v>0.420371</c:v>
                </c:pt>
                <c:pt idx="39">
                  <c:v>0.453505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0"/>
      </c:catAx>
      <c:valAx>
        <c:axId val="2140495176"/>
        <c:scaling>
          <c:max val="4.0"/>
          <c:min val="0.0"/>
        </c:scaling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1.6216000000000002</c:v>
                </c:pt>
                <c:pt idx="1">
                  <c:v>66.2162</c:v>
                </c:pt>
                <c:pt idx="2">
                  <c:v>84.5946</c:v>
                </c:pt>
                <c:pt idx="3">
                  <c:v>89.4595</c:v>
                </c:pt>
                <c:pt idx="4">
                  <c:v>91.6216</c:v>
                </c:pt>
                <c:pt idx="5">
                  <c:v>92.2973</c:v>
                </c:pt>
                <c:pt idx="6">
                  <c:v>92.973</c:v>
                </c:pt>
                <c:pt idx="7">
                  <c:v>93.10810000000001</c:v>
                </c:pt>
                <c:pt idx="8">
                  <c:v>92.973</c:v>
                </c:pt>
                <c:pt idx="9">
                  <c:v>93.10810000000001</c:v>
                </c:pt>
                <c:pt idx="10">
                  <c:v>93.2432</c:v>
                </c:pt>
                <c:pt idx="11">
                  <c:v>93.6486</c:v>
                </c:pt>
                <c:pt idx="12">
                  <c:v>93.51350000000001</c:v>
                </c:pt>
                <c:pt idx="13">
                  <c:v>93.91890000000001</c:v>
                </c:pt>
                <c:pt idx="14">
                  <c:v>93.7838</c:v>
                </c:pt>
                <c:pt idx="15">
                  <c:v>94.1892</c:v>
                </c:pt>
                <c:pt idx="16">
                  <c:v>93.51350000000001</c:v>
                </c:pt>
                <c:pt idx="17">
                  <c:v>93.3784</c:v>
                </c:pt>
                <c:pt idx="18">
                  <c:v>93.91890000000001</c:v>
                </c:pt>
                <c:pt idx="19">
                  <c:v>93.91890000000001</c:v>
                </c:pt>
                <c:pt idx="20">
                  <c:v>93.7838</c:v>
                </c:pt>
                <c:pt idx="21">
                  <c:v>93.7838</c:v>
                </c:pt>
                <c:pt idx="22">
                  <c:v>93.7838</c:v>
                </c:pt>
                <c:pt idx="23">
                  <c:v>94.05409999999999</c:v>
                </c:pt>
                <c:pt idx="24">
                  <c:v>93.3784</c:v>
                </c:pt>
                <c:pt idx="25">
                  <c:v>94.1892</c:v>
                </c:pt>
                <c:pt idx="26">
                  <c:v>93.51350000000001</c:v>
                </c:pt>
                <c:pt idx="27">
                  <c:v>93.7838</c:v>
                </c:pt>
                <c:pt idx="28">
                  <c:v>94.05409999999999</c:v>
                </c:pt>
                <c:pt idx="29">
                  <c:v>93.6486</c:v>
                </c:pt>
                <c:pt idx="30">
                  <c:v>94.05409999999999</c:v>
                </c:pt>
                <c:pt idx="31">
                  <c:v>94.1892</c:v>
                </c:pt>
                <c:pt idx="32">
                  <c:v>93.91890000000001</c:v>
                </c:pt>
                <c:pt idx="33">
                  <c:v>94.45949999999999</c:v>
                </c:pt>
                <c:pt idx="34">
                  <c:v>94.5946</c:v>
                </c:pt>
                <c:pt idx="35">
                  <c:v>94.1892</c:v>
                </c:pt>
                <c:pt idx="36">
                  <c:v>93.6486</c:v>
                </c:pt>
                <c:pt idx="37">
                  <c:v>94.1892</c:v>
                </c:pt>
                <c:pt idx="38">
                  <c:v>94.05409999999999</c:v>
                </c:pt>
                <c:pt idx="39">
                  <c:v>94.05409999999999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1.3514</c:v>
                </c:pt>
                <c:pt idx="1">
                  <c:v>55.1351</c:v>
                </c:pt>
                <c:pt idx="2">
                  <c:v>79.8649</c:v>
                </c:pt>
                <c:pt idx="3">
                  <c:v>88.10810000000001</c:v>
                </c:pt>
                <c:pt idx="4">
                  <c:v>90.8108</c:v>
                </c:pt>
                <c:pt idx="5">
                  <c:v>91.4865</c:v>
                </c:pt>
                <c:pt idx="6">
                  <c:v>92.027</c:v>
                </c:pt>
                <c:pt idx="7">
                  <c:v>92.027</c:v>
                </c:pt>
                <c:pt idx="8">
                  <c:v>92.5676</c:v>
                </c:pt>
                <c:pt idx="9">
                  <c:v>93.10810000000001</c:v>
                </c:pt>
                <c:pt idx="10">
                  <c:v>92.2973</c:v>
                </c:pt>
                <c:pt idx="11">
                  <c:v>92.973</c:v>
                </c:pt>
                <c:pt idx="12">
                  <c:v>93.51350000000001</c:v>
                </c:pt>
                <c:pt idx="13">
                  <c:v>93.10810000000001</c:v>
                </c:pt>
                <c:pt idx="14">
                  <c:v>92.8378</c:v>
                </c:pt>
                <c:pt idx="15">
                  <c:v>93.6486</c:v>
                </c:pt>
                <c:pt idx="16">
                  <c:v>94.05409999999999</c:v>
                </c:pt>
                <c:pt idx="17">
                  <c:v>93.7838</c:v>
                </c:pt>
                <c:pt idx="18">
                  <c:v>93.6486</c:v>
                </c:pt>
                <c:pt idx="19">
                  <c:v>93.91890000000001</c:v>
                </c:pt>
                <c:pt idx="20">
                  <c:v>94.45949999999999</c:v>
                </c:pt>
                <c:pt idx="21">
                  <c:v>94.45949999999999</c:v>
                </c:pt>
                <c:pt idx="22">
                  <c:v>94.32430000000001</c:v>
                </c:pt>
                <c:pt idx="23">
                  <c:v>94.5946</c:v>
                </c:pt>
                <c:pt idx="24">
                  <c:v>94.05409999999999</c:v>
                </c:pt>
                <c:pt idx="25">
                  <c:v>94.05409999999999</c:v>
                </c:pt>
                <c:pt idx="26">
                  <c:v>94.1892</c:v>
                </c:pt>
                <c:pt idx="27">
                  <c:v>93.91890000000001</c:v>
                </c:pt>
                <c:pt idx="28">
                  <c:v>94.05409999999999</c:v>
                </c:pt>
                <c:pt idx="29">
                  <c:v>94.7297</c:v>
                </c:pt>
                <c:pt idx="30">
                  <c:v>94.5946</c:v>
                </c:pt>
                <c:pt idx="31">
                  <c:v>94.7297</c:v>
                </c:pt>
                <c:pt idx="32">
                  <c:v>94.5946</c:v>
                </c:pt>
                <c:pt idx="33">
                  <c:v>94.1892</c:v>
                </c:pt>
                <c:pt idx="34">
                  <c:v>94.05409999999999</c:v>
                </c:pt>
                <c:pt idx="35">
                  <c:v>94.5946</c:v>
                </c:pt>
                <c:pt idx="36">
                  <c:v>94.5946</c:v>
                </c:pt>
                <c:pt idx="37">
                  <c:v>94.32430000000001</c:v>
                </c:pt>
                <c:pt idx="38">
                  <c:v>94.7297</c:v>
                </c:pt>
                <c:pt idx="39">
                  <c:v>94.86489999999999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0"/>
      </c:catAx>
      <c:valAx>
        <c:axId val="2140495176"/>
        <c:scaling>
          <c:max val="100.0"/>
          <c:min val="0.0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1.6480000000000001</c:v>
                </c:pt>
                <c:pt idx="1">
                  <c:v>65.0626</c:v>
                </c:pt>
                <c:pt idx="2">
                  <c:v>83.9734</c:v>
                </c:pt>
                <c:pt idx="3">
                  <c:v>89.3809</c:v>
                </c:pt>
                <c:pt idx="4">
                  <c:v>91.57690000000001</c:v>
                </c:pt>
                <c:pt idx="5">
                  <c:v>92.24</c:v>
                </c:pt>
                <c:pt idx="6">
                  <c:v>92.9732</c:v>
                </c:pt>
                <c:pt idx="7">
                  <c:v>93.0965</c:v>
                </c:pt>
                <c:pt idx="8">
                  <c:v>92.9541</c:v>
                </c:pt>
                <c:pt idx="9">
                  <c:v>93.099</c:v>
                </c:pt>
                <c:pt idx="10">
                  <c:v>93.1787</c:v>
                </c:pt>
                <c:pt idx="11">
                  <c:v>93.6514</c:v>
                </c:pt>
                <c:pt idx="12">
                  <c:v>93.5278</c:v>
                </c:pt>
                <c:pt idx="13">
                  <c:v>93.9223</c:v>
                </c:pt>
                <c:pt idx="14">
                  <c:v>93.8169</c:v>
                </c:pt>
                <c:pt idx="15">
                  <c:v>94.2133</c:v>
                </c:pt>
                <c:pt idx="16">
                  <c:v>93.49640000000001</c:v>
                </c:pt>
                <c:pt idx="17">
                  <c:v>93.382</c:v>
                </c:pt>
                <c:pt idx="18">
                  <c:v>93.95700000000001</c:v>
                </c:pt>
                <c:pt idx="19">
                  <c:v>93.9492</c:v>
                </c:pt>
                <c:pt idx="20">
                  <c:v>93.7651</c:v>
                </c:pt>
                <c:pt idx="21">
                  <c:v>93.8209</c:v>
                </c:pt>
                <c:pt idx="22">
                  <c:v>93.7899</c:v>
                </c:pt>
                <c:pt idx="23">
                  <c:v>94.0453</c:v>
                </c:pt>
                <c:pt idx="24">
                  <c:v>93.3699</c:v>
                </c:pt>
                <c:pt idx="25">
                  <c:v>94.2106</c:v>
                </c:pt>
                <c:pt idx="26">
                  <c:v>93.5211</c:v>
                </c:pt>
                <c:pt idx="27">
                  <c:v>93.8183</c:v>
                </c:pt>
                <c:pt idx="28">
                  <c:v>94.0662</c:v>
                </c:pt>
                <c:pt idx="29">
                  <c:v>93.6712</c:v>
                </c:pt>
                <c:pt idx="30">
                  <c:v>94.0571</c:v>
                </c:pt>
                <c:pt idx="31">
                  <c:v>94.22460000000001</c:v>
                </c:pt>
                <c:pt idx="32">
                  <c:v>93.9371</c:v>
                </c:pt>
                <c:pt idx="33">
                  <c:v>94.46480000000001</c:v>
                </c:pt>
                <c:pt idx="34">
                  <c:v>94.61659999999999</c:v>
                </c:pt>
                <c:pt idx="35">
                  <c:v>94.2163</c:v>
                </c:pt>
                <c:pt idx="36">
                  <c:v>93.6673</c:v>
                </c:pt>
                <c:pt idx="37">
                  <c:v>94.2079</c:v>
                </c:pt>
                <c:pt idx="38">
                  <c:v>94.0643</c:v>
                </c:pt>
                <c:pt idx="39">
                  <c:v>94.0726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1.3806</c:v>
                </c:pt>
                <c:pt idx="1">
                  <c:v>53.032999999999994</c:v>
                </c:pt>
                <c:pt idx="2">
                  <c:v>78.3583</c:v>
                </c:pt>
                <c:pt idx="3">
                  <c:v>87.7163</c:v>
                </c:pt>
                <c:pt idx="4">
                  <c:v>90.6625</c:v>
                </c:pt>
                <c:pt idx="5">
                  <c:v>91.44200000000001</c:v>
                </c:pt>
                <c:pt idx="6">
                  <c:v>91.96260000000001</c:v>
                </c:pt>
                <c:pt idx="7">
                  <c:v>91.9257</c:v>
                </c:pt>
                <c:pt idx="8">
                  <c:v>92.5154</c:v>
                </c:pt>
                <c:pt idx="9">
                  <c:v>93.0802</c:v>
                </c:pt>
                <c:pt idx="10">
                  <c:v>92.28699999999999</c:v>
                </c:pt>
                <c:pt idx="11">
                  <c:v>92.9931</c:v>
                </c:pt>
                <c:pt idx="12">
                  <c:v>93.54</c:v>
                </c:pt>
                <c:pt idx="13">
                  <c:v>93.1198</c:v>
                </c:pt>
                <c:pt idx="14">
                  <c:v>92.8256</c:v>
                </c:pt>
                <c:pt idx="15">
                  <c:v>93.65400000000001</c:v>
                </c:pt>
                <c:pt idx="16">
                  <c:v>94.0696</c:v>
                </c:pt>
                <c:pt idx="17">
                  <c:v>93.7923</c:v>
                </c:pt>
                <c:pt idx="18">
                  <c:v>93.6591</c:v>
                </c:pt>
                <c:pt idx="19">
                  <c:v>93.9533</c:v>
                </c:pt>
                <c:pt idx="20">
                  <c:v>94.4645</c:v>
                </c:pt>
                <c:pt idx="21">
                  <c:v>94.4816</c:v>
                </c:pt>
                <c:pt idx="22">
                  <c:v>94.3488</c:v>
                </c:pt>
                <c:pt idx="23">
                  <c:v>94.607</c:v>
                </c:pt>
                <c:pt idx="24">
                  <c:v>94.0779</c:v>
                </c:pt>
                <c:pt idx="25">
                  <c:v>94.0739</c:v>
                </c:pt>
                <c:pt idx="26">
                  <c:v>94.1991</c:v>
                </c:pt>
                <c:pt idx="27">
                  <c:v>93.9251</c:v>
                </c:pt>
                <c:pt idx="28">
                  <c:v>94.07140000000001</c:v>
                </c:pt>
                <c:pt idx="29">
                  <c:v>94.7365</c:v>
                </c:pt>
                <c:pt idx="30">
                  <c:v>94.6124</c:v>
                </c:pt>
                <c:pt idx="31">
                  <c:v>94.7396</c:v>
                </c:pt>
                <c:pt idx="32">
                  <c:v>94.6222</c:v>
                </c:pt>
                <c:pt idx="33">
                  <c:v>94.18339999999999</c:v>
                </c:pt>
                <c:pt idx="34">
                  <c:v>94.0651</c:v>
                </c:pt>
                <c:pt idx="35">
                  <c:v>94.5932</c:v>
                </c:pt>
                <c:pt idx="36">
                  <c:v>94.595</c:v>
                </c:pt>
                <c:pt idx="37">
                  <c:v>94.32350000000001</c:v>
                </c:pt>
                <c:pt idx="38">
                  <c:v>94.7365</c:v>
                </c:pt>
                <c:pt idx="39">
                  <c:v>94.8882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0"/>
      </c:catAx>
      <c:valAx>
        <c:axId val="2140495176"/>
        <c:scaling>
          <c:max val="100.0"/>
          <c:min val="0.0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0.00034</c:v>
                </c:pt>
                <c:pt idx="1">
                  <c:v>0.0006700000000000001</c:v>
                </c:pt>
                <c:pt idx="2">
                  <c:v>0.001</c:v>
                </c:pt>
                <c:pt idx="3">
                  <c:v>0.0009982167568285507</c:v>
                </c:pt>
                <c:pt idx="4">
                  <c:v>0.0009928798756221157</c:v>
                </c:pt>
                <c:pt idx="5">
                  <c:v>0.000984027808732082</c:v>
                </c:pt>
                <c:pt idx="6">
                  <c:v>0.0009717243355032365</c:v>
                </c:pt>
                <c:pt idx="7">
                  <c:v>0.0009560581027421271</c:v>
                </c:pt>
                <c:pt idx="8">
                  <c:v>0.000937141986014788</c:v>
                </c:pt>
                <c:pt idx="9">
                  <c:v>0.0009151122763757018</c:v>
                </c:pt>
                <c:pt idx="10">
                  <c:v>0.0008901276983876275</c:v>
                </c:pt>
                <c:pt idx="11">
                  <c:v>0.0008623682665074895</c:v>
                </c:pt>
                <c:pt idx="12">
                  <c:v>0.0008320339880780901</c:v>
                </c:pt>
                <c:pt idx="13">
                  <c:v>0.0007993434222706218</c:v>
                </c:pt>
                <c:pt idx="14">
                  <c:v>0.0007645321053608296</c:v>
                </c:pt>
                <c:pt idx="15">
                  <c:v>0.0007278508536847482</c:v>
                </c:pt>
                <c:pt idx="16">
                  <c:v>0.0006895639565012528</c:v>
                </c:pt>
                <c:pt idx="17">
                  <c:v>0.0006499472717818924</c:v>
                </c:pt>
                <c:pt idx="18">
                  <c:v>0.0006092862386478846</c:v>
                </c:pt>
                <c:pt idx="19">
                  <c:v>0.0005678738207747049</c:v>
                </c:pt>
                <c:pt idx="20">
                  <c:v>0.0005260083955820935</c:v>
                </c:pt>
                <c:pt idx="21">
                  <c:v>0.00048399160441790664</c:v>
                </c:pt>
                <c:pt idx="22">
                  <c:v>0.00044212617922529497</c:v>
                </c:pt>
                <c:pt idx="23">
                  <c:v>0.00040071376135211544</c:v>
                </c:pt>
                <c:pt idx="24">
                  <c:v>0.00036005272821810764</c:v>
                </c:pt>
                <c:pt idx="25">
                  <c:v>0.00032043604349874725</c:v>
                </c:pt>
                <c:pt idx="26">
                  <c:v>0.0002821491463152516</c:v>
                </c:pt>
                <c:pt idx="27">
                  <c:v>0.00024546789463917034</c:v>
                </c:pt>
                <c:pt idx="28">
                  <c:v>0.00021065657772937805</c:v>
                </c:pt>
                <c:pt idx="29">
                  <c:v>0.00017796601192190975</c:v>
                </c:pt>
                <c:pt idx="30">
                  <c:v>0.0001476317334925104</c:v>
                </c:pt>
                <c:pt idx="31">
                  <c:v>0.00011987230161237237</c:v>
                </c:pt>
                <c:pt idx="32">
                  <c:v>9.488772362429817e-05</c:v>
                </c:pt>
                <c:pt idx="33">
                  <c:v>7.285801398521197e-05</c:v>
                </c:pt>
                <c:pt idx="34">
                  <c:v>5.394189725787288e-05</c:v>
                </c:pt>
                <c:pt idx="35">
                  <c:v>3.8275664496763314e-05</c:v>
                </c:pt>
                <c:pt idx="36">
                  <c:v>2.5972191267918057e-05</c:v>
                </c:pt>
                <c:pt idx="37">
                  <c:v>1.7120124377884313e-05</c:v>
                </c:pt>
                <c:pt idx="38">
                  <c:v>1.1783243171449372e-05</c:v>
                </c:pt>
                <c:pt idx="39">
                  <c:v>1e-05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0.00034</c:v>
                </c:pt>
                <c:pt idx="1">
                  <c:v>0.0006700000000000001</c:v>
                </c:pt>
                <c:pt idx="2">
                  <c:v>0.001</c:v>
                </c:pt>
                <c:pt idx="3">
                  <c:v>0.0009982167568285507</c:v>
                </c:pt>
                <c:pt idx="4">
                  <c:v>0.0009928798756221157</c:v>
                </c:pt>
                <c:pt idx="5">
                  <c:v>0.000984027808732082</c:v>
                </c:pt>
                <c:pt idx="6">
                  <c:v>0.0009717243355032365</c:v>
                </c:pt>
                <c:pt idx="7">
                  <c:v>0.0009560581027421271</c:v>
                </c:pt>
                <c:pt idx="8">
                  <c:v>0.000937141986014788</c:v>
                </c:pt>
                <c:pt idx="9">
                  <c:v>0.0009151122763757018</c:v>
                </c:pt>
                <c:pt idx="10">
                  <c:v>0.0008901276983876275</c:v>
                </c:pt>
                <c:pt idx="11">
                  <c:v>0.0008623682665074895</c:v>
                </c:pt>
                <c:pt idx="12">
                  <c:v>0.0008320339880780901</c:v>
                </c:pt>
                <c:pt idx="13">
                  <c:v>0.0007993434222706218</c:v>
                </c:pt>
                <c:pt idx="14">
                  <c:v>0.0007645321053608296</c:v>
                </c:pt>
                <c:pt idx="15">
                  <c:v>0.0007278508536847482</c:v>
                </c:pt>
                <c:pt idx="16">
                  <c:v>0.0006895639565012528</c:v>
                </c:pt>
                <c:pt idx="17">
                  <c:v>0.0006499472717818924</c:v>
                </c:pt>
                <c:pt idx="18">
                  <c:v>0.0006092862386478846</c:v>
                </c:pt>
                <c:pt idx="19">
                  <c:v>0.0005678738207747049</c:v>
                </c:pt>
                <c:pt idx="20">
                  <c:v>0.0005260083955820935</c:v>
                </c:pt>
                <c:pt idx="21">
                  <c:v>0.00048399160441790664</c:v>
                </c:pt>
                <c:pt idx="22">
                  <c:v>0.00044212617922529497</c:v>
                </c:pt>
                <c:pt idx="23">
                  <c:v>0.00040071376135211544</c:v>
                </c:pt>
                <c:pt idx="24">
                  <c:v>0.00036005272821810764</c:v>
                </c:pt>
                <c:pt idx="25">
                  <c:v>0.00032043604349874725</c:v>
                </c:pt>
                <c:pt idx="26">
                  <c:v>0.0002821491463152516</c:v>
                </c:pt>
                <c:pt idx="27">
                  <c:v>0.00024546789463917034</c:v>
                </c:pt>
                <c:pt idx="28">
                  <c:v>0.00021065657772937805</c:v>
                </c:pt>
                <c:pt idx="29">
                  <c:v>0.00017796601192190975</c:v>
                </c:pt>
                <c:pt idx="30">
                  <c:v>0.0001476317334925104</c:v>
                </c:pt>
                <c:pt idx="31">
                  <c:v>0.00011987230161237237</c:v>
                </c:pt>
                <c:pt idx="32">
                  <c:v>9.488772362429817e-05</c:v>
                </c:pt>
                <c:pt idx="33">
                  <c:v>7.285801398521197e-05</c:v>
                </c:pt>
                <c:pt idx="34">
                  <c:v>5.394189725787288e-05</c:v>
                </c:pt>
                <c:pt idx="35">
                  <c:v>3.8275664496763314e-05</c:v>
                </c:pt>
                <c:pt idx="36">
                  <c:v>2.5972191267918057e-05</c:v>
                </c:pt>
                <c:pt idx="37">
                  <c:v>1.7120124377884313e-05</c:v>
                </c:pt>
                <c:pt idx="38">
                  <c:v>1.1783243171449372e-05</c:v>
                </c:pt>
                <c:pt idx="39">
                  <c:v>1e-05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0"/>
      </c:catAx>
      <c:valAx>
        <c:axId val="2140495176"/>
        <c:scaling>
          <c:max val="0.0011"/>
          <c:min val="0.0"/>
        </c:scaling>
        <c:delete val="0"/>
        <c:axPos val="l"/>
        <c:majorGridlines/>
        <c:numFmt formatCode="0.000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融合前</c:v>
                </c:pt>
              </c:strCache>
            </c:strRef>
          </c:tx>
          <c:spPr>
            <a:solidFill>
              <a:srgbClr val="218EBC"/>
            </a:solidFill>
            <a:ln w="20320">
              <a:solidFill>
                <a:srgbClr val="218EBC"/>
              </a:solidFill>
            </a:ln>
          </c:spPr>
          <c:cat>
            <c:strRef>
              <c:f>Sheet1!$A$2:$A$3</c:f>
              <c:strCache>
                <c:ptCount val="2"/>
                <c:pt idx="0">
                  <c:v>BatchNorm</c:v>
                </c:pt>
                <c:pt idx="1">
                  <c:v>Conv2d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107</c:v>
                </c:pt>
                <c:pt idx="1">
                  <c:v>126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融合后</c:v>
                </c:pt>
              </c:strCache>
            </c:strRef>
          </c:tx>
          <c:spPr>
            <a:solidFill>
              <a:srgbClr val="EB9951"/>
            </a:solidFill>
            <a:ln w="20320">
              <a:solidFill>
                <a:srgbClr val="EB9951"/>
              </a:solidFill>
            </a:ln>
          </c:spPr>
          <c:cat>
            <c:strRef>
              <c:f>Sheet1!$A$2:$A$3</c:f>
              <c:strCache>
                <c:ptCount val="2"/>
                <c:pt idx="0">
                  <c:v>BatchNorm</c:v>
                </c:pt>
                <c:pt idx="1">
                  <c:v>Conv2d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103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0.0"/>
          <c:min val="0.0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P50</c:v>
                </c:pt>
              </c:strCache>
            </c:strRef>
          </c:tx>
          <c:spPr>
            <a:solidFill>
              <a:srgbClr val="218EBC"/>
            </a:solidFill>
            <a:ln w="20320">
              <a:solidFill>
                <a:srgbClr val="218EBC"/>
              </a:solidFill>
            </a:ln>
          </c:spPr>
          <c:cat>
            <c:strRef>
              <c:f>Sheet1!$A$2:$A$7</c:f>
              <c:strCache>
                <c:ptCount val="6"/>
                <c:pt idx="0">
                  <c:v>M0.9</c:v>
                </c:pt>
                <c:pt idx="1">
                  <c:v>M1.0</c:v>
                </c:pt>
                <c:pt idx="2">
                  <c:v>M1.1</c:v>
                </c:pt>
                <c:pt idx="3">
                  <c:v>M1.5</c:v>
                </c:pt>
                <c:pt idx="4">
                  <c:v>M2.3</c:v>
                </c:pt>
                <c:pt idx="5">
                  <c:v>Pet37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7.373</c:v>
                </c:pt>
                <c:pt idx="1">
                  <c:v>9.147</c:v>
                </c:pt>
                <c:pt idx="2">
                  <c:v>10.234</c:v>
                </c:pt>
                <c:pt idx="3">
                  <c:v>17.647</c:v>
                </c:pt>
                <c:pt idx="4">
                  <c:v>32.687</c:v>
                </c:pt>
                <c:pt idx="5">
                  <c:v>7.122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P95</c:v>
                </c:pt>
              </c:strCache>
            </c:strRef>
          </c:tx>
          <c:spPr>
            <a:solidFill>
              <a:srgbClr val="EB9951"/>
            </a:solidFill>
            <a:ln w="20320">
              <a:solidFill>
                <a:srgbClr val="EB9951"/>
              </a:solidFill>
            </a:ln>
          </c:spPr>
          <c:cat>
            <c:strRef>
              <c:f>Sheet1!$A$2:$A$7</c:f>
              <c:strCache>
                <c:ptCount val="6"/>
                <c:pt idx="0">
                  <c:v>M0.9</c:v>
                </c:pt>
                <c:pt idx="1">
                  <c:v>M1.0</c:v>
                </c:pt>
                <c:pt idx="2">
                  <c:v>M1.1</c:v>
                </c:pt>
                <c:pt idx="3">
                  <c:v>M1.5</c:v>
                </c:pt>
                <c:pt idx="4">
                  <c:v>M2.3</c:v>
                </c:pt>
                <c:pt idx="5">
                  <c:v>Pet37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8.002</c:v>
                </c:pt>
                <c:pt idx="1">
                  <c:v>9.76</c:v>
                </c:pt>
                <c:pt idx="2">
                  <c:v>11.241</c:v>
                </c:pt>
                <c:pt idx="3">
                  <c:v>18.926</c:v>
                </c:pt>
                <c:pt idx="4">
                  <c:v>33.322</c:v>
                </c:pt>
                <c:pt idx="5">
                  <c:v>7.692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6.0"/>
          <c:min val="0.0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m0.9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Sheet1!$A$2:$A$2</c:f>
              <c:numCache>
                <c:formatCode>General</c:formatCode>
                <c:ptCount val="1"/>
                <c:pt idx="0">
                  <c:v>7.373</c:v>
                </c:pt>
              </c:numCache>
            </c:numRef>
          </c:xVal>
          <c:yVal>
            <c:numRef>
              <c:f>Sheet1!$B$2:$B$2</c:f>
              <c:numCache>
                <c:formatCode>General</c:formatCode>
                <c:ptCount val="1"/>
                <c:pt idx="0">
                  <c:v>78.2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Sheet1!$B$4</c:f>
              <c:strCache>
                <c:ptCount val="1"/>
                <c:pt idx="0">
                  <c:v>m1.0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Sheet1!$A$5:$A$5</c:f>
              <c:numCache>
                <c:formatCode>General</c:formatCode>
                <c:ptCount val="1"/>
                <c:pt idx="0">
                  <c:v>9.147</c:v>
                </c:pt>
              </c:numCache>
            </c:numRef>
          </c:xVal>
          <c:yVal>
            <c:numRef>
              <c:f>Sheet1!$B$5:$B$5</c:f>
              <c:numCache>
                <c:formatCode>General</c:formatCode>
                <c:ptCount val="1"/>
                <c:pt idx="0">
                  <c:v>79.9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Sheet1!$B$7</c:f>
              <c:strCache>
                <c:ptCount val="1"/>
                <c:pt idx="0">
                  <c:v>m1.1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Sheet1!$A$8:$A$8</c:f>
              <c:numCache>
                <c:formatCode>General</c:formatCode>
                <c:ptCount val="1"/>
                <c:pt idx="0">
                  <c:v>10.234</c:v>
                </c:pt>
              </c:numCache>
            </c:numRef>
          </c:xVal>
          <c:yVal>
            <c:numRef>
              <c:f>Sheet1!$B$8:$B$8</c:f>
              <c:numCache>
                <c:formatCode>General</c:formatCode>
                <c:ptCount val="1"/>
                <c:pt idx="0">
                  <c:v>79.9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Sheet1!$B$10</c:f>
              <c:strCache>
                <c:ptCount val="1"/>
                <c:pt idx="0">
                  <c:v>m1.5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Sheet1!$A$11:$A$11</c:f>
              <c:numCache>
                <c:formatCode>General</c:formatCode>
                <c:ptCount val="1"/>
                <c:pt idx="0">
                  <c:v>17.647</c:v>
                </c:pt>
              </c:numCache>
            </c:numRef>
          </c:xVal>
          <c:yVal>
            <c:numRef>
              <c:f>Sheet1!$B$11:$B$11</c:f>
              <c:numCache>
                <c:formatCode>General</c:formatCode>
                <c:ptCount val="1"/>
                <c:pt idx="0">
                  <c:v>82.8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Sheet1!$B$13</c:f>
              <c:strCache>
                <c:ptCount val="1"/>
                <c:pt idx="0">
                  <c:v>m2.3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Sheet1!$A$14:$A$14</c:f>
              <c:numCache>
                <c:formatCode>General</c:formatCode>
                <c:ptCount val="1"/>
                <c:pt idx="0">
                  <c:v>32.687</c:v>
                </c:pt>
              </c:numCache>
            </c:numRef>
          </c:xVal>
          <c:yVal>
            <c:numRef>
              <c:f>Sheet1!$B$14:$B$14</c:f>
              <c:numCache>
                <c:formatCode>General</c:formatCode>
                <c:ptCount val="1"/>
                <c:pt idx="0">
                  <c:v>83.1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P50 (ms)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  <c:max val="84.0"/>
          <c:min val="77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Top-1 (%)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1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3.650064</c:v>
                </c:pt>
                <c:pt idx="1">
                  <c:v>3.340333</c:v>
                </c:pt>
                <c:pt idx="2">
                  <c:v>2.417484</c:v>
                </c:pt>
                <c:pt idx="3">
                  <c:v>1.399619</c:v>
                </c:pt>
                <c:pt idx="4">
                  <c:v>1.065965</c:v>
                </c:pt>
                <c:pt idx="5">
                  <c:v>0.958617</c:v>
                </c:pt>
                <c:pt idx="6">
                  <c:v>0.913994</c:v>
                </c:pt>
                <c:pt idx="7">
                  <c:v>0.883491</c:v>
                </c:pt>
                <c:pt idx="8">
                  <c:v>0.850445</c:v>
                </c:pt>
                <c:pt idx="9">
                  <c:v>0.838216</c:v>
                </c:pt>
                <c:pt idx="10">
                  <c:v>0.818988</c:v>
                </c:pt>
                <c:pt idx="11">
                  <c:v>0.80327</c:v>
                </c:pt>
                <c:pt idx="12">
                  <c:v>0.797152</c:v>
                </c:pt>
                <c:pt idx="13">
                  <c:v>0.782725</c:v>
                </c:pt>
                <c:pt idx="14">
                  <c:v>0.785338</c:v>
                </c:pt>
                <c:pt idx="15">
                  <c:v>0.781938</c:v>
                </c:pt>
                <c:pt idx="16">
                  <c:v>0.773129</c:v>
                </c:pt>
                <c:pt idx="17">
                  <c:v>0.770628</c:v>
                </c:pt>
                <c:pt idx="18">
                  <c:v>0.762286</c:v>
                </c:pt>
                <c:pt idx="19">
                  <c:v>0.756404</c:v>
                </c:pt>
                <c:pt idx="20">
                  <c:v>0.759709</c:v>
                </c:pt>
                <c:pt idx="21">
                  <c:v>0.75677</c:v>
                </c:pt>
                <c:pt idx="22">
                  <c:v>0.750825</c:v>
                </c:pt>
                <c:pt idx="23">
                  <c:v>0.751612</c:v>
                </c:pt>
                <c:pt idx="24">
                  <c:v>0.746871</c:v>
                </c:pt>
                <c:pt idx="25">
                  <c:v>0.745619</c:v>
                </c:pt>
                <c:pt idx="26">
                  <c:v>0.740717</c:v>
                </c:pt>
                <c:pt idx="27">
                  <c:v>0.746159</c:v>
                </c:pt>
                <c:pt idx="28">
                  <c:v>0.741716</c:v>
                </c:pt>
                <c:pt idx="29">
                  <c:v>0.739014</c:v>
                </c:pt>
                <c:pt idx="30">
                  <c:v>0.73751</c:v>
                </c:pt>
                <c:pt idx="31">
                  <c:v>0.736745</c:v>
                </c:pt>
                <c:pt idx="32">
                  <c:v>0.733911</c:v>
                </c:pt>
                <c:pt idx="33">
                  <c:v>0.739235</c:v>
                </c:pt>
                <c:pt idx="34">
                  <c:v>0.739688</c:v>
                </c:pt>
                <c:pt idx="35">
                  <c:v>0.733909</c:v>
                </c:pt>
                <c:pt idx="36">
                  <c:v>0.733532</c:v>
                </c:pt>
                <c:pt idx="37">
                  <c:v>0.729967</c:v>
                </c:pt>
                <c:pt idx="38">
                  <c:v>0.731419</c:v>
                </c:pt>
                <c:pt idx="39">
                  <c:v>0.736097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3.644843</c:v>
                </c:pt>
                <c:pt idx="1">
                  <c:v>3.465572</c:v>
                </c:pt>
                <c:pt idx="2">
                  <c:v>2.997306</c:v>
                </c:pt>
                <c:pt idx="3">
                  <c:v>2.375531</c:v>
                </c:pt>
                <c:pt idx="4">
                  <c:v>1.950906</c:v>
                </c:pt>
                <c:pt idx="5">
                  <c:v>1.955643</c:v>
                </c:pt>
                <c:pt idx="6">
                  <c:v>1.775409</c:v>
                </c:pt>
                <c:pt idx="7">
                  <c:v>1.709704</c:v>
                </c:pt>
                <c:pt idx="8">
                  <c:v>1.833871</c:v>
                </c:pt>
                <c:pt idx="9">
                  <c:v>1.691916</c:v>
                </c:pt>
                <c:pt idx="10">
                  <c:v>1.780054</c:v>
                </c:pt>
                <c:pt idx="11">
                  <c:v>1.637641</c:v>
                </c:pt>
                <c:pt idx="12">
                  <c:v>1.640945</c:v>
                </c:pt>
                <c:pt idx="13">
                  <c:v>1.709644</c:v>
                </c:pt>
                <c:pt idx="14">
                  <c:v>1.626981</c:v>
                </c:pt>
                <c:pt idx="15">
                  <c:v>1.542563</c:v>
                </c:pt>
                <c:pt idx="16">
                  <c:v>1.554269</c:v>
                </c:pt>
                <c:pt idx="17">
                  <c:v>1.500675</c:v>
                </c:pt>
                <c:pt idx="18">
                  <c:v>1.533797</c:v>
                </c:pt>
                <c:pt idx="19">
                  <c:v>1.695746</c:v>
                </c:pt>
                <c:pt idx="20">
                  <c:v>1.681996</c:v>
                </c:pt>
                <c:pt idx="21">
                  <c:v>1.600051</c:v>
                </c:pt>
                <c:pt idx="22">
                  <c:v>1.576141</c:v>
                </c:pt>
                <c:pt idx="23">
                  <c:v>1.488927</c:v>
                </c:pt>
                <c:pt idx="24">
                  <c:v>1.551476</c:v>
                </c:pt>
                <c:pt idx="25">
                  <c:v>1.55356</c:v>
                </c:pt>
                <c:pt idx="26">
                  <c:v>1.555999</c:v>
                </c:pt>
                <c:pt idx="27">
                  <c:v>1.699456</c:v>
                </c:pt>
                <c:pt idx="28">
                  <c:v>1.548116</c:v>
                </c:pt>
                <c:pt idx="29">
                  <c:v>1.515924</c:v>
                </c:pt>
                <c:pt idx="30">
                  <c:v>1.605627</c:v>
                </c:pt>
                <c:pt idx="31">
                  <c:v>1.607826</c:v>
                </c:pt>
                <c:pt idx="32">
                  <c:v>1.442644</c:v>
                </c:pt>
                <c:pt idx="33">
                  <c:v>1.420347</c:v>
                </c:pt>
                <c:pt idx="34">
                  <c:v>1.553397</c:v>
                </c:pt>
                <c:pt idx="35">
                  <c:v>1.413508</c:v>
                </c:pt>
                <c:pt idx="36">
                  <c:v>1.483258</c:v>
                </c:pt>
                <c:pt idx="37">
                  <c:v>1.38146</c:v>
                </c:pt>
                <c:pt idx="38">
                  <c:v>1.490589</c:v>
                </c:pt>
                <c:pt idx="39">
                  <c:v>1.528419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0"/>
      </c:catAx>
      <c:valAx>
        <c:axId val="2140495176"/>
        <c:scaling>
          <c:max val="4.0"/>
          <c:min val="0.0"/>
        </c:scaling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3.646849</c:v>
                </c:pt>
                <c:pt idx="1">
                  <c:v>2.877319</c:v>
                </c:pt>
                <c:pt idx="2">
                  <c:v>1.318459</c:v>
                </c:pt>
                <c:pt idx="3">
                  <c:v>0.514603</c:v>
                </c:pt>
                <c:pt idx="4">
                  <c:v>0.403145</c:v>
                </c:pt>
                <c:pt idx="5">
                  <c:v>0.363732</c:v>
                </c:pt>
                <c:pt idx="6">
                  <c:v>0.342003</c:v>
                </c:pt>
                <c:pt idx="7">
                  <c:v>0.34134</c:v>
                </c:pt>
                <c:pt idx="8">
                  <c:v>0.333772</c:v>
                </c:pt>
                <c:pt idx="9">
                  <c:v>0.336938</c:v>
                </c:pt>
                <c:pt idx="10">
                  <c:v>0.346271</c:v>
                </c:pt>
                <c:pt idx="11">
                  <c:v>0.347715</c:v>
                </c:pt>
                <c:pt idx="12">
                  <c:v>0.334254</c:v>
                </c:pt>
                <c:pt idx="13">
                  <c:v>0.336081</c:v>
                </c:pt>
                <c:pt idx="14">
                  <c:v>0.32657</c:v>
                </c:pt>
                <c:pt idx="15">
                  <c:v>0.330052</c:v>
                </c:pt>
                <c:pt idx="16">
                  <c:v>0.3443</c:v>
                </c:pt>
                <c:pt idx="17">
                  <c:v>0.333807</c:v>
                </c:pt>
                <c:pt idx="18">
                  <c:v>0.334056</c:v>
                </c:pt>
                <c:pt idx="19">
                  <c:v>0.338237</c:v>
                </c:pt>
                <c:pt idx="20">
                  <c:v>0.354305</c:v>
                </c:pt>
                <c:pt idx="21">
                  <c:v>0.328294</c:v>
                </c:pt>
                <c:pt idx="22">
                  <c:v>0.34978</c:v>
                </c:pt>
                <c:pt idx="23">
                  <c:v>0.349989</c:v>
                </c:pt>
                <c:pt idx="24">
                  <c:v>0.348213</c:v>
                </c:pt>
                <c:pt idx="25">
                  <c:v>0.349404</c:v>
                </c:pt>
                <c:pt idx="26">
                  <c:v>0.342029</c:v>
                </c:pt>
                <c:pt idx="27">
                  <c:v>0.347343</c:v>
                </c:pt>
                <c:pt idx="28">
                  <c:v>0.346217</c:v>
                </c:pt>
                <c:pt idx="29">
                  <c:v>0.343025</c:v>
                </c:pt>
                <c:pt idx="30">
                  <c:v>0.345742</c:v>
                </c:pt>
                <c:pt idx="31">
                  <c:v>0.338855</c:v>
                </c:pt>
                <c:pt idx="32">
                  <c:v>0.346061</c:v>
                </c:pt>
                <c:pt idx="33">
                  <c:v>0.339792</c:v>
                </c:pt>
                <c:pt idx="34">
                  <c:v>0.346665</c:v>
                </c:pt>
                <c:pt idx="35">
                  <c:v>0.343303</c:v>
                </c:pt>
                <c:pt idx="36">
                  <c:v>0.352725</c:v>
                </c:pt>
                <c:pt idx="37">
                  <c:v>0.351029</c:v>
                </c:pt>
                <c:pt idx="38">
                  <c:v>0.347959</c:v>
                </c:pt>
                <c:pt idx="39">
                  <c:v>0.352268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3.651001</c:v>
                </c:pt>
                <c:pt idx="1">
                  <c:v>3.093787</c:v>
                </c:pt>
                <c:pt idx="2">
                  <c:v>2.014341</c:v>
                </c:pt>
                <c:pt idx="3">
                  <c:v>0.929365</c:v>
                </c:pt>
                <c:pt idx="4">
                  <c:v>0.653127</c:v>
                </c:pt>
                <c:pt idx="5">
                  <c:v>0.591324</c:v>
                </c:pt>
                <c:pt idx="6">
                  <c:v>0.520724</c:v>
                </c:pt>
                <c:pt idx="7">
                  <c:v>0.52614</c:v>
                </c:pt>
                <c:pt idx="8">
                  <c:v>0.523514</c:v>
                </c:pt>
                <c:pt idx="9">
                  <c:v>0.505148</c:v>
                </c:pt>
                <c:pt idx="10">
                  <c:v>0.498441</c:v>
                </c:pt>
                <c:pt idx="11">
                  <c:v>0.51635</c:v>
                </c:pt>
                <c:pt idx="12">
                  <c:v>0.477191</c:v>
                </c:pt>
                <c:pt idx="13">
                  <c:v>0.505392</c:v>
                </c:pt>
                <c:pt idx="14">
                  <c:v>0.470496</c:v>
                </c:pt>
                <c:pt idx="15">
                  <c:v>0.468182</c:v>
                </c:pt>
                <c:pt idx="16">
                  <c:v>0.442523</c:v>
                </c:pt>
                <c:pt idx="17">
                  <c:v>0.42225</c:v>
                </c:pt>
                <c:pt idx="18">
                  <c:v>0.483194</c:v>
                </c:pt>
                <c:pt idx="19">
                  <c:v>0.470084</c:v>
                </c:pt>
                <c:pt idx="20">
                  <c:v>0.541411</c:v>
                </c:pt>
                <c:pt idx="21">
                  <c:v>0.478774</c:v>
                </c:pt>
                <c:pt idx="22">
                  <c:v>0.418721</c:v>
                </c:pt>
                <c:pt idx="23">
                  <c:v>0.470669</c:v>
                </c:pt>
                <c:pt idx="24">
                  <c:v>0.46522</c:v>
                </c:pt>
                <c:pt idx="25">
                  <c:v>0.479187</c:v>
                </c:pt>
                <c:pt idx="26">
                  <c:v>0.464335</c:v>
                </c:pt>
                <c:pt idx="27">
                  <c:v>0.490611</c:v>
                </c:pt>
                <c:pt idx="28">
                  <c:v>0.443554</c:v>
                </c:pt>
                <c:pt idx="29">
                  <c:v>0.477822</c:v>
                </c:pt>
                <c:pt idx="30">
                  <c:v>0.452515</c:v>
                </c:pt>
                <c:pt idx="31">
                  <c:v>0.467338</c:v>
                </c:pt>
                <c:pt idx="32">
                  <c:v>0.413063</c:v>
                </c:pt>
                <c:pt idx="33">
                  <c:v>0.402067</c:v>
                </c:pt>
                <c:pt idx="34">
                  <c:v>0.414865</c:v>
                </c:pt>
                <c:pt idx="35">
                  <c:v>0.417458</c:v>
                </c:pt>
                <c:pt idx="36">
                  <c:v>0.453964</c:v>
                </c:pt>
                <c:pt idx="37">
                  <c:v>0.405091</c:v>
                </c:pt>
                <c:pt idx="38">
                  <c:v>0.420371</c:v>
                </c:pt>
                <c:pt idx="39">
                  <c:v>0.453505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0"/>
      </c:catAx>
      <c:valAx>
        <c:axId val="2140495176"/>
        <c:scaling>
          <c:max val="4.0"/>
          <c:min val="0.0"/>
        </c:scaling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1.6216000000000002</c:v>
                </c:pt>
                <c:pt idx="1">
                  <c:v>66.2162</c:v>
                </c:pt>
                <c:pt idx="2">
                  <c:v>84.5946</c:v>
                </c:pt>
                <c:pt idx="3">
                  <c:v>89.4595</c:v>
                </c:pt>
                <c:pt idx="4">
                  <c:v>91.6216</c:v>
                </c:pt>
                <c:pt idx="5">
                  <c:v>92.2973</c:v>
                </c:pt>
                <c:pt idx="6">
                  <c:v>92.973</c:v>
                </c:pt>
                <c:pt idx="7">
                  <c:v>93.10810000000001</c:v>
                </c:pt>
                <c:pt idx="8">
                  <c:v>92.973</c:v>
                </c:pt>
                <c:pt idx="9">
                  <c:v>93.10810000000001</c:v>
                </c:pt>
                <c:pt idx="10">
                  <c:v>93.2432</c:v>
                </c:pt>
                <c:pt idx="11">
                  <c:v>93.6486</c:v>
                </c:pt>
                <c:pt idx="12">
                  <c:v>93.51350000000001</c:v>
                </c:pt>
                <c:pt idx="13">
                  <c:v>93.91890000000001</c:v>
                </c:pt>
                <c:pt idx="14">
                  <c:v>93.7838</c:v>
                </c:pt>
                <c:pt idx="15">
                  <c:v>94.1892</c:v>
                </c:pt>
                <c:pt idx="16">
                  <c:v>93.51350000000001</c:v>
                </c:pt>
                <c:pt idx="17">
                  <c:v>93.3784</c:v>
                </c:pt>
                <c:pt idx="18">
                  <c:v>93.91890000000001</c:v>
                </c:pt>
                <c:pt idx="19">
                  <c:v>93.91890000000001</c:v>
                </c:pt>
                <c:pt idx="20">
                  <c:v>93.7838</c:v>
                </c:pt>
                <c:pt idx="21">
                  <c:v>93.7838</c:v>
                </c:pt>
                <c:pt idx="22">
                  <c:v>93.7838</c:v>
                </c:pt>
                <c:pt idx="23">
                  <c:v>94.05409999999999</c:v>
                </c:pt>
                <c:pt idx="24">
                  <c:v>93.3784</c:v>
                </c:pt>
                <c:pt idx="25">
                  <c:v>94.1892</c:v>
                </c:pt>
                <c:pt idx="26">
                  <c:v>93.51350000000001</c:v>
                </c:pt>
                <c:pt idx="27">
                  <c:v>93.7838</c:v>
                </c:pt>
                <c:pt idx="28">
                  <c:v>94.05409999999999</c:v>
                </c:pt>
                <c:pt idx="29">
                  <c:v>93.6486</c:v>
                </c:pt>
                <c:pt idx="30">
                  <c:v>94.05409999999999</c:v>
                </c:pt>
                <c:pt idx="31">
                  <c:v>94.1892</c:v>
                </c:pt>
                <c:pt idx="32">
                  <c:v>93.91890000000001</c:v>
                </c:pt>
                <c:pt idx="33">
                  <c:v>94.45949999999999</c:v>
                </c:pt>
                <c:pt idx="34">
                  <c:v>94.5946</c:v>
                </c:pt>
                <c:pt idx="35">
                  <c:v>94.1892</c:v>
                </c:pt>
                <c:pt idx="36">
                  <c:v>93.6486</c:v>
                </c:pt>
                <c:pt idx="37">
                  <c:v>94.1892</c:v>
                </c:pt>
                <c:pt idx="38">
                  <c:v>94.05409999999999</c:v>
                </c:pt>
                <c:pt idx="39">
                  <c:v>94.05409999999999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1.3514</c:v>
                </c:pt>
                <c:pt idx="1">
                  <c:v>55.1351</c:v>
                </c:pt>
                <c:pt idx="2">
                  <c:v>79.8649</c:v>
                </c:pt>
                <c:pt idx="3">
                  <c:v>88.10810000000001</c:v>
                </c:pt>
                <c:pt idx="4">
                  <c:v>90.8108</c:v>
                </c:pt>
                <c:pt idx="5">
                  <c:v>91.4865</c:v>
                </c:pt>
                <c:pt idx="6">
                  <c:v>92.027</c:v>
                </c:pt>
                <c:pt idx="7">
                  <c:v>92.027</c:v>
                </c:pt>
                <c:pt idx="8">
                  <c:v>92.5676</c:v>
                </c:pt>
                <c:pt idx="9">
                  <c:v>93.10810000000001</c:v>
                </c:pt>
                <c:pt idx="10">
                  <c:v>92.2973</c:v>
                </c:pt>
                <c:pt idx="11">
                  <c:v>92.973</c:v>
                </c:pt>
                <c:pt idx="12">
                  <c:v>93.51350000000001</c:v>
                </c:pt>
                <c:pt idx="13">
                  <c:v>93.10810000000001</c:v>
                </c:pt>
                <c:pt idx="14">
                  <c:v>92.8378</c:v>
                </c:pt>
                <c:pt idx="15">
                  <c:v>93.6486</c:v>
                </c:pt>
                <c:pt idx="16">
                  <c:v>94.05409999999999</c:v>
                </c:pt>
                <c:pt idx="17">
                  <c:v>93.7838</c:v>
                </c:pt>
                <c:pt idx="18">
                  <c:v>93.6486</c:v>
                </c:pt>
                <c:pt idx="19">
                  <c:v>93.91890000000001</c:v>
                </c:pt>
                <c:pt idx="20">
                  <c:v>94.45949999999999</c:v>
                </c:pt>
                <c:pt idx="21">
                  <c:v>94.45949999999999</c:v>
                </c:pt>
                <c:pt idx="22">
                  <c:v>94.32430000000001</c:v>
                </c:pt>
                <c:pt idx="23">
                  <c:v>94.5946</c:v>
                </c:pt>
                <c:pt idx="24">
                  <c:v>94.05409999999999</c:v>
                </c:pt>
                <c:pt idx="25">
                  <c:v>94.05409999999999</c:v>
                </c:pt>
                <c:pt idx="26">
                  <c:v>94.1892</c:v>
                </c:pt>
                <c:pt idx="27">
                  <c:v>93.91890000000001</c:v>
                </c:pt>
                <c:pt idx="28">
                  <c:v>94.05409999999999</c:v>
                </c:pt>
                <c:pt idx="29">
                  <c:v>94.7297</c:v>
                </c:pt>
                <c:pt idx="30">
                  <c:v>94.5946</c:v>
                </c:pt>
                <c:pt idx="31">
                  <c:v>94.7297</c:v>
                </c:pt>
                <c:pt idx="32">
                  <c:v>94.5946</c:v>
                </c:pt>
                <c:pt idx="33">
                  <c:v>94.1892</c:v>
                </c:pt>
                <c:pt idx="34">
                  <c:v>94.05409999999999</c:v>
                </c:pt>
                <c:pt idx="35">
                  <c:v>94.5946</c:v>
                </c:pt>
                <c:pt idx="36">
                  <c:v>94.5946</c:v>
                </c:pt>
                <c:pt idx="37">
                  <c:v>94.32430000000001</c:v>
                </c:pt>
                <c:pt idx="38">
                  <c:v>94.7297</c:v>
                </c:pt>
                <c:pt idx="39">
                  <c:v>94.86489999999999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0"/>
      </c:catAx>
      <c:valAx>
        <c:axId val="2140495176"/>
        <c:scaling>
          <c:max val="100.0"/>
          <c:min val="0.0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1.6480000000000001</c:v>
                </c:pt>
                <c:pt idx="1">
                  <c:v>65.0626</c:v>
                </c:pt>
                <c:pt idx="2">
                  <c:v>83.9734</c:v>
                </c:pt>
                <c:pt idx="3">
                  <c:v>89.3809</c:v>
                </c:pt>
                <c:pt idx="4">
                  <c:v>91.57690000000001</c:v>
                </c:pt>
                <c:pt idx="5">
                  <c:v>92.24</c:v>
                </c:pt>
                <c:pt idx="6">
                  <c:v>92.9732</c:v>
                </c:pt>
                <c:pt idx="7">
                  <c:v>93.0965</c:v>
                </c:pt>
                <c:pt idx="8">
                  <c:v>92.9541</c:v>
                </c:pt>
                <c:pt idx="9">
                  <c:v>93.099</c:v>
                </c:pt>
                <c:pt idx="10">
                  <c:v>93.1787</c:v>
                </c:pt>
                <c:pt idx="11">
                  <c:v>93.6514</c:v>
                </c:pt>
                <c:pt idx="12">
                  <c:v>93.5278</c:v>
                </c:pt>
                <c:pt idx="13">
                  <c:v>93.9223</c:v>
                </c:pt>
                <c:pt idx="14">
                  <c:v>93.8169</c:v>
                </c:pt>
                <c:pt idx="15">
                  <c:v>94.2133</c:v>
                </c:pt>
                <c:pt idx="16">
                  <c:v>93.49640000000001</c:v>
                </c:pt>
                <c:pt idx="17">
                  <c:v>93.382</c:v>
                </c:pt>
                <c:pt idx="18">
                  <c:v>93.95700000000001</c:v>
                </c:pt>
                <c:pt idx="19">
                  <c:v>93.9492</c:v>
                </c:pt>
                <c:pt idx="20">
                  <c:v>93.7651</c:v>
                </c:pt>
                <c:pt idx="21">
                  <c:v>93.8209</c:v>
                </c:pt>
                <c:pt idx="22">
                  <c:v>93.7899</c:v>
                </c:pt>
                <c:pt idx="23">
                  <c:v>94.0453</c:v>
                </c:pt>
                <c:pt idx="24">
                  <c:v>93.3699</c:v>
                </c:pt>
                <c:pt idx="25">
                  <c:v>94.2106</c:v>
                </c:pt>
                <c:pt idx="26">
                  <c:v>93.5211</c:v>
                </c:pt>
                <c:pt idx="27">
                  <c:v>93.8183</c:v>
                </c:pt>
                <c:pt idx="28">
                  <c:v>94.0662</c:v>
                </c:pt>
                <c:pt idx="29">
                  <c:v>93.6712</c:v>
                </c:pt>
                <c:pt idx="30">
                  <c:v>94.0571</c:v>
                </c:pt>
                <c:pt idx="31">
                  <c:v>94.22460000000001</c:v>
                </c:pt>
                <c:pt idx="32">
                  <c:v>93.9371</c:v>
                </c:pt>
                <c:pt idx="33">
                  <c:v>94.46480000000001</c:v>
                </c:pt>
                <c:pt idx="34">
                  <c:v>94.61659999999999</c:v>
                </c:pt>
                <c:pt idx="35">
                  <c:v>94.2163</c:v>
                </c:pt>
                <c:pt idx="36">
                  <c:v>93.6673</c:v>
                </c:pt>
                <c:pt idx="37">
                  <c:v>94.2079</c:v>
                </c:pt>
                <c:pt idx="38">
                  <c:v>94.0643</c:v>
                </c:pt>
                <c:pt idx="39">
                  <c:v>94.0726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1.3806</c:v>
                </c:pt>
                <c:pt idx="1">
                  <c:v>53.032999999999994</c:v>
                </c:pt>
                <c:pt idx="2">
                  <c:v>78.3583</c:v>
                </c:pt>
                <c:pt idx="3">
                  <c:v>87.7163</c:v>
                </c:pt>
                <c:pt idx="4">
                  <c:v>90.6625</c:v>
                </c:pt>
                <c:pt idx="5">
                  <c:v>91.44200000000001</c:v>
                </c:pt>
                <c:pt idx="6">
                  <c:v>91.96260000000001</c:v>
                </c:pt>
                <c:pt idx="7">
                  <c:v>91.9257</c:v>
                </c:pt>
                <c:pt idx="8">
                  <c:v>92.5154</c:v>
                </c:pt>
                <c:pt idx="9">
                  <c:v>93.0802</c:v>
                </c:pt>
                <c:pt idx="10">
                  <c:v>92.28699999999999</c:v>
                </c:pt>
                <c:pt idx="11">
                  <c:v>92.9931</c:v>
                </c:pt>
                <c:pt idx="12">
                  <c:v>93.54</c:v>
                </c:pt>
                <c:pt idx="13">
                  <c:v>93.1198</c:v>
                </c:pt>
                <c:pt idx="14">
                  <c:v>92.8256</c:v>
                </c:pt>
                <c:pt idx="15">
                  <c:v>93.65400000000001</c:v>
                </c:pt>
                <c:pt idx="16">
                  <c:v>94.0696</c:v>
                </c:pt>
                <c:pt idx="17">
                  <c:v>93.7923</c:v>
                </c:pt>
                <c:pt idx="18">
                  <c:v>93.6591</c:v>
                </c:pt>
                <c:pt idx="19">
                  <c:v>93.9533</c:v>
                </c:pt>
                <c:pt idx="20">
                  <c:v>94.4645</c:v>
                </c:pt>
                <c:pt idx="21">
                  <c:v>94.4816</c:v>
                </c:pt>
                <c:pt idx="22">
                  <c:v>94.3488</c:v>
                </c:pt>
                <c:pt idx="23">
                  <c:v>94.607</c:v>
                </c:pt>
                <c:pt idx="24">
                  <c:v>94.0779</c:v>
                </c:pt>
                <c:pt idx="25">
                  <c:v>94.0739</c:v>
                </c:pt>
                <c:pt idx="26">
                  <c:v>94.1991</c:v>
                </c:pt>
                <c:pt idx="27">
                  <c:v>93.9251</c:v>
                </c:pt>
                <c:pt idx="28">
                  <c:v>94.07140000000001</c:v>
                </c:pt>
                <c:pt idx="29">
                  <c:v>94.7365</c:v>
                </c:pt>
                <c:pt idx="30">
                  <c:v>94.6124</c:v>
                </c:pt>
                <c:pt idx="31">
                  <c:v>94.7396</c:v>
                </c:pt>
                <c:pt idx="32">
                  <c:v>94.6222</c:v>
                </c:pt>
                <c:pt idx="33">
                  <c:v>94.18339999999999</c:v>
                </c:pt>
                <c:pt idx="34">
                  <c:v>94.0651</c:v>
                </c:pt>
                <c:pt idx="35">
                  <c:v>94.5932</c:v>
                </c:pt>
                <c:pt idx="36">
                  <c:v>94.595</c:v>
                </c:pt>
                <c:pt idx="37">
                  <c:v>94.32350000000001</c:v>
                </c:pt>
                <c:pt idx="38">
                  <c:v>94.7365</c:v>
                </c:pt>
                <c:pt idx="39">
                  <c:v>94.8882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0"/>
      </c:catAx>
      <c:valAx>
        <c:axId val="2140495176"/>
        <c:scaling>
          <c:max val="100.0"/>
          <c:min val="0.0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0.00034</c:v>
                </c:pt>
                <c:pt idx="1">
                  <c:v>0.0006700000000000001</c:v>
                </c:pt>
                <c:pt idx="2">
                  <c:v>0.001</c:v>
                </c:pt>
                <c:pt idx="3">
                  <c:v>0.0009982167568285507</c:v>
                </c:pt>
                <c:pt idx="4">
                  <c:v>0.0009928798756221157</c:v>
                </c:pt>
                <c:pt idx="5">
                  <c:v>0.000984027808732082</c:v>
                </c:pt>
                <c:pt idx="6">
                  <c:v>0.0009717243355032365</c:v>
                </c:pt>
                <c:pt idx="7">
                  <c:v>0.0009560581027421271</c:v>
                </c:pt>
                <c:pt idx="8">
                  <c:v>0.000937141986014788</c:v>
                </c:pt>
                <c:pt idx="9">
                  <c:v>0.0009151122763757018</c:v>
                </c:pt>
                <c:pt idx="10">
                  <c:v>0.0008901276983876275</c:v>
                </c:pt>
                <c:pt idx="11">
                  <c:v>0.0008623682665074895</c:v>
                </c:pt>
                <c:pt idx="12">
                  <c:v>0.0008320339880780901</c:v>
                </c:pt>
                <c:pt idx="13">
                  <c:v>0.0007993434222706218</c:v>
                </c:pt>
                <c:pt idx="14">
                  <c:v>0.0007645321053608296</c:v>
                </c:pt>
                <c:pt idx="15">
                  <c:v>0.0007278508536847482</c:v>
                </c:pt>
                <c:pt idx="16">
                  <c:v>0.0006895639565012528</c:v>
                </c:pt>
                <c:pt idx="17">
                  <c:v>0.0006499472717818924</c:v>
                </c:pt>
                <c:pt idx="18">
                  <c:v>0.0006092862386478846</c:v>
                </c:pt>
                <c:pt idx="19">
                  <c:v>0.0005678738207747049</c:v>
                </c:pt>
                <c:pt idx="20">
                  <c:v>0.0005260083955820935</c:v>
                </c:pt>
                <c:pt idx="21">
                  <c:v>0.00048399160441790664</c:v>
                </c:pt>
                <c:pt idx="22">
                  <c:v>0.00044212617922529497</c:v>
                </c:pt>
                <c:pt idx="23">
                  <c:v>0.00040071376135211544</c:v>
                </c:pt>
                <c:pt idx="24">
                  <c:v>0.00036005272821810764</c:v>
                </c:pt>
                <c:pt idx="25">
                  <c:v>0.00032043604349874725</c:v>
                </c:pt>
                <c:pt idx="26">
                  <c:v>0.0002821491463152516</c:v>
                </c:pt>
                <c:pt idx="27">
                  <c:v>0.00024546789463917034</c:v>
                </c:pt>
                <c:pt idx="28">
                  <c:v>0.00021065657772937805</c:v>
                </c:pt>
                <c:pt idx="29">
                  <c:v>0.00017796601192190975</c:v>
                </c:pt>
                <c:pt idx="30">
                  <c:v>0.0001476317334925104</c:v>
                </c:pt>
                <c:pt idx="31">
                  <c:v>0.00011987230161237237</c:v>
                </c:pt>
                <c:pt idx="32">
                  <c:v>9.488772362429817e-05</c:v>
                </c:pt>
                <c:pt idx="33">
                  <c:v>7.285801398521197e-05</c:v>
                </c:pt>
                <c:pt idx="34">
                  <c:v>5.394189725787288e-05</c:v>
                </c:pt>
                <c:pt idx="35">
                  <c:v>3.8275664496763314e-05</c:v>
                </c:pt>
                <c:pt idx="36">
                  <c:v>2.5972191267918057e-05</c:v>
                </c:pt>
                <c:pt idx="37">
                  <c:v>1.7120124377884313e-05</c:v>
                </c:pt>
                <c:pt idx="38">
                  <c:v>1.1783243171449372e-05</c:v>
                </c:pt>
                <c:pt idx="39">
                  <c:v>1e-05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0.00034</c:v>
                </c:pt>
                <c:pt idx="1">
                  <c:v>0.0006700000000000001</c:v>
                </c:pt>
                <c:pt idx="2">
                  <c:v>0.001</c:v>
                </c:pt>
                <c:pt idx="3">
                  <c:v>0.0009982167568285507</c:v>
                </c:pt>
                <c:pt idx="4">
                  <c:v>0.0009928798756221157</c:v>
                </c:pt>
                <c:pt idx="5">
                  <c:v>0.000984027808732082</c:v>
                </c:pt>
                <c:pt idx="6">
                  <c:v>0.0009717243355032365</c:v>
                </c:pt>
                <c:pt idx="7">
                  <c:v>0.0009560581027421271</c:v>
                </c:pt>
                <c:pt idx="8">
                  <c:v>0.000937141986014788</c:v>
                </c:pt>
                <c:pt idx="9">
                  <c:v>0.0009151122763757018</c:v>
                </c:pt>
                <c:pt idx="10">
                  <c:v>0.0008901276983876275</c:v>
                </c:pt>
                <c:pt idx="11">
                  <c:v>0.0008623682665074895</c:v>
                </c:pt>
                <c:pt idx="12">
                  <c:v>0.0008320339880780901</c:v>
                </c:pt>
                <c:pt idx="13">
                  <c:v>0.0007993434222706218</c:v>
                </c:pt>
                <c:pt idx="14">
                  <c:v>0.0007645321053608296</c:v>
                </c:pt>
                <c:pt idx="15">
                  <c:v>0.0007278508536847482</c:v>
                </c:pt>
                <c:pt idx="16">
                  <c:v>0.0006895639565012528</c:v>
                </c:pt>
                <c:pt idx="17">
                  <c:v>0.0006499472717818924</c:v>
                </c:pt>
                <c:pt idx="18">
                  <c:v>0.0006092862386478846</c:v>
                </c:pt>
                <c:pt idx="19">
                  <c:v>0.0005678738207747049</c:v>
                </c:pt>
                <c:pt idx="20">
                  <c:v>0.0005260083955820935</c:v>
                </c:pt>
                <c:pt idx="21">
                  <c:v>0.00048399160441790664</c:v>
                </c:pt>
                <c:pt idx="22">
                  <c:v>0.00044212617922529497</c:v>
                </c:pt>
                <c:pt idx="23">
                  <c:v>0.00040071376135211544</c:v>
                </c:pt>
                <c:pt idx="24">
                  <c:v>0.00036005272821810764</c:v>
                </c:pt>
                <c:pt idx="25">
                  <c:v>0.00032043604349874725</c:v>
                </c:pt>
                <c:pt idx="26">
                  <c:v>0.0002821491463152516</c:v>
                </c:pt>
                <c:pt idx="27">
                  <c:v>0.00024546789463917034</c:v>
                </c:pt>
                <c:pt idx="28">
                  <c:v>0.00021065657772937805</c:v>
                </c:pt>
                <c:pt idx="29">
                  <c:v>0.00017796601192190975</c:v>
                </c:pt>
                <c:pt idx="30">
                  <c:v>0.0001476317334925104</c:v>
                </c:pt>
                <c:pt idx="31">
                  <c:v>0.00011987230161237237</c:v>
                </c:pt>
                <c:pt idx="32">
                  <c:v>9.488772362429817e-05</c:v>
                </c:pt>
                <c:pt idx="33">
                  <c:v>7.285801398521197e-05</c:v>
                </c:pt>
                <c:pt idx="34">
                  <c:v>5.394189725787288e-05</c:v>
                </c:pt>
                <c:pt idx="35">
                  <c:v>3.8275664496763314e-05</c:v>
                </c:pt>
                <c:pt idx="36">
                  <c:v>2.5972191267918057e-05</c:v>
                </c:pt>
                <c:pt idx="37">
                  <c:v>1.7120124377884313e-05</c:v>
                </c:pt>
                <c:pt idx="38">
                  <c:v>1.1783243171449372e-05</c:v>
                </c:pt>
                <c:pt idx="39">
                  <c:v>1e-05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0"/>
      </c:catAx>
      <c:valAx>
        <c:axId val="2140495176"/>
        <c:scaling>
          <c:max val="0.0011"/>
          <c:min val="0.0"/>
        </c:scaling>
        <c:delete val="0"/>
        <c:axPos val="l"/>
        <c:majorGridlines/>
        <c:numFmt formatCode="0.000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融合前</c:v>
                </c:pt>
              </c:strCache>
            </c:strRef>
          </c:tx>
          <c:spPr>
            <a:solidFill>
              <a:srgbClr val="218EBC"/>
            </a:solidFill>
            <a:ln w="20320">
              <a:solidFill>
                <a:srgbClr val="218EBC"/>
              </a:solidFill>
            </a:ln>
          </c:spPr>
          <c:cat>
            <c:strRef>
              <c:f>Sheet1!$A$2:$A$3</c:f>
              <c:strCache>
                <c:ptCount val="2"/>
                <c:pt idx="0">
                  <c:v>BatchNorm</c:v>
                </c:pt>
                <c:pt idx="1">
                  <c:v>Conv2d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107</c:v>
                </c:pt>
                <c:pt idx="1">
                  <c:v>126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融合后</c:v>
                </c:pt>
              </c:strCache>
            </c:strRef>
          </c:tx>
          <c:spPr>
            <a:solidFill>
              <a:srgbClr val="EB9951"/>
            </a:solidFill>
            <a:ln w="20320">
              <a:solidFill>
                <a:srgbClr val="EB9951"/>
              </a:solidFill>
            </a:ln>
          </c:spPr>
          <c:cat>
            <c:strRef>
              <c:f>Sheet1!$A$2:$A$3</c:f>
              <c:strCache>
                <c:ptCount val="2"/>
                <c:pt idx="0">
                  <c:v>BatchNorm</c:v>
                </c:pt>
                <c:pt idx="1">
                  <c:v>Conv2d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103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0.0"/>
          <c:min val="0.0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P50</c:v>
                </c:pt>
              </c:strCache>
            </c:strRef>
          </c:tx>
          <c:spPr>
            <a:solidFill>
              <a:srgbClr val="218EBC"/>
            </a:solidFill>
            <a:ln w="20320">
              <a:solidFill>
                <a:srgbClr val="218EBC"/>
              </a:solidFill>
            </a:ln>
          </c:spPr>
          <c:cat>
            <c:strRef>
              <c:f>Sheet1!$A$2:$A$7</c:f>
              <c:strCache>
                <c:ptCount val="6"/>
                <c:pt idx="0">
                  <c:v>M0.9</c:v>
                </c:pt>
                <c:pt idx="1">
                  <c:v>M1.0</c:v>
                </c:pt>
                <c:pt idx="2">
                  <c:v>M1.1</c:v>
                </c:pt>
                <c:pt idx="3">
                  <c:v>M1.5</c:v>
                </c:pt>
                <c:pt idx="4">
                  <c:v>M2.3</c:v>
                </c:pt>
                <c:pt idx="5">
                  <c:v>Pet37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7.373</c:v>
                </c:pt>
                <c:pt idx="1">
                  <c:v>9.147</c:v>
                </c:pt>
                <c:pt idx="2">
                  <c:v>10.234</c:v>
                </c:pt>
                <c:pt idx="3">
                  <c:v>17.647</c:v>
                </c:pt>
                <c:pt idx="4">
                  <c:v>32.687</c:v>
                </c:pt>
                <c:pt idx="5">
                  <c:v>7.122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P95</c:v>
                </c:pt>
              </c:strCache>
            </c:strRef>
          </c:tx>
          <c:spPr>
            <a:solidFill>
              <a:srgbClr val="EB9951"/>
            </a:solidFill>
            <a:ln w="20320">
              <a:solidFill>
                <a:srgbClr val="EB9951"/>
              </a:solidFill>
            </a:ln>
          </c:spPr>
          <c:cat>
            <c:strRef>
              <c:f>Sheet1!$A$2:$A$7</c:f>
              <c:strCache>
                <c:ptCount val="6"/>
                <c:pt idx="0">
                  <c:v>M0.9</c:v>
                </c:pt>
                <c:pt idx="1">
                  <c:v>M1.0</c:v>
                </c:pt>
                <c:pt idx="2">
                  <c:v>M1.1</c:v>
                </c:pt>
                <c:pt idx="3">
                  <c:v>M1.5</c:v>
                </c:pt>
                <c:pt idx="4">
                  <c:v>M2.3</c:v>
                </c:pt>
                <c:pt idx="5">
                  <c:v>Pet37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8.002</c:v>
                </c:pt>
                <c:pt idx="1">
                  <c:v>9.76</c:v>
                </c:pt>
                <c:pt idx="2">
                  <c:v>11.241</c:v>
                </c:pt>
                <c:pt idx="3">
                  <c:v>18.926</c:v>
                </c:pt>
                <c:pt idx="4">
                  <c:v>33.322</c:v>
                </c:pt>
                <c:pt idx="5">
                  <c:v>7.692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6.0"/>
          <c:min val="0.0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m0.9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Sheet1!$A$2:$A$2</c:f>
              <c:numCache>
                <c:formatCode>General</c:formatCode>
                <c:ptCount val="1"/>
                <c:pt idx="0">
                  <c:v>7.373</c:v>
                </c:pt>
              </c:numCache>
            </c:numRef>
          </c:xVal>
          <c:yVal>
            <c:numRef>
              <c:f>Sheet1!$B$2:$B$2</c:f>
              <c:numCache>
                <c:formatCode>General</c:formatCode>
                <c:ptCount val="1"/>
                <c:pt idx="0">
                  <c:v>78.2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Sheet1!$B$4</c:f>
              <c:strCache>
                <c:ptCount val="1"/>
                <c:pt idx="0">
                  <c:v>m1.0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Sheet1!$A$5:$A$5</c:f>
              <c:numCache>
                <c:formatCode>General</c:formatCode>
                <c:ptCount val="1"/>
                <c:pt idx="0">
                  <c:v>9.147</c:v>
                </c:pt>
              </c:numCache>
            </c:numRef>
          </c:xVal>
          <c:yVal>
            <c:numRef>
              <c:f>Sheet1!$B$5:$B$5</c:f>
              <c:numCache>
                <c:formatCode>General</c:formatCode>
                <c:ptCount val="1"/>
                <c:pt idx="0">
                  <c:v>79.9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Sheet1!$B$7</c:f>
              <c:strCache>
                <c:ptCount val="1"/>
                <c:pt idx="0">
                  <c:v>m1.1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Sheet1!$A$8:$A$8</c:f>
              <c:numCache>
                <c:formatCode>General</c:formatCode>
                <c:ptCount val="1"/>
                <c:pt idx="0">
                  <c:v>10.234</c:v>
                </c:pt>
              </c:numCache>
            </c:numRef>
          </c:xVal>
          <c:yVal>
            <c:numRef>
              <c:f>Sheet1!$B$8:$B$8</c:f>
              <c:numCache>
                <c:formatCode>General</c:formatCode>
                <c:ptCount val="1"/>
                <c:pt idx="0">
                  <c:v>79.9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Sheet1!$B$10</c:f>
              <c:strCache>
                <c:ptCount val="1"/>
                <c:pt idx="0">
                  <c:v>m1.5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Sheet1!$A$11:$A$11</c:f>
              <c:numCache>
                <c:formatCode>General</c:formatCode>
                <c:ptCount val="1"/>
                <c:pt idx="0">
                  <c:v>17.647</c:v>
                </c:pt>
              </c:numCache>
            </c:numRef>
          </c:xVal>
          <c:yVal>
            <c:numRef>
              <c:f>Sheet1!$B$11:$B$11</c:f>
              <c:numCache>
                <c:formatCode>General</c:formatCode>
                <c:ptCount val="1"/>
                <c:pt idx="0">
                  <c:v>82.8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Sheet1!$B$13</c:f>
              <c:strCache>
                <c:ptCount val="1"/>
                <c:pt idx="0">
                  <c:v>m2.3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Sheet1!$A$14:$A$14</c:f>
              <c:numCache>
                <c:formatCode>General</c:formatCode>
                <c:ptCount val="1"/>
                <c:pt idx="0">
                  <c:v>32.687</c:v>
                </c:pt>
              </c:numCache>
            </c:numRef>
          </c:xVal>
          <c:yVal>
            <c:numRef>
              <c:f>Sheet1!$B$14:$B$14</c:f>
              <c:numCache>
                <c:formatCode>General</c:formatCode>
                <c:ptCount val="1"/>
                <c:pt idx="0">
                  <c:v>83.1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P50 (ms)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  <c:max val="84.0"/>
          <c:min val="77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Top-1 (%)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1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3.650064</c:v>
                </c:pt>
                <c:pt idx="1">
                  <c:v>3.340333</c:v>
                </c:pt>
                <c:pt idx="2">
                  <c:v>2.417484</c:v>
                </c:pt>
                <c:pt idx="3">
                  <c:v>1.399619</c:v>
                </c:pt>
                <c:pt idx="4">
                  <c:v>1.065965</c:v>
                </c:pt>
                <c:pt idx="5">
                  <c:v>0.958617</c:v>
                </c:pt>
                <c:pt idx="6">
                  <c:v>0.913994</c:v>
                </c:pt>
                <c:pt idx="7">
                  <c:v>0.883491</c:v>
                </c:pt>
                <c:pt idx="8">
                  <c:v>0.850445</c:v>
                </c:pt>
                <c:pt idx="9">
                  <c:v>0.838216</c:v>
                </c:pt>
                <c:pt idx="10">
                  <c:v>0.818988</c:v>
                </c:pt>
                <c:pt idx="11">
                  <c:v>0.80327</c:v>
                </c:pt>
                <c:pt idx="12">
                  <c:v>0.797152</c:v>
                </c:pt>
                <c:pt idx="13">
                  <c:v>0.782725</c:v>
                </c:pt>
                <c:pt idx="14">
                  <c:v>0.785338</c:v>
                </c:pt>
                <c:pt idx="15">
                  <c:v>0.781938</c:v>
                </c:pt>
                <c:pt idx="16">
                  <c:v>0.773129</c:v>
                </c:pt>
                <c:pt idx="17">
                  <c:v>0.770628</c:v>
                </c:pt>
                <c:pt idx="18">
                  <c:v>0.762286</c:v>
                </c:pt>
                <c:pt idx="19">
                  <c:v>0.756404</c:v>
                </c:pt>
                <c:pt idx="20">
                  <c:v>0.759709</c:v>
                </c:pt>
                <c:pt idx="21">
                  <c:v>0.75677</c:v>
                </c:pt>
                <c:pt idx="22">
                  <c:v>0.750825</c:v>
                </c:pt>
                <c:pt idx="23">
                  <c:v>0.751612</c:v>
                </c:pt>
                <c:pt idx="24">
                  <c:v>0.746871</c:v>
                </c:pt>
                <c:pt idx="25">
                  <c:v>0.745619</c:v>
                </c:pt>
                <c:pt idx="26">
                  <c:v>0.740717</c:v>
                </c:pt>
                <c:pt idx="27">
                  <c:v>0.746159</c:v>
                </c:pt>
                <c:pt idx="28">
                  <c:v>0.741716</c:v>
                </c:pt>
                <c:pt idx="29">
                  <c:v>0.739014</c:v>
                </c:pt>
                <c:pt idx="30">
                  <c:v>0.73751</c:v>
                </c:pt>
                <c:pt idx="31">
                  <c:v>0.736745</c:v>
                </c:pt>
                <c:pt idx="32">
                  <c:v>0.733911</c:v>
                </c:pt>
                <c:pt idx="33">
                  <c:v>0.739235</c:v>
                </c:pt>
                <c:pt idx="34">
                  <c:v>0.739688</c:v>
                </c:pt>
                <c:pt idx="35">
                  <c:v>0.733909</c:v>
                </c:pt>
                <c:pt idx="36">
                  <c:v>0.733532</c:v>
                </c:pt>
                <c:pt idx="37">
                  <c:v>0.729967</c:v>
                </c:pt>
                <c:pt idx="38">
                  <c:v>0.731419</c:v>
                </c:pt>
                <c:pt idx="39">
                  <c:v>0.736097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3.644843</c:v>
                </c:pt>
                <c:pt idx="1">
                  <c:v>3.465572</c:v>
                </c:pt>
                <c:pt idx="2">
                  <c:v>2.997306</c:v>
                </c:pt>
                <c:pt idx="3">
                  <c:v>2.375531</c:v>
                </c:pt>
                <c:pt idx="4">
                  <c:v>1.950906</c:v>
                </c:pt>
                <c:pt idx="5">
                  <c:v>1.955643</c:v>
                </c:pt>
                <c:pt idx="6">
                  <c:v>1.775409</c:v>
                </c:pt>
                <c:pt idx="7">
                  <c:v>1.709704</c:v>
                </c:pt>
                <c:pt idx="8">
                  <c:v>1.833871</c:v>
                </c:pt>
                <c:pt idx="9">
                  <c:v>1.691916</c:v>
                </c:pt>
                <c:pt idx="10">
                  <c:v>1.780054</c:v>
                </c:pt>
                <c:pt idx="11">
                  <c:v>1.637641</c:v>
                </c:pt>
                <c:pt idx="12">
                  <c:v>1.640945</c:v>
                </c:pt>
                <c:pt idx="13">
                  <c:v>1.709644</c:v>
                </c:pt>
                <c:pt idx="14">
                  <c:v>1.626981</c:v>
                </c:pt>
                <c:pt idx="15">
                  <c:v>1.542563</c:v>
                </c:pt>
                <c:pt idx="16">
                  <c:v>1.554269</c:v>
                </c:pt>
                <c:pt idx="17">
                  <c:v>1.500675</c:v>
                </c:pt>
                <c:pt idx="18">
                  <c:v>1.533797</c:v>
                </c:pt>
                <c:pt idx="19">
                  <c:v>1.695746</c:v>
                </c:pt>
                <c:pt idx="20">
                  <c:v>1.681996</c:v>
                </c:pt>
                <c:pt idx="21">
                  <c:v>1.600051</c:v>
                </c:pt>
                <c:pt idx="22">
                  <c:v>1.576141</c:v>
                </c:pt>
                <c:pt idx="23">
                  <c:v>1.488927</c:v>
                </c:pt>
                <c:pt idx="24">
                  <c:v>1.551476</c:v>
                </c:pt>
                <c:pt idx="25">
                  <c:v>1.55356</c:v>
                </c:pt>
                <c:pt idx="26">
                  <c:v>1.555999</c:v>
                </c:pt>
                <c:pt idx="27">
                  <c:v>1.699456</c:v>
                </c:pt>
                <c:pt idx="28">
                  <c:v>1.548116</c:v>
                </c:pt>
                <c:pt idx="29">
                  <c:v>1.515924</c:v>
                </c:pt>
                <c:pt idx="30">
                  <c:v>1.605627</c:v>
                </c:pt>
                <c:pt idx="31">
                  <c:v>1.607826</c:v>
                </c:pt>
                <c:pt idx="32">
                  <c:v>1.442644</c:v>
                </c:pt>
                <c:pt idx="33">
                  <c:v>1.420347</c:v>
                </c:pt>
                <c:pt idx="34">
                  <c:v>1.553397</c:v>
                </c:pt>
                <c:pt idx="35">
                  <c:v>1.413508</c:v>
                </c:pt>
                <c:pt idx="36">
                  <c:v>1.483258</c:v>
                </c:pt>
                <c:pt idx="37">
                  <c:v>1.38146</c:v>
                </c:pt>
                <c:pt idx="38">
                  <c:v>1.490589</c:v>
                </c:pt>
                <c:pt idx="39">
                  <c:v>1.528419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0"/>
      </c:catAx>
      <c:valAx>
        <c:axId val="2140495176"/>
        <c:scaling>
          <c:max val="4.0"/>
          <c:min val="0.0"/>
        </c:scaling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3.646849</c:v>
                </c:pt>
                <c:pt idx="1">
                  <c:v>2.877319</c:v>
                </c:pt>
                <c:pt idx="2">
                  <c:v>1.318459</c:v>
                </c:pt>
                <c:pt idx="3">
                  <c:v>0.514603</c:v>
                </c:pt>
                <c:pt idx="4">
                  <c:v>0.403145</c:v>
                </c:pt>
                <c:pt idx="5">
                  <c:v>0.363732</c:v>
                </c:pt>
                <c:pt idx="6">
                  <c:v>0.342003</c:v>
                </c:pt>
                <c:pt idx="7">
                  <c:v>0.34134</c:v>
                </c:pt>
                <c:pt idx="8">
                  <c:v>0.333772</c:v>
                </c:pt>
                <c:pt idx="9">
                  <c:v>0.336938</c:v>
                </c:pt>
                <c:pt idx="10">
                  <c:v>0.346271</c:v>
                </c:pt>
                <c:pt idx="11">
                  <c:v>0.347715</c:v>
                </c:pt>
                <c:pt idx="12">
                  <c:v>0.334254</c:v>
                </c:pt>
                <c:pt idx="13">
                  <c:v>0.336081</c:v>
                </c:pt>
                <c:pt idx="14">
                  <c:v>0.32657</c:v>
                </c:pt>
                <c:pt idx="15">
                  <c:v>0.330052</c:v>
                </c:pt>
                <c:pt idx="16">
                  <c:v>0.3443</c:v>
                </c:pt>
                <c:pt idx="17">
                  <c:v>0.333807</c:v>
                </c:pt>
                <c:pt idx="18">
                  <c:v>0.334056</c:v>
                </c:pt>
                <c:pt idx="19">
                  <c:v>0.338237</c:v>
                </c:pt>
                <c:pt idx="20">
                  <c:v>0.354305</c:v>
                </c:pt>
                <c:pt idx="21">
                  <c:v>0.328294</c:v>
                </c:pt>
                <c:pt idx="22">
                  <c:v>0.34978</c:v>
                </c:pt>
                <c:pt idx="23">
                  <c:v>0.349989</c:v>
                </c:pt>
                <c:pt idx="24">
                  <c:v>0.348213</c:v>
                </c:pt>
                <c:pt idx="25">
                  <c:v>0.349404</c:v>
                </c:pt>
                <c:pt idx="26">
                  <c:v>0.342029</c:v>
                </c:pt>
                <c:pt idx="27">
                  <c:v>0.347343</c:v>
                </c:pt>
                <c:pt idx="28">
                  <c:v>0.346217</c:v>
                </c:pt>
                <c:pt idx="29">
                  <c:v>0.343025</c:v>
                </c:pt>
                <c:pt idx="30">
                  <c:v>0.345742</c:v>
                </c:pt>
                <c:pt idx="31">
                  <c:v>0.338855</c:v>
                </c:pt>
                <c:pt idx="32">
                  <c:v>0.346061</c:v>
                </c:pt>
                <c:pt idx="33">
                  <c:v>0.339792</c:v>
                </c:pt>
                <c:pt idx="34">
                  <c:v>0.346665</c:v>
                </c:pt>
                <c:pt idx="35">
                  <c:v>0.343303</c:v>
                </c:pt>
                <c:pt idx="36">
                  <c:v>0.352725</c:v>
                </c:pt>
                <c:pt idx="37">
                  <c:v>0.351029</c:v>
                </c:pt>
                <c:pt idx="38">
                  <c:v>0.347959</c:v>
                </c:pt>
                <c:pt idx="39">
                  <c:v>0.352268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3.651001</c:v>
                </c:pt>
                <c:pt idx="1">
                  <c:v>3.093787</c:v>
                </c:pt>
                <c:pt idx="2">
                  <c:v>2.014341</c:v>
                </c:pt>
                <c:pt idx="3">
                  <c:v>0.929365</c:v>
                </c:pt>
                <c:pt idx="4">
                  <c:v>0.653127</c:v>
                </c:pt>
                <c:pt idx="5">
                  <c:v>0.591324</c:v>
                </c:pt>
                <c:pt idx="6">
                  <c:v>0.520724</c:v>
                </c:pt>
                <c:pt idx="7">
                  <c:v>0.52614</c:v>
                </c:pt>
                <c:pt idx="8">
                  <c:v>0.523514</c:v>
                </c:pt>
                <c:pt idx="9">
                  <c:v>0.505148</c:v>
                </c:pt>
                <c:pt idx="10">
                  <c:v>0.498441</c:v>
                </c:pt>
                <c:pt idx="11">
                  <c:v>0.51635</c:v>
                </c:pt>
                <c:pt idx="12">
                  <c:v>0.477191</c:v>
                </c:pt>
                <c:pt idx="13">
                  <c:v>0.505392</c:v>
                </c:pt>
                <c:pt idx="14">
                  <c:v>0.470496</c:v>
                </c:pt>
                <c:pt idx="15">
                  <c:v>0.468182</c:v>
                </c:pt>
                <c:pt idx="16">
                  <c:v>0.442523</c:v>
                </c:pt>
                <c:pt idx="17">
                  <c:v>0.42225</c:v>
                </c:pt>
                <c:pt idx="18">
                  <c:v>0.483194</c:v>
                </c:pt>
                <c:pt idx="19">
                  <c:v>0.470084</c:v>
                </c:pt>
                <c:pt idx="20">
                  <c:v>0.541411</c:v>
                </c:pt>
                <c:pt idx="21">
                  <c:v>0.478774</c:v>
                </c:pt>
                <c:pt idx="22">
                  <c:v>0.418721</c:v>
                </c:pt>
                <c:pt idx="23">
                  <c:v>0.470669</c:v>
                </c:pt>
                <c:pt idx="24">
                  <c:v>0.46522</c:v>
                </c:pt>
                <c:pt idx="25">
                  <c:v>0.479187</c:v>
                </c:pt>
                <c:pt idx="26">
                  <c:v>0.464335</c:v>
                </c:pt>
                <c:pt idx="27">
                  <c:v>0.490611</c:v>
                </c:pt>
                <c:pt idx="28">
                  <c:v>0.443554</c:v>
                </c:pt>
                <c:pt idx="29">
                  <c:v>0.477822</c:v>
                </c:pt>
                <c:pt idx="30">
                  <c:v>0.452515</c:v>
                </c:pt>
                <c:pt idx="31">
                  <c:v>0.467338</c:v>
                </c:pt>
                <c:pt idx="32">
                  <c:v>0.413063</c:v>
                </c:pt>
                <c:pt idx="33">
                  <c:v>0.402067</c:v>
                </c:pt>
                <c:pt idx="34">
                  <c:v>0.414865</c:v>
                </c:pt>
                <c:pt idx="35">
                  <c:v>0.417458</c:v>
                </c:pt>
                <c:pt idx="36">
                  <c:v>0.453964</c:v>
                </c:pt>
                <c:pt idx="37">
                  <c:v>0.405091</c:v>
                </c:pt>
                <c:pt idx="38">
                  <c:v>0.420371</c:v>
                </c:pt>
                <c:pt idx="39">
                  <c:v>0.453505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0"/>
      </c:catAx>
      <c:valAx>
        <c:axId val="2140495176"/>
        <c:scaling>
          <c:max val="4.0"/>
          <c:min val="0.0"/>
        </c:scaling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1.6216000000000002</c:v>
                </c:pt>
                <c:pt idx="1">
                  <c:v>66.2162</c:v>
                </c:pt>
                <c:pt idx="2">
                  <c:v>84.5946</c:v>
                </c:pt>
                <c:pt idx="3">
                  <c:v>89.4595</c:v>
                </c:pt>
                <c:pt idx="4">
                  <c:v>91.6216</c:v>
                </c:pt>
                <c:pt idx="5">
                  <c:v>92.2973</c:v>
                </c:pt>
                <c:pt idx="6">
                  <c:v>92.973</c:v>
                </c:pt>
                <c:pt idx="7">
                  <c:v>93.10810000000001</c:v>
                </c:pt>
                <c:pt idx="8">
                  <c:v>92.973</c:v>
                </c:pt>
                <c:pt idx="9">
                  <c:v>93.10810000000001</c:v>
                </c:pt>
                <c:pt idx="10">
                  <c:v>93.2432</c:v>
                </c:pt>
                <c:pt idx="11">
                  <c:v>93.6486</c:v>
                </c:pt>
                <c:pt idx="12">
                  <c:v>93.51350000000001</c:v>
                </c:pt>
                <c:pt idx="13">
                  <c:v>93.91890000000001</c:v>
                </c:pt>
                <c:pt idx="14">
                  <c:v>93.7838</c:v>
                </c:pt>
                <c:pt idx="15">
                  <c:v>94.1892</c:v>
                </c:pt>
                <c:pt idx="16">
                  <c:v>93.51350000000001</c:v>
                </c:pt>
                <c:pt idx="17">
                  <c:v>93.3784</c:v>
                </c:pt>
                <c:pt idx="18">
                  <c:v>93.91890000000001</c:v>
                </c:pt>
                <c:pt idx="19">
                  <c:v>93.91890000000001</c:v>
                </c:pt>
                <c:pt idx="20">
                  <c:v>93.7838</c:v>
                </c:pt>
                <c:pt idx="21">
                  <c:v>93.7838</c:v>
                </c:pt>
                <c:pt idx="22">
                  <c:v>93.7838</c:v>
                </c:pt>
                <c:pt idx="23">
                  <c:v>94.05409999999999</c:v>
                </c:pt>
                <c:pt idx="24">
                  <c:v>93.3784</c:v>
                </c:pt>
                <c:pt idx="25">
                  <c:v>94.1892</c:v>
                </c:pt>
                <c:pt idx="26">
                  <c:v>93.51350000000001</c:v>
                </c:pt>
                <c:pt idx="27">
                  <c:v>93.7838</c:v>
                </c:pt>
                <c:pt idx="28">
                  <c:v>94.05409999999999</c:v>
                </c:pt>
                <c:pt idx="29">
                  <c:v>93.6486</c:v>
                </c:pt>
                <c:pt idx="30">
                  <c:v>94.05409999999999</c:v>
                </c:pt>
                <c:pt idx="31">
                  <c:v>94.1892</c:v>
                </c:pt>
                <c:pt idx="32">
                  <c:v>93.91890000000001</c:v>
                </c:pt>
                <c:pt idx="33">
                  <c:v>94.45949999999999</c:v>
                </c:pt>
                <c:pt idx="34">
                  <c:v>94.5946</c:v>
                </c:pt>
                <c:pt idx="35">
                  <c:v>94.1892</c:v>
                </c:pt>
                <c:pt idx="36">
                  <c:v>93.6486</c:v>
                </c:pt>
                <c:pt idx="37">
                  <c:v>94.1892</c:v>
                </c:pt>
                <c:pt idx="38">
                  <c:v>94.05409999999999</c:v>
                </c:pt>
                <c:pt idx="39">
                  <c:v>94.05409999999999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1.3514</c:v>
                </c:pt>
                <c:pt idx="1">
                  <c:v>55.1351</c:v>
                </c:pt>
                <c:pt idx="2">
                  <c:v>79.8649</c:v>
                </c:pt>
                <c:pt idx="3">
                  <c:v>88.10810000000001</c:v>
                </c:pt>
                <c:pt idx="4">
                  <c:v>90.8108</c:v>
                </c:pt>
                <c:pt idx="5">
                  <c:v>91.4865</c:v>
                </c:pt>
                <c:pt idx="6">
                  <c:v>92.027</c:v>
                </c:pt>
                <c:pt idx="7">
                  <c:v>92.027</c:v>
                </c:pt>
                <c:pt idx="8">
                  <c:v>92.5676</c:v>
                </c:pt>
                <c:pt idx="9">
                  <c:v>93.10810000000001</c:v>
                </c:pt>
                <c:pt idx="10">
                  <c:v>92.2973</c:v>
                </c:pt>
                <c:pt idx="11">
                  <c:v>92.973</c:v>
                </c:pt>
                <c:pt idx="12">
                  <c:v>93.51350000000001</c:v>
                </c:pt>
                <c:pt idx="13">
                  <c:v>93.10810000000001</c:v>
                </c:pt>
                <c:pt idx="14">
                  <c:v>92.8378</c:v>
                </c:pt>
                <c:pt idx="15">
                  <c:v>93.6486</c:v>
                </c:pt>
                <c:pt idx="16">
                  <c:v>94.05409999999999</c:v>
                </c:pt>
                <c:pt idx="17">
                  <c:v>93.7838</c:v>
                </c:pt>
                <c:pt idx="18">
                  <c:v>93.6486</c:v>
                </c:pt>
                <c:pt idx="19">
                  <c:v>93.91890000000001</c:v>
                </c:pt>
                <c:pt idx="20">
                  <c:v>94.45949999999999</c:v>
                </c:pt>
                <c:pt idx="21">
                  <c:v>94.45949999999999</c:v>
                </c:pt>
                <c:pt idx="22">
                  <c:v>94.32430000000001</c:v>
                </c:pt>
                <c:pt idx="23">
                  <c:v>94.5946</c:v>
                </c:pt>
                <c:pt idx="24">
                  <c:v>94.05409999999999</c:v>
                </c:pt>
                <c:pt idx="25">
                  <c:v>94.05409999999999</c:v>
                </c:pt>
                <c:pt idx="26">
                  <c:v>94.1892</c:v>
                </c:pt>
                <c:pt idx="27">
                  <c:v>93.91890000000001</c:v>
                </c:pt>
                <c:pt idx="28">
                  <c:v>94.05409999999999</c:v>
                </c:pt>
                <c:pt idx="29">
                  <c:v>94.7297</c:v>
                </c:pt>
                <c:pt idx="30">
                  <c:v>94.5946</c:v>
                </c:pt>
                <c:pt idx="31">
                  <c:v>94.7297</c:v>
                </c:pt>
                <c:pt idx="32">
                  <c:v>94.5946</c:v>
                </c:pt>
                <c:pt idx="33">
                  <c:v>94.1892</c:v>
                </c:pt>
                <c:pt idx="34">
                  <c:v>94.05409999999999</c:v>
                </c:pt>
                <c:pt idx="35">
                  <c:v>94.5946</c:v>
                </c:pt>
                <c:pt idx="36">
                  <c:v>94.5946</c:v>
                </c:pt>
                <c:pt idx="37">
                  <c:v>94.32430000000001</c:v>
                </c:pt>
                <c:pt idx="38">
                  <c:v>94.7297</c:v>
                </c:pt>
                <c:pt idx="39">
                  <c:v>94.86489999999999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0"/>
      </c:catAx>
      <c:valAx>
        <c:axId val="2140495176"/>
        <c:scaling>
          <c:max val="100.0"/>
          <c:min val="0.0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1.6480000000000001</c:v>
                </c:pt>
                <c:pt idx="1">
                  <c:v>65.0626</c:v>
                </c:pt>
                <c:pt idx="2">
                  <c:v>83.9734</c:v>
                </c:pt>
                <c:pt idx="3">
                  <c:v>89.3809</c:v>
                </c:pt>
                <c:pt idx="4">
                  <c:v>91.57690000000001</c:v>
                </c:pt>
                <c:pt idx="5">
                  <c:v>92.24</c:v>
                </c:pt>
                <c:pt idx="6">
                  <c:v>92.9732</c:v>
                </c:pt>
                <c:pt idx="7">
                  <c:v>93.0965</c:v>
                </c:pt>
                <c:pt idx="8">
                  <c:v>92.9541</c:v>
                </c:pt>
                <c:pt idx="9">
                  <c:v>93.099</c:v>
                </c:pt>
                <c:pt idx="10">
                  <c:v>93.1787</c:v>
                </c:pt>
                <c:pt idx="11">
                  <c:v>93.6514</c:v>
                </c:pt>
                <c:pt idx="12">
                  <c:v>93.5278</c:v>
                </c:pt>
                <c:pt idx="13">
                  <c:v>93.9223</c:v>
                </c:pt>
                <c:pt idx="14">
                  <c:v>93.8169</c:v>
                </c:pt>
                <c:pt idx="15">
                  <c:v>94.2133</c:v>
                </c:pt>
                <c:pt idx="16">
                  <c:v>93.49640000000001</c:v>
                </c:pt>
                <c:pt idx="17">
                  <c:v>93.382</c:v>
                </c:pt>
                <c:pt idx="18">
                  <c:v>93.95700000000001</c:v>
                </c:pt>
                <c:pt idx="19">
                  <c:v>93.9492</c:v>
                </c:pt>
                <c:pt idx="20">
                  <c:v>93.7651</c:v>
                </c:pt>
                <c:pt idx="21">
                  <c:v>93.8209</c:v>
                </c:pt>
                <c:pt idx="22">
                  <c:v>93.7899</c:v>
                </c:pt>
                <c:pt idx="23">
                  <c:v>94.0453</c:v>
                </c:pt>
                <c:pt idx="24">
                  <c:v>93.3699</c:v>
                </c:pt>
                <c:pt idx="25">
                  <c:v>94.2106</c:v>
                </c:pt>
                <c:pt idx="26">
                  <c:v>93.5211</c:v>
                </c:pt>
                <c:pt idx="27">
                  <c:v>93.8183</c:v>
                </c:pt>
                <c:pt idx="28">
                  <c:v>94.0662</c:v>
                </c:pt>
                <c:pt idx="29">
                  <c:v>93.6712</c:v>
                </c:pt>
                <c:pt idx="30">
                  <c:v>94.0571</c:v>
                </c:pt>
                <c:pt idx="31">
                  <c:v>94.22460000000001</c:v>
                </c:pt>
                <c:pt idx="32">
                  <c:v>93.9371</c:v>
                </c:pt>
                <c:pt idx="33">
                  <c:v>94.46480000000001</c:v>
                </c:pt>
                <c:pt idx="34">
                  <c:v>94.61659999999999</c:v>
                </c:pt>
                <c:pt idx="35">
                  <c:v>94.2163</c:v>
                </c:pt>
                <c:pt idx="36">
                  <c:v>93.6673</c:v>
                </c:pt>
                <c:pt idx="37">
                  <c:v>94.2079</c:v>
                </c:pt>
                <c:pt idx="38">
                  <c:v>94.0643</c:v>
                </c:pt>
                <c:pt idx="39">
                  <c:v>94.0726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1.3806</c:v>
                </c:pt>
                <c:pt idx="1">
                  <c:v>53.032999999999994</c:v>
                </c:pt>
                <c:pt idx="2">
                  <c:v>78.3583</c:v>
                </c:pt>
                <c:pt idx="3">
                  <c:v>87.7163</c:v>
                </c:pt>
                <c:pt idx="4">
                  <c:v>90.6625</c:v>
                </c:pt>
                <c:pt idx="5">
                  <c:v>91.44200000000001</c:v>
                </c:pt>
                <c:pt idx="6">
                  <c:v>91.96260000000001</c:v>
                </c:pt>
                <c:pt idx="7">
                  <c:v>91.9257</c:v>
                </c:pt>
                <c:pt idx="8">
                  <c:v>92.5154</c:v>
                </c:pt>
                <c:pt idx="9">
                  <c:v>93.0802</c:v>
                </c:pt>
                <c:pt idx="10">
                  <c:v>92.28699999999999</c:v>
                </c:pt>
                <c:pt idx="11">
                  <c:v>92.9931</c:v>
                </c:pt>
                <c:pt idx="12">
                  <c:v>93.54</c:v>
                </c:pt>
                <c:pt idx="13">
                  <c:v>93.1198</c:v>
                </c:pt>
                <c:pt idx="14">
                  <c:v>92.8256</c:v>
                </c:pt>
                <c:pt idx="15">
                  <c:v>93.65400000000001</c:v>
                </c:pt>
                <c:pt idx="16">
                  <c:v>94.0696</c:v>
                </c:pt>
                <c:pt idx="17">
                  <c:v>93.7923</c:v>
                </c:pt>
                <c:pt idx="18">
                  <c:v>93.6591</c:v>
                </c:pt>
                <c:pt idx="19">
                  <c:v>93.9533</c:v>
                </c:pt>
                <c:pt idx="20">
                  <c:v>94.4645</c:v>
                </c:pt>
                <c:pt idx="21">
                  <c:v>94.4816</c:v>
                </c:pt>
                <c:pt idx="22">
                  <c:v>94.3488</c:v>
                </c:pt>
                <c:pt idx="23">
                  <c:v>94.607</c:v>
                </c:pt>
                <c:pt idx="24">
                  <c:v>94.0779</c:v>
                </c:pt>
                <c:pt idx="25">
                  <c:v>94.0739</c:v>
                </c:pt>
                <c:pt idx="26">
                  <c:v>94.1991</c:v>
                </c:pt>
                <c:pt idx="27">
                  <c:v>93.9251</c:v>
                </c:pt>
                <c:pt idx="28">
                  <c:v>94.07140000000001</c:v>
                </c:pt>
                <c:pt idx="29">
                  <c:v>94.7365</c:v>
                </c:pt>
                <c:pt idx="30">
                  <c:v>94.6124</c:v>
                </c:pt>
                <c:pt idx="31">
                  <c:v>94.7396</c:v>
                </c:pt>
                <c:pt idx="32">
                  <c:v>94.6222</c:v>
                </c:pt>
                <c:pt idx="33">
                  <c:v>94.18339999999999</c:v>
                </c:pt>
                <c:pt idx="34">
                  <c:v>94.0651</c:v>
                </c:pt>
                <c:pt idx="35">
                  <c:v>94.5932</c:v>
                </c:pt>
                <c:pt idx="36">
                  <c:v>94.595</c:v>
                </c:pt>
                <c:pt idx="37">
                  <c:v>94.32350000000001</c:v>
                </c:pt>
                <c:pt idx="38">
                  <c:v>94.7365</c:v>
                </c:pt>
                <c:pt idx="39">
                  <c:v>94.8882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0"/>
      </c:catAx>
      <c:valAx>
        <c:axId val="2140495176"/>
        <c:scaling>
          <c:max val="100.0"/>
          <c:min val="0.0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0.00034</c:v>
                </c:pt>
                <c:pt idx="1">
                  <c:v>0.0006700000000000001</c:v>
                </c:pt>
                <c:pt idx="2">
                  <c:v>0.001</c:v>
                </c:pt>
                <c:pt idx="3">
                  <c:v>0.0009982167568285507</c:v>
                </c:pt>
                <c:pt idx="4">
                  <c:v>0.0009928798756221157</c:v>
                </c:pt>
                <c:pt idx="5">
                  <c:v>0.000984027808732082</c:v>
                </c:pt>
                <c:pt idx="6">
                  <c:v>0.0009717243355032365</c:v>
                </c:pt>
                <c:pt idx="7">
                  <c:v>0.0009560581027421271</c:v>
                </c:pt>
                <c:pt idx="8">
                  <c:v>0.000937141986014788</c:v>
                </c:pt>
                <c:pt idx="9">
                  <c:v>0.0009151122763757018</c:v>
                </c:pt>
                <c:pt idx="10">
                  <c:v>0.0008901276983876275</c:v>
                </c:pt>
                <c:pt idx="11">
                  <c:v>0.0008623682665074895</c:v>
                </c:pt>
                <c:pt idx="12">
                  <c:v>0.0008320339880780901</c:v>
                </c:pt>
                <c:pt idx="13">
                  <c:v>0.0007993434222706218</c:v>
                </c:pt>
                <c:pt idx="14">
                  <c:v>0.0007645321053608296</c:v>
                </c:pt>
                <c:pt idx="15">
                  <c:v>0.0007278508536847482</c:v>
                </c:pt>
                <c:pt idx="16">
                  <c:v>0.0006895639565012528</c:v>
                </c:pt>
                <c:pt idx="17">
                  <c:v>0.0006499472717818924</c:v>
                </c:pt>
                <c:pt idx="18">
                  <c:v>0.0006092862386478846</c:v>
                </c:pt>
                <c:pt idx="19">
                  <c:v>0.0005678738207747049</c:v>
                </c:pt>
                <c:pt idx="20">
                  <c:v>0.0005260083955820935</c:v>
                </c:pt>
                <c:pt idx="21">
                  <c:v>0.00048399160441790664</c:v>
                </c:pt>
                <c:pt idx="22">
                  <c:v>0.00044212617922529497</c:v>
                </c:pt>
                <c:pt idx="23">
                  <c:v>0.00040071376135211544</c:v>
                </c:pt>
                <c:pt idx="24">
                  <c:v>0.00036005272821810764</c:v>
                </c:pt>
                <c:pt idx="25">
                  <c:v>0.00032043604349874725</c:v>
                </c:pt>
                <c:pt idx="26">
                  <c:v>0.0002821491463152516</c:v>
                </c:pt>
                <c:pt idx="27">
                  <c:v>0.00024546789463917034</c:v>
                </c:pt>
                <c:pt idx="28">
                  <c:v>0.00021065657772937805</c:v>
                </c:pt>
                <c:pt idx="29">
                  <c:v>0.00017796601192190975</c:v>
                </c:pt>
                <c:pt idx="30">
                  <c:v>0.0001476317334925104</c:v>
                </c:pt>
                <c:pt idx="31">
                  <c:v>0.00011987230161237237</c:v>
                </c:pt>
                <c:pt idx="32">
                  <c:v>9.488772362429817e-05</c:v>
                </c:pt>
                <c:pt idx="33">
                  <c:v>7.285801398521197e-05</c:v>
                </c:pt>
                <c:pt idx="34">
                  <c:v>5.394189725787288e-05</c:v>
                </c:pt>
                <c:pt idx="35">
                  <c:v>3.8275664496763314e-05</c:v>
                </c:pt>
                <c:pt idx="36">
                  <c:v>2.5972191267918057e-05</c:v>
                </c:pt>
                <c:pt idx="37">
                  <c:v>1.7120124377884313e-05</c:v>
                </c:pt>
                <c:pt idx="38">
                  <c:v>1.1783243171449372e-05</c:v>
                </c:pt>
                <c:pt idx="39">
                  <c:v>1e-05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0.00034</c:v>
                </c:pt>
                <c:pt idx="1">
                  <c:v>0.0006700000000000001</c:v>
                </c:pt>
                <c:pt idx="2">
                  <c:v>0.001</c:v>
                </c:pt>
                <c:pt idx="3">
                  <c:v>0.0009982167568285507</c:v>
                </c:pt>
                <c:pt idx="4">
                  <c:v>0.0009928798756221157</c:v>
                </c:pt>
                <c:pt idx="5">
                  <c:v>0.000984027808732082</c:v>
                </c:pt>
                <c:pt idx="6">
                  <c:v>0.0009717243355032365</c:v>
                </c:pt>
                <c:pt idx="7">
                  <c:v>0.0009560581027421271</c:v>
                </c:pt>
                <c:pt idx="8">
                  <c:v>0.000937141986014788</c:v>
                </c:pt>
                <c:pt idx="9">
                  <c:v>0.0009151122763757018</c:v>
                </c:pt>
                <c:pt idx="10">
                  <c:v>0.0008901276983876275</c:v>
                </c:pt>
                <c:pt idx="11">
                  <c:v>0.0008623682665074895</c:v>
                </c:pt>
                <c:pt idx="12">
                  <c:v>0.0008320339880780901</c:v>
                </c:pt>
                <c:pt idx="13">
                  <c:v>0.0007993434222706218</c:v>
                </c:pt>
                <c:pt idx="14">
                  <c:v>0.0007645321053608296</c:v>
                </c:pt>
                <c:pt idx="15">
                  <c:v>0.0007278508536847482</c:v>
                </c:pt>
                <c:pt idx="16">
                  <c:v>0.0006895639565012528</c:v>
                </c:pt>
                <c:pt idx="17">
                  <c:v>0.0006499472717818924</c:v>
                </c:pt>
                <c:pt idx="18">
                  <c:v>0.0006092862386478846</c:v>
                </c:pt>
                <c:pt idx="19">
                  <c:v>0.0005678738207747049</c:v>
                </c:pt>
                <c:pt idx="20">
                  <c:v>0.0005260083955820935</c:v>
                </c:pt>
                <c:pt idx="21">
                  <c:v>0.00048399160441790664</c:v>
                </c:pt>
                <c:pt idx="22">
                  <c:v>0.00044212617922529497</c:v>
                </c:pt>
                <c:pt idx="23">
                  <c:v>0.00040071376135211544</c:v>
                </c:pt>
                <c:pt idx="24">
                  <c:v>0.00036005272821810764</c:v>
                </c:pt>
                <c:pt idx="25">
                  <c:v>0.00032043604349874725</c:v>
                </c:pt>
                <c:pt idx="26">
                  <c:v>0.0002821491463152516</c:v>
                </c:pt>
                <c:pt idx="27">
                  <c:v>0.00024546789463917034</c:v>
                </c:pt>
                <c:pt idx="28">
                  <c:v>0.00021065657772937805</c:v>
                </c:pt>
                <c:pt idx="29">
                  <c:v>0.00017796601192190975</c:v>
                </c:pt>
                <c:pt idx="30">
                  <c:v>0.0001476317334925104</c:v>
                </c:pt>
                <c:pt idx="31">
                  <c:v>0.00011987230161237237</c:v>
                </c:pt>
                <c:pt idx="32">
                  <c:v>9.488772362429817e-05</c:v>
                </c:pt>
                <c:pt idx="33">
                  <c:v>7.285801398521197e-05</c:v>
                </c:pt>
                <c:pt idx="34">
                  <c:v>5.394189725787288e-05</c:v>
                </c:pt>
                <c:pt idx="35">
                  <c:v>3.8275664496763314e-05</c:v>
                </c:pt>
                <c:pt idx="36">
                  <c:v>2.5972191267918057e-05</c:v>
                </c:pt>
                <c:pt idx="37">
                  <c:v>1.7120124377884313e-05</c:v>
                </c:pt>
                <c:pt idx="38">
                  <c:v>1.1783243171449372e-05</c:v>
                </c:pt>
                <c:pt idx="39">
                  <c:v>1e-05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0"/>
      </c:catAx>
      <c:valAx>
        <c:axId val="2140495176"/>
        <c:scaling>
          <c:max val="0.0011"/>
          <c:min val="0.0"/>
        </c:scaling>
        <c:delete val="0"/>
        <c:axPos val="l"/>
        <c:majorGridlines/>
        <c:numFmt formatCode="0.000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融合前</c:v>
                </c:pt>
              </c:strCache>
            </c:strRef>
          </c:tx>
          <c:spPr>
            <a:solidFill>
              <a:srgbClr val="218EBC"/>
            </a:solidFill>
            <a:ln w="20320">
              <a:solidFill>
                <a:srgbClr val="218EBC"/>
              </a:solidFill>
            </a:ln>
          </c:spPr>
          <c:cat>
            <c:strRef>
              <c:f>Sheet1!$A$2:$A$3</c:f>
              <c:strCache>
                <c:ptCount val="2"/>
                <c:pt idx="0">
                  <c:v>BatchNorm</c:v>
                </c:pt>
                <c:pt idx="1">
                  <c:v>Conv2d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107</c:v>
                </c:pt>
                <c:pt idx="1">
                  <c:v>126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融合后</c:v>
                </c:pt>
              </c:strCache>
            </c:strRef>
          </c:tx>
          <c:spPr>
            <a:solidFill>
              <a:srgbClr val="EB9951"/>
            </a:solidFill>
            <a:ln w="20320">
              <a:solidFill>
                <a:srgbClr val="EB9951"/>
              </a:solidFill>
            </a:ln>
          </c:spPr>
          <c:cat>
            <c:strRef>
              <c:f>Sheet1!$A$2:$A$3</c:f>
              <c:strCache>
                <c:ptCount val="2"/>
                <c:pt idx="0">
                  <c:v>BatchNorm</c:v>
                </c:pt>
                <c:pt idx="1">
                  <c:v>Conv2d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103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0.0"/>
          <c:min val="0.0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P50</c:v>
                </c:pt>
              </c:strCache>
            </c:strRef>
          </c:tx>
          <c:spPr>
            <a:solidFill>
              <a:srgbClr val="218EBC"/>
            </a:solidFill>
            <a:ln w="20320">
              <a:solidFill>
                <a:srgbClr val="218EBC"/>
              </a:solidFill>
            </a:ln>
          </c:spPr>
          <c:cat>
            <c:strRef>
              <c:f>Sheet1!$A$2:$A$7</c:f>
              <c:strCache>
                <c:ptCount val="6"/>
                <c:pt idx="0">
                  <c:v>M0.9</c:v>
                </c:pt>
                <c:pt idx="1">
                  <c:v>M1.0</c:v>
                </c:pt>
                <c:pt idx="2">
                  <c:v>M1.1</c:v>
                </c:pt>
                <c:pt idx="3">
                  <c:v>M1.5</c:v>
                </c:pt>
                <c:pt idx="4">
                  <c:v>M2.3</c:v>
                </c:pt>
                <c:pt idx="5">
                  <c:v>Pet37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7.373</c:v>
                </c:pt>
                <c:pt idx="1">
                  <c:v>9.147</c:v>
                </c:pt>
                <c:pt idx="2">
                  <c:v>10.234</c:v>
                </c:pt>
                <c:pt idx="3">
                  <c:v>17.647</c:v>
                </c:pt>
                <c:pt idx="4">
                  <c:v>32.687</c:v>
                </c:pt>
                <c:pt idx="5">
                  <c:v>7.122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P95</c:v>
                </c:pt>
              </c:strCache>
            </c:strRef>
          </c:tx>
          <c:spPr>
            <a:solidFill>
              <a:srgbClr val="EB9951"/>
            </a:solidFill>
            <a:ln w="20320">
              <a:solidFill>
                <a:srgbClr val="EB9951"/>
              </a:solidFill>
            </a:ln>
          </c:spPr>
          <c:cat>
            <c:strRef>
              <c:f>Sheet1!$A$2:$A$7</c:f>
              <c:strCache>
                <c:ptCount val="6"/>
                <c:pt idx="0">
                  <c:v>M0.9</c:v>
                </c:pt>
                <c:pt idx="1">
                  <c:v>M1.0</c:v>
                </c:pt>
                <c:pt idx="2">
                  <c:v>M1.1</c:v>
                </c:pt>
                <c:pt idx="3">
                  <c:v>M1.5</c:v>
                </c:pt>
                <c:pt idx="4">
                  <c:v>M2.3</c:v>
                </c:pt>
                <c:pt idx="5">
                  <c:v>Pet37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8.002</c:v>
                </c:pt>
                <c:pt idx="1">
                  <c:v>9.76</c:v>
                </c:pt>
                <c:pt idx="2">
                  <c:v>11.241</c:v>
                </c:pt>
                <c:pt idx="3">
                  <c:v>18.926</c:v>
                </c:pt>
                <c:pt idx="4">
                  <c:v>33.322</c:v>
                </c:pt>
                <c:pt idx="5">
                  <c:v>7.692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6.0"/>
          <c:min val="0.0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m0.9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Sheet1!$A$2:$A$2</c:f>
              <c:numCache>
                <c:formatCode>General</c:formatCode>
                <c:ptCount val="1"/>
                <c:pt idx="0">
                  <c:v>7.373</c:v>
                </c:pt>
              </c:numCache>
            </c:numRef>
          </c:xVal>
          <c:yVal>
            <c:numRef>
              <c:f>Sheet1!$B$2:$B$2</c:f>
              <c:numCache>
                <c:formatCode>General</c:formatCode>
                <c:ptCount val="1"/>
                <c:pt idx="0">
                  <c:v>78.2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Sheet1!$B$4</c:f>
              <c:strCache>
                <c:ptCount val="1"/>
                <c:pt idx="0">
                  <c:v>m1.0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Sheet1!$A$5:$A$5</c:f>
              <c:numCache>
                <c:formatCode>General</c:formatCode>
                <c:ptCount val="1"/>
                <c:pt idx="0">
                  <c:v>9.147</c:v>
                </c:pt>
              </c:numCache>
            </c:numRef>
          </c:xVal>
          <c:yVal>
            <c:numRef>
              <c:f>Sheet1!$B$5:$B$5</c:f>
              <c:numCache>
                <c:formatCode>General</c:formatCode>
                <c:ptCount val="1"/>
                <c:pt idx="0">
                  <c:v>79.9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Sheet1!$B$7</c:f>
              <c:strCache>
                <c:ptCount val="1"/>
                <c:pt idx="0">
                  <c:v>m1.1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Sheet1!$A$8:$A$8</c:f>
              <c:numCache>
                <c:formatCode>General</c:formatCode>
                <c:ptCount val="1"/>
                <c:pt idx="0">
                  <c:v>10.234</c:v>
                </c:pt>
              </c:numCache>
            </c:numRef>
          </c:xVal>
          <c:yVal>
            <c:numRef>
              <c:f>Sheet1!$B$8:$B$8</c:f>
              <c:numCache>
                <c:formatCode>General</c:formatCode>
                <c:ptCount val="1"/>
                <c:pt idx="0">
                  <c:v>79.9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Sheet1!$B$10</c:f>
              <c:strCache>
                <c:ptCount val="1"/>
                <c:pt idx="0">
                  <c:v>m1.5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Sheet1!$A$11:$A$11</c:f>
              <c:numCache>
                <c:formatCode>General</c:formatCode>
                <c:ptCount val="1"/>
                <c:pt idx="0">
                  <c:v>17.647</c:v>
                </c:pt>
              </c:numCache>
            </c:numRef>
          </c:xVal>
          <c:yVal>
            <c:numRef>
              <c:f>Sheet1!$B$11:$B$11</c:f>
              <c:numCache>
                <c:formatCode>General</c:formatCode>
                <c:ptCount val="1"/>
                <c:pt idx="0">
                  <c:v>82.8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Sheet1!$B$13</c:f>
              <c:strCache>
                <c:ptCount val="1"/>
                <c:pt idx="0">
                  <c:v>m2.3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Sheet1!$A$14:$A$14</c:f>
              <c:numCache>
                <c:formatCode>General</c:formatCode>
                <c:ptCount val="1"/>
                <c:pt idx="0">
                  <c:v>32.687</c:v>
                </c:pt>
              </c:numCache>
            </c:numRef>
          </c:xVal>
          <c:yVal>
            <c:numRef>
              <c:f>Sheet1!$B$14:$B$14</c:f>
              <c:numCache>
                <c:formatCode>General</c:formatCode>
                <c:ptCount val="1"/>
                <c:pt idx="0">
                  <c:v>83.1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P50 (ms)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  <c:max val="84.0"/>
          <c:min val="77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Top-1 (%)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1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tools/plot_curves.py --runs baseline=outputs/logs/baseline_metrics.csv opt_combo=outputs/logs/opt_combo_metrics.csv --out outputs/curves/opt_compare.png</a:t>
            </a:r>
          </a:p>
          <a:p>
            <a:r>
              <a:t>曲线直接来自 CSV；epoch 从 0 开始。Mixup/CutMix、Label Smoothing 影响 train loss，不直接把训练损失高低当作泛化优劣。</a:t>
            </a:r>
          </a:p>
          <a:p>
            <a:r>
              <a:t>学习率来自日志 lr 列。单种子、同一测试集上的小差异不能证明统计显著或稳定提升。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来源：outputs/confusion_matrix/baseline_cm.png、baseline_cat_dog_block.json；outputs/predictions/case_wrong_baseline_case*.png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tools/gradcam.py --help</a:t>
            </a:r>
          </a:p>
          <a:p>
            <a:r>
              <a:t>挂载点与原始图生成配置见 outputs/gradcam/ 下的 JSON。</a:t>
            </a:r>
          </a:p>
          <a:p>
            <a:r>
              <a:t>外部实拍样本来自 ImageNet 跨集合图片，8/8 判对只是小样本观察，不能证明跨域泛化或没有过拟合。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tools/reparam_verify.py --model repvit_m0_9_pet37 --weights checkpoints/baseline_best.pt --num-samples 32 --batch-size 8 --seed 20240912 --skip-onnx --out-dir outputs/verification/reparam_pet37</a:t>
            </a:r>
          </a:p>
          <a:p>
            <a:r>
              <a:t>max_abs_err=7.092952728271484e-06；mean_abs_err=2.030726818702533e-06。32 个输入是 torch.randn，不是真实测试图片。</a:t>
            </a:r>
          </a:p>
          <a:p>
            <a:r>
              <a:t>权重 missing=0 / unexpected=0。BN 模块 107→0；ONNX 图的 BN 节点 24→0 是另一种统计，不可混用。</a:t>
            </a:r>
          </a:p>
          <a:p>
            <a:r>
              <a:t>历史官方 C=1000 报告存在权重键不匹配，不纳入结论；见 report/LOGITS_AUDIT.md。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deploy/compare_torch_onnx.py --model repvit_m0_9_pet37 --images datasets/lists/pet_test.txt --limit 12 --out outputs/verification/consistency_repvit_m0_9_pet37_n12.json</a:t>
            </a:r>
          </a:p>
          <a:p>
            <a:r>
              <a:t>Pet-37 顺序取固定列表前 12 张，每张预处理一次，同一 numpy 张量送入两端。</a:t>
            </a:r>
          </a:p>
          <a:p>
            <a:r>
              <a:t>max=6.198883056640625e-06；mean=1.5006899711048998e-06；Top-1/Top-5 集合均 1.0。</a:t>
            </a:r>
          </a:p>
          <a:p>
            <a:r>
              <a:t>5.25e-06 是未找到对应完整产物的旧引用；旧命令写 limit=8 不能证明该值来自 n=8。当前权重跑 n=8 也不能复现旧值。</a:t>
            </a:r>
          </a:p>
          <a:p>
            <a:r>
              <a:t>不是全测试集一致率，不验证两套预处理独立实现等价，也不能排除所有部署错误。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deploy/benchmark.py --model repvit_m0_9_in1k --model repvit_m1_0_in1k --model repvit_m0_9_pet37 --warmup 10 --runs 50 --threads 4 --out-dir outputs/verification/benchmarks</a:t>
            </a:r>
          </a:p>
          <a:p>
            <a:r>
              <a:t>左图含六个部署模型，仅比较速度；右图只放相同 ImageNet 子集的五个型号，不把 Pet-37 准确率混进来。</a:t>
            </a:r>
          </a:p>
          <a:p>
            <a:r>
              <a:t>官方 iPhone 延迟与本机 CPU 延迟不可直接比较。性能数据是历史落盘值，现场新测会有波动。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repvit-defense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repvit-defense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chart" Target="../charts/chart3.xml"/><Relationship Id="rId6" Type="http://schemas.openxmlformats.org/officeDocument/2006/relationships/chart" Target="../charts/chart4.xml"/><Relationship Id="rId7" Type="http://schemas.openxmlformats.org/officeDocument/2006/relationships/chart" Target="../charts/chart5.xml"/><Relationship Id="rId8" Type="http://schemas.openxmlformats.org/officeDocument/2006/relationships/chart" Target="../charts/chart9.xml"/><Relationship Id="rId9" Type="http://schemas.openxmlformats.org/officeDocument/2006/relationships/chart" Target="../charts/chart10.xml"/><Relationship Id="rId10" Type="http://schemas.openxmlformats.org/officeDocument/2006/relationships/chart" Target="../charts/chart11.xml"/><Relationship Id="rId11" Type="http://schemas.openxmlformats.org/officeDocument/2006/relationships/chart" Target="../charts/chart12.xml"/><Relationship Id="rId12" Type="http://schemas.openxmlformats.org/officeDocument/2006/relationships/chart" Target="../charts/chart13.xml"/><Relationship Id="rId13" Type="http://schemas.openxmlformats.org/officeDocument/2006/relationships/chart" Target="../charts/chart17.xml"/><Relationship Id="rId14" Type="http://schemas.openxmlformats.org/officeDocument/2006/relationships/chart" Target="../charts/chart18.xml"/><Relationship Id="rId15" Type="http://schemas.openxmlformats.org/officeDocument/2006/relationships/chart" Target="../charts/chart19.xml"/><Relationship Id="rId16" Type="http://schemas.openxmlformats.org/officeDocument/2006/relationships/chart" Target="../charts/chart20.xml"/><Relationship Id="rId17" Type="http://schemas.openxmlformats.org/officeDocument/2006/relationships/chart" Target="../charts/chart2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6.xml"/><Relationship Id="rId4" Type="http://schemas.openxmlformats.org/officeDocument/2006/relationships/chart" Target="../charts/chart14.xml"/><Relationship Id="rId5" Type="http://schemas.openxmlformats.org/officeDocument/2006/relationships/chart" Target="../charts/chart2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chart" Target="../charts/chart15.xml"/><Relationship Id="rId6" Type="http://schemas.openxmlformats.org/officeDocument/2006/relationships/chart" Target="../charts/chart16.xml"/><Relationship Id="rId7" Type="http://schemas.openxmlformats.org/officeDocument/2006/relationships/chart" Target="../charts/chart23.xml"/><Relationship Id="rId8" Type="http://schemas.openxmlformats.org/officeDocument/2006/relationships/chart" Target="../charts/chart2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Line 2"/>
            <p:cNvSpPr/>
            <p:nvPr/>
          </p:nvSpPr>
          <p:spPr>
            <a:xfrm>
              <a:off x="0" y="171450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16233A"/>
              </a:solidFill>
            </a:ln>
          </p:spPr>
          <p:txBody>
            <a:bodyPr/>
            <a:p/>
          </p:txBody>
        </p:sp>
        <p:sp>
          <p:nvSpPr>
            <p:cNvPr id="3" name="Line 3"/>
            <p:cNvSpPr/>
            <p:nvPr/>
          </p:nvSpPr>
          <p:spPr>
            <a:xfrm>
              <a:off x="0" y="514350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16233A"/>
              </a:solidFill>
            </a:ln>
          </p:spPr>
          <p:txBody>
            <a:bodyPr/>
            <a:p/>
          </p:txBody>
        </p:sp>
        <p:sp>
          <p:nvSpPr>
            <p:cNvPr id="4" name="Line 4"/>
            <p:cNvSpPr/>
            <p:nvPr/>
          </p:nvSpPr>
          <p:spPr>
            <a:xfrm>
              <a:off x="9334500" y="0"/>
              <a:ext cx="9525" cy="6858000"/>
            </a:xfrm>
            <a:custGeom>
              <a:avLst/>
              <a:gdLst/>
              <a:ahLst/>
              <a:cxnLst/>
              <a:rect l="l" t="t" r="r" b="b"/>
              <a:pathLst>
                <a:path w="9525" h="685800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w="9525">
              <a:solidFill>
                <a:srgbClr val="16233A"/>
              </a:solidFill>
            </a:ln>
          </p:spPr>
          <p:txBody>
            <a:bodyPr/>
            <a:p/>
          </p:txBody>
        </p:sp>
      </p:grpSp>
      <p:grpSp>
        <p:nvGrpSpPr>
          <p:cNvPr id="11" name="Group 11"/>
          <p:cNvGrpSpPr/>
          <p:nvPr/>
        </p:nvGrpSpPr>
        <p:grpSpPr>
          <a:xfrm>
            <a:off x="9448800" y="381000"/>
            <a:ext cx="2438400" cy="2438400"/>
            <a:chOff x="9448800" y="381000"/>
            <a:chExt cx="2438400" cy="2438400"/>
          </a:xfrm>
        </p:grpSpPr>
        <p:sp>
          <p:nvSpPr>
            <p:cNvPr id="6" name="Ellipse 6"/>
            <p:cNvSpPr/>
            <p:nvPr/>
          </p:nvSpPr>
          <p:spPr>
            <a:xfrm>
              <a:off x="9448800" y="381000"/>
              <a:ext cx="2438400" cy="2438400"/>
            </a:xfrm>
            <a:prstGeom prst="ellipse">
              <a:avLst/>
            </a:prstGeom>
            <a:noFill/>
            <a:ln w="19050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9848850" y="781050"/>
              <a:ext cx="1638300" cy="1638300"/>
            </a:xfrm>
            <a:prstGeom prst="ellipse">
              <a:avLst/>
            </a:prstGeom>
            <a:noFill/>
            <a:ln w="19050">
              <a:solidFill>
                <a:srgbClr val="24406B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534650" y="1466850"/>
              <a:ext cx="266700" cy="266700"/>
            </a:xfrm>
            <a:prstGeom prst="ellipse">
              <a:avLst/>
            </a:prstGeom>
            <a:solidFill>
              <a:srgbClr val="35D0F0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Line 9"/>
            <p:cNvSpPr/>
            <p:nvPr/>
          </p:nvSpPr>
          <p:spPr>
            <a:xfrm>
              <a:off x="9448800" y="1600200"/>
              <a:ext cx="2438400" cy="9525"/>
            </a:xfrm>
            <a:custGeom>
              <a:avLst/>
              <a:gdLst/>
              <a:ahLst/>
              <a:cxnLst/>
              <a:rect l="l" t="t" r="r" b="b"/>
              <a:pathLst>
                <a:path w="2438400" h="9525">
                  <a:moveTo>
                    <a:pt x="0" y="0"/>
                  </a:moveTo>
                  <a:lnTo>
                    <a:pt x="2438400" y="0"/>
                  </a:lnTo>
                </a:path>
              </a:pathLst>
            </a:custGeom>
            <a:noFill/>
            <a:ln w="19050">
              <a:solidFill>
                <a:srgbClr val="2A4A78"/>
              </a:solidFill>
            </a:ln>
          </p:spPr>
          <p:txBody>
            <a:bodyPr/>
            <a:p/>
          </p:txBody>
        </p:sp>
        <p:sp>
          <p:nvSpPr>
            <p:cNvPr id="10" name="Line 10"/>
            <p:cNvSpPr/>
            <p:nvPr/>
          </p:nvSpPr>
          <p:spPr>
            <a:xfrm>
              <a:off x="10668000" y="381000"/>
              <a:ext cx="9525" cy="2438400"/>
            </a:xfrm>
            <a:custGeom>
              <a:avLst/>
              <a:gdLst/>
              <a:ahLst/>
              <a:cxnLst/>
              <a:rect l="l" t="t" r="r" b="b"/>
              <a:pathLst>
                <a:path w="9525" h="2438400">
                  <a:moveTo>
                    <a:pt x="0" y="0"/>
                  </a:moveTo>
                  <a:lnTo>
                    <a:pt x="0" y="2438400"/>
                  </a:lnTo>
                </a:path>
              </a:pathLst>
            </a:custGeom>
            <a:noFill/>
            <a:ln w="19050">
              <a:solidFill>
                <a:srgbClr val="2A4A78"/>
              </a:solidFill>
            </a:ln>
          </p:spPr>
          <p:txBody>
            <a:bodyPr/>
            <a:p/>
          </p:txBody>
        </p:sp>
      </p:grpSp>
      <p:grpSp>
        <p:nvGrpSpPr>
          <p:cNvPr id="15" name="Group 15"/>
          <p:cNvGrpSpPr/>
          <p:nvPr/>
        </p:nvGrpSpPr>
        <p:grpSpPr>
          <a:xfrm>
            <a:off x="896874" y="1299210"/>
            <a:ext cx="7256526" cy="1860613"/>
            <a:chOff x="896874" y="1299210"/>
            <a:chExt cx="7256526" cy="1860613"/>
          </a:xfrm>
        </p:grpSpPr>
        <p:sp>
          <p:nvSpPr>
            <p:cNvPr id="12" name="TextBox 12"/>
            <p:cNvSpPr txBox="1"/>
            <p:nvPr/>
          </p:nvSpPr>
          <p:spPr>
            <a:xfrm>
              <a:off x="908304" y="1299210"/>
              <a:ext cx="25904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spc="300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REPVIT REPRODUCTION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96874" y="1894522"/>
              <a:ext cx="5256705" cy="126530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4650"/>
                </a:lnSpc>
              </a:pPr>
              <a:r>
                <a:rPr lang="zh-CN" sz="34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RepViT 轻量图像分类模型</a:t>
              </a:r>
              <a:br/>
              <a:r>
                <a:rPr lang="zh-CN" sz="34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复现、优化与多模型部署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914400" y="3143250"/>
              <a:ext cx="7239000" cy="9525"/>
            </a:xfrm>
            <a:custGeom>
              <a:avLst/>
              <a:gdLst/>
              <a:ahLst/>
              <a:cxnLst/>
              <a:rect l="l" t="t" r="r" b="b"/>
              <a:pathLst>
                <a:path w="7239000" h="9525">
                  <a:moveTo>
                    <a:pt x="0" y="0"/>
                  </a:moveTo>
                  <a:lnTo>
                    <a:pt x="7239000" y="0"/>
                  </a:lnTo>
                </a:path>
              </a:pathLst>
            </a:custGeom>
            <a:noFill/>
            <a:ln w="28575">
              <a:solidFill>
                <a:srgbClr val="35D0F0"/>
              </a:solidFill>
            </a:ln>
          </p:spPr>
          <p:txBody>
            <a:bodyPr/>
            <a:p/>
          </p:txBody>
        </p:sp>
      </p:grpSp>
      <p:grpSp>
        <p:nvGrpSpPr>
          <p:cNvPr id="18" name="Group 18"/>
          <p:cNvGrpSpPr/>
          <p:nvPr/>
        </p:nvGrpSpPr>
        <p:grpSpPr>
          <a:xfrm>
            <a:off x="906780" y="3171825"/>
            <a:ext cx="6102096" cy="971931"/>
            <a:chOff x="906780" y="3171825"/>
            <a:chExt cx="6102096" cy="971931"/>
          </a:xfrm>
        </p:grpSpPr>
        <p:sp>
          <p:nvSpPr>
            <p:cNvPr id="16" name="TextBox 16"/>
            <p:cNvSpPr txBox="1"/>
            <p:nvPr/>
          </p:nvSpPr>
          <p:spPr>
            <a:xfrm>
              <a:off x="906780" y="3171825"/>
              <a:ext cx="401105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2026 秋 one 团队 AI 算法组考核 · 答辩汇报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08304" y="3604260"/>
              <a:ext cx="6100572" cy="5394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-US" sz="120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RepViT: Revisiting Mobile CNN From ViT Perspective · CVPR 2024 · arXiv:2307.09283</a:t>
              </a:r>
              <a:br/>
              <a:r>
                <a:rPr lang="en-US" sz="120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github.com/8ga-tech/RepViT-Reproduction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899922" y="5334000"/>
            <a:ext cx="10377678" cy="879634"/>
            <a:chOff x="899922" y="5334000"/>
            <a:chExt cx="10377678" cy="879634"/>
          </a:xfrm>
        </p:grpSpPr>
        <p:sp>
          <p:nvSpPr>
            <p:cNvPr id="19" name="Line 19"/>
            <p:cNvSpPr/>
            <p:nvPr/>
          </p:nvSpPr>
          <p:spPr>
            <a:xfrm>
              <a:off x="914400" y="5334000"/>
              <a:ext cx="10363200" cy="9525"/>
            </a:xfrm>
            <a:custGeom>
              <a:avLst/>
              <a:gdLst/>
              <a:ahLst/>
              <a:cxnLst/>
              <a:rect l="l" t="t" r="r" b="b"/>
              <a:pathLst>
                <a:path w="10363200" h="9525">
                  <a:moveTo>
                    <a:pt x="0" y="0"/>
                  </a:moveTo>
                  <a:lnTo>
                    <a:pt x="103632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22" name="Group 22"/>
            <p:cNvGrpSpPr/>
            <p:nvPr/>
          </p:nvGrpSpPr>
          <p:grpSpPr>
            <a:xfrm>
              <a:off x="899922" y="5483542"/>
              <a:ext cx="1505282" cy="730092"/>
              <a:chOff x="899922" y="5483542"/>
              <a:chExt cx="1505282" cy="730092"/>
            </a:xfrm>
          </p:grpSpPr>
          <p:sp>
            <p:nvSpPr>
              <p:cNvPr id="20" name="TextBox 20"/>
              <p:cNvSpPr txBox="1"/>
              <p:nvPr/>
            </p:nvSpPr>
            <p:spPr>
              <a:xfrm>
                <a:off x="899922" y="5483542"/>
                <a:ext cx="1438932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85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78.20%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908685" y="5993606"/>
                <a:ext cx="1496519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ImageNet 子集 Top-1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3414522" y="5483542"/>
              <a:ext cx="1438932" cy="730092"/>
              <a:chOff x="3414522" y="5483542"/>
              <a:chExt cx="1438932" cy="730092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3414522" y="5483542"/>
                <a:ext cx="1438932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850" b="1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92.34%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3423285" y="5993606"/>
                <a:ext cx="1360889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Pet-37 test Top-1</a:t>
                </a:r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5929122" y="5483542"/>
              <a:ext cx="1579930" cy="730092"/>
              <a:chOff x="5929122" y="5483542"/>
              <a:chExt cx="1579930" cy="730092"/>
            </a:xfrm>
          </p:grpSpPr>
          <p:sp>
            <p:nvSpPr>
              <p:cNvPr id="26" name="TextBox 26"/>
              <p:cNvSpPr txBox="1"/>
              <p:nvPr/>
            </p:nvSpPr>
            <p:spPr>
              <a:xfrm>
                <a:off x="5929122" y="5483542"/>
                <a:ext cx="1579930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850" b="1" dirty="0">
                    <a:solidFill>
                      <a:srgbClr val="FFC857"/>
                    </a:solidFill>
                    <a:latin typeface="Consolas"/>
                    <a:ea typeface="Consolas"/>
                    <a:cs typeface="Consolas"/>
                  </a:rPr>
                  <a:t>7.1e-06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5937885" y="5993606"/>
                <a:ext cx="154287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重参数化 max|Δlogits|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8443722" y="5483542"/>
              <a:ext cx="1903948" cy="730092"/>
              <a:chOff x="8443722" y="5483542"/>
              <a:chExt cx="1903948" cy="730092"/>
            </a:xfrm>
          </p:grpSpPr>
          <p:sp>
            <p:nvSpPr>
              <p:cNvPr id="29" name="TextBox 29"/>
              <p:cNvSpPr txBox="1"/>
              <p:nvPr/>
            </p:nvSpPr>
            <p:spPr>
              <a:xfrm>
                <a:off x="8443722" y="5483542"/>
                <a:ext cx="995797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850" b="1" dirty="0">
                    <a:solidFill>
                      <a:srgbClr val="C79BFF"/>
                    </a:solidFill>
                    <a:latin typeface="Consolas"/>
                    <a:ea typeface="Consolas"/>
                    <a:cs typeface="Consolas"/>
                  </a:rPr>
                  <a:t>100%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452485" y="5993606"/>
                <a:ext cx="1895185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PyTorch↔ONNX Top-1 一致</a:t>
                </a:r>
              </a:p>
            </p:txBody>
          </p:sp>
        </p:grp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43878"/>
            <a:ext cx="10833354" cy="799147"/>
            <a:chOff x="672846" y="5438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43878"/>
              <a:ext cx="77934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六个考核环节全部交付，37 条验收项自检 0 失败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1032510"/>
              <a:ext cx="546430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运行 → 迁移 → 优化 → 可视化 → 重参数化 → 部署，每个数字都可在仓库中溯源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3335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p/>
          </p:txBody>
        </p:sp>
      </p:grpSp>
      <p:grpSp>
        <p:nvGrpSpPr>
          <p:cNvPr id="13" name="Group 13"/>
          <p:cNvGrpSpPr/>
          <p:nvPr/>
        </p:nvGrpSpPr>
        <p:grpSpPr>
          <a:xfrm>
            <a:off x="685800" y="1676400"/>
            <a:ext cx="3409950" cy="1981200"/>
            <a:chOff x="685800" y="1676400"/>
            <a:chExt cx="3409950" cy="1981200"/>
          </a:xfrm>
        </p:grpSpPr>
        <p:sp>
          <p:nvSpPr>
            <p:cNvPr id="6" name="Rectangle 6"/>
            <p:cNvSpPr/>
            <p:nvPr/>
          </p:nvSpPr>
          <p:spPr>
            <a:xfrm>
              <a:off x="685800" y="1676400"/>
              <a:ext cx="340995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927735" y="19550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25068" y="2260282"/>
              <a:ext cx="14161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官方模型评价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933450" y="2609850"/>
              <a:ext cx="2914650" cy="9525"/>
            </a:xfrm>
            <a:custGeom>
              <a:avLst/>
              <a:gdLst/>
              <a:ahLst/>
              <a:cxnLst/>
              <a:rect l="l" t="t" r="r" b="b"/>
              <a:pathLst>
                <a:path w="2914650" h="9525">
                  <a:moveTo>
                    <a:pt x="0" y="0"/>
                  </a:moveTo>
                  <a:lnTo>
                    <a:pt x="291465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27354" y="2785110"/>
              <a:ext cx="17084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5 个型号 · 1000 张子集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27354" y="3051810"/>
              <a:ext cx="15487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M0.9 Top-1 78.20%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28116" y="3334702"/>
              <a:ext cx="18058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outputs/pretrained_eval/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4381500" y="1676400"/>
            <a:ext cx="3409950" cy="1981200"/>
            <a:chOff x="4381500" y="1676400"/>
            <a:chExt cx="3409950" cy="1981200"/>
          </a:xfrm>
        </p:grpSpPr>
        <p:sp>
          <p:nvSpPr>
            <p:cNvPr id="14" name="Rectangle 14"/>
            <p:cNvSpPr/>
            <p:nvPr/>
          </p:nvSpPr>
          <p:spPr>
            <a:xfrm>
              <a:off x="4381500" y="1676400"/>
              <a:ext cx="340995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623435" y="19550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620768" y="2260282"/>
              <a:ext cx="166785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M0.9 迁移训练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4629150" y="2609850"/>
              <a:ext cx="2914650" cy="9525"/>
            </a:xfrm>
            <a:custGeom>
              <a:avLst/>
              <a:gdLst/>
              <a:ahLst/>
              <a:cxnLst/>
              <a:rect l="l" t="t" r="r" b="b"/>
              <a:pathLst>
                <a:path w="2914650" h="9525">
                  <a:moveTo>
                    <a:pt x="0" y="0"/>
                  </a:moveTo>
                  <a:lnTo>
                    <a:pt x="291465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23054" y="2785110"/>
              <a:ext cx="158212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Pet 37 类 · 40 epoch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23054" y="3051810"/>
              <a:ext cx="14859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test Top-1 92.34%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23816" y="3334702"/>
              <a:ext cx="208146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checkpoints/baseline_best.pt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077200" y="1676400"/>
            <a:ext cx="3429000" cy="1981200"/>
            <a:chOff x="8077200" y="1676400"/>
            <a:chExt cx="3429000" cy="1981200"/>
          </a:xfrm>
        </p:grpSpPr>
        <p:sp>
          <p:nvSpPr>
            <p:cNvPr id="22" name="Rectangle 22"/>
            <p:cNvSpPr/>
            <p:nvPr/>
          </p:nvSpPr>
          <p:spPr>
            <a:xfrm>
              <a:off x="8077200" y="1676400"/>
              <a:ext cx="342900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19135" y="19550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03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16468" y="2260282"/>
              <a:ext cx="14161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控制变量优化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8324850" y="2609850"/>
              <a:ext cx="2933700" cy="9525"/>
            </a:xfrm>
            <a:custGeom>
              <a:avLst/>
              <a:gdLst/>
              <a:ahLst/>
              <a:cxnLst/>
              <a:rect l="l" t="t" r="r" b="b"/>
              <a:pathLst>
                <a:path w="2933700" h="9525">
                  <a:moveTo>
                    <a:pt x="0" y="0"/>
                  </a:moveTo>
                  <a:lnTo>
                    <a:pt x="29337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318754" y="2785110"/>
              <a:ext cx="12803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4 方案 + 3 组消融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18754" y="3051810"/>
              <a:ext cx="14801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C857"/>
                  </a:solidFill>
                  <a:latin typeface="Consolas"/>
                  <a:ea typeface="Microsoft YaHei"/>
                  <a:cs typeface="Consolas"/>
                </a:rPr>
                <a:t>7 份配置 DIFF PASS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19516" y="3334702"/>
              <a:ext cx="136763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configs/opt_*.yaml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85800" y="3848100"/>
            <a:ext cx="3409950" cy="1981200"/>
            <a:chOff x="685800" y="3848100"/>
            <a:chExt cx="3409950" cy="1981200"/>
          </a:xfrm>
        </p:grpSpPr>
        <p:sp>
          <p:nvSpPr>
            <p:cNvPr id="30" name="Rectangle 30"/>
            <p:cNvSpPr/>
            <p:nvPr/>
          </p:nvSpPr>
          <p:spPr>
            <a:xfrm>
              <a:off x="685800" y="3848100"/>
              <a:ext cx="340995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27735" y="41267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04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25068" y="4431982"/>
              <a:ext cx="188259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可视化与可解释性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933450" y="4781550"/>
              <a:ext cx="2914650" cy="9525"/>
            </a:xfrm>
            <a:custGeom>
              <a:avLst/>
              <a:gdLst/>
              <a:ahLst/>
              <a:cxnLst/>
              <a:rect l="l" t="t" r="r" b="b"/>
              <a:pathLst>
                <a:path w="2914650" h="9525">
                  <a:moveTo>
                    <a:pt x="0" y="0"/>
                  </a:moveTo>
                  <a:lnTo>
                    <a:pt x="291465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27354" y="4956810"/>
              <a:ext cx="23302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五条曲线 · 混淆矩阵 · Grad-CAM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27354" y="5223510"/>
              <a:ext cx="150647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FDB9B"/>
                  </a:solidFill>
                  <a:latin typeface="Consolas"/>
                  <a:ea typeface="Microsoft YaHei"/>
                  <a:cs typeface="Consolas"/>
                </a:rPr>
                <a:t>跨物种错误仅 3.56%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28116" y="5506402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outputs/gradcam/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4381500" y="3848100"/>
            <a:ext cx="3409950" cy="1981200"/>
            <a:chOff x="4381500" y="3848100"/>
            <a:chExt cx="3409950" cy="1981200"/>
          </a:xfrm>
        </p:grpSpPr>
        <p:sp>
          <p:nvSpPr>
            <p:cNvPr id="38" name="Rectangle 38"/>
            <p:cNvSpPr/>
            <p:nvPr/>
          </p:nvSpPr>
          <p:spPr>
            <a:xfrm>
              <a:off x="4381500" y="3848100"/>
              <a:ext cx="340995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4623435" y="41267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05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620768" y="4431982"/>
              <a:ext cx="14161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结构重参数化</a:t>
              </a:r>
            </a:p>
          </p:txBody>
        </p:sp>
        <p:sp>
          <p:nvSpPr>
            <p:cNvPr id="41" name="Line 41"/>
            <p:cNvSpPr/>
            <p:nvPr/>
          </p:nvSpPr>
          <p:spPr>
            <a:xfrm>
              <a:off x="4629150" y="4781550"/>
              <a:ext cx="2914650" cy="9525"/>
            </a:xfrm>
            <a:custGeom>
              <a:avLst/>
              <a:gdLst/>
              <a:ahLst/>
              <a:cxnLst/>
              <a:rect l="l" t="t" r="r" b="b"/>
              <a:pathLst>
                <a:path w="2914650" h="9525">
                  <a:moveTo>
                    <a:pt x="0" y="0"/>
                  </a:moveTo>
                  <a:lnTo>
                    <a:pt x="291465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4623054" y="4956810"/>
              <a:ext cx="21467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BN 107 → 0 · Conv 126 → 103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623054" y="5223510"/>
              <a:ext cx="232219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max|Δ| 7.1e-06 · Top-1 32/32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4623816" y="5506402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outputs/reparam/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8077200" y="3848100"/>
            <a:ext cx="3429000" cy="1981200"/>
            <a:chOff x="8077200" y="3848100"/>
            <a:chExt cx="3429000" cy="1981200"/>
          </a:xfrm>
        </p:grpSpPr>
        <p:sp>
          <p:nvSpPr>
            <p:cNvPr id="46" name="Rectangle 46"/>
            <p:cNvSpPr/>
            <p:nvPr/>
          </p:nvSpPr>
          <p:spPr>
            <a:xfrm>
              <a:off x="8077200" y="3848100"/>
              <a:ext cx="342900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47" name="TextBox 47"/>
            <p:cNvSpPr txBox="1"/>
            <p:nvPr/>
          </p:nvSpPr>
          <p:spPr>
            <a:xfrm>
              <a:off x="8319135" y="41267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06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316468" y="4431982"/>
              <a:ext cx="19142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ONNX 多模型部署</a:t>
              </a:r>
            </a:p>
          </p:txBody>
        </p:sp>
        <p:sp>
          <p:nvSpPr>
            <p:cNvPr id="49" name="Line 49"/>
            <p:cNvSpPr/>
            <p:nvPr/>
          </p:nvSpPr>
          <p:spPr>
            <a:xfrm>
              <a:off x="8324850" y="4781550"/>
              <a:ext cx="2933700" cy="9525"/>
            </a:xfrm>
            <a:custGeom>
              <a:avLst/>
              <a:gdLst/>
              <a:ahLst/>
              <a:cxnLst/>
              <a:rect l="l" t="t" r="r" b="b"/>
              <a:pathLst>
                <a:path w="2933700" h="9525">
                  <a:moveTo>
                    <a:pt x="0" y="0"/>
                  </a:moveTo>
                  <a:lnTo>
                    <a:pt x="29337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8318754" y="4956810"/>
              <a:ext cx="16337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6 个 ONNX · ORT CPU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318754" y="5223510"/>
              <a:ext cx="14194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P50 7.1 ~ 32.7 ms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319516" y="5506402"/>
              <a:ext cx="8658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onnx/*.onnx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680466" y="6057900"/>
            <a:ext cx="10831068" cy="358711"/>
            <a:chOff x="680466" y="6057900"/>
            <a:chExt cx="10831068" cy="358711"/>
          </a:xfrm>
        </p:grpSpPr>
        <p:sp>
          <p:nvSpPr>
            <p:cNvPr id="54" name="Line 54"/>
            <p:cNvSpPr/>
            <p:nvPr/>
          </p:nvSpPr>
          <p:spPr>
            <a:xfrm>
              <a:off x="685800" y="60579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680466" y="6211252"/>
              <a:ext cx="73289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范围声明：不做第八章拓展任务（INT8 量化 / 知识蒸馏 / 剪枝 / 多随机种子 / 边缘部署 / 核心模块独立实现）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345380" y="62112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02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05778"/>
              <a:ext cx="734948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M0.9 是 20 个 RepViT Block 的纯卷积流水线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994410"/>
              <a:ext cx="525429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形状由 forward hook 现测，非论文插图；分辨率 224 → 7，通道 3 → 384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p/>
          </p:txBody>
        </p:sp>
      </p:grpSp>
      <p:grpSp>
        <p:nvGrpSpPr>
          <p:cNvPr id="37" name="Group 37"/>
          <p:cNvGrpSpPr/>
          <p:nvPr/>
        </p:nvGrpSpPr>
        <p:grpSpPr>
          <a:xfrm>
            <a:off x="685800" y="1600200"/>
            <a:ext cx="7067550" cy="4629150"/>
            <a:chOff x="685800" y="1600200"/>
            <a:chExt cx="7067550" cy="4629150"/>
          </a:xfrm>
        </p:grpSpPr>
        <p:sp>
          <p:nvSpPr>
            <p:cNvPr id="6" name="Rectangle 6"/>
            <p:cNvSpPr/>
            <p:nvPr/>
          </p:nvSpPr>
          <p:spPr>
            <a:xfrm>
              <a:off x="685800" y="1600200"/>
              <a:ext cx="7067550" cy="4629150"/>
            </a:xfrm>
            <a:prstGeom prst="roundRect">
              <a:avLst>
                <a:gd name="adj" fmla="val 2058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10" name="Group 10"/>
            <p:cNvGrpSpPr/>
            <p:nvPr/>
          </p:nvGrpSpPr>
          <p:grpSpPr>
            <a:xfrm>
              <a:off x="952500" y="1866900"/>
              <a:ext cx="6534150" cy="438150"/>
              <a:chOff x="952500" y="1866900"/>
              <a:chExt cx="6534150" cy="438150"/>
            </a:xfrm>
          </p:grpSpPr>
          <p:sp>
            <p:nvSpPr>
              <p:cNvPr id="7" name="Rectangle 7"/>
              <p:cNvSpPr/>
              <p:nvPr/>
            </p:nvSpPr>
            <p:spPr>
              <a:xfrm>
                <a:off x="952500" y="1866900"/>
                <a:ext cx="6534150" cy="438150"/>
              </a:xfrm>
              <a:prstGeom prst="roundRect">
                <a:avLst>
                  <a:gd name="adj" fmla="val 13043"/>
                </a:avLst>
              </a:prstGeom>
              <a:solidFill>
                <a:srgbClr val="1B2740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1136523" y="2015014"/>
                <a:ext cx="374813" cy="2493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80" b="1" dirty="0">
                    <a:solidFill>
                      <a:srgbClr val="C79BFF"/>
                    </a:solidFill>
                    <a:latin typeface="Consolas"/>
                    <a:ea typeface="Microsoft YaHei"/>
                    <a:cs typeface="Consolas"/>
                  </a:rPr>
                  <a:t>输入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2355723" y="2015014"/>
                <a:ext cx="1487698" cy="2493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8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224 × 224 × 3 RGB</a:t>
                </a:r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>
              <a:off x="952500" y="2438400"/>
              <a:ext cx="6534150" cy="723900"/>
              <a:chOff x="952500" y="2438400"/>
              <a:chExt cx="6534150" cy="723900"/>
            </a:xfrm>
          </p:grpSpPr>
          <p:sp>
            <p:nvSpPr>
              <p:cNvPr id="11" name="Rectangle 11"/>
              <p:cNvSpPr/>
              <p:nvPr/>
            </p:nvSpPr>
            <p:spPr>
              <a:xfrm>
                <a:off x="952500" y="2438400"/>
                <a:ext cx="6534150" cy="723900"/>
              </a:xfrm>
              <a:prstGeom prst="roundRect">
                <a:avLst>
                  <a:gd name="adj" fmla="val 7895"/>
                </a:avLst>
              </a:prstGeom>
              <a:solidFill>
                <a:srgbClr val="12233A"/>
              </a:solidFill>
              <a:ln w="9525">
                <a:solidFill>
                  <a:srgbClr val="35D0F0"/>
                </a:solidFill>
              </a:ln>
            </p:spPr>
            <p:txBody>
              <a:bodyPr/>
              <a:p/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136523" y="2586514"/>
                <a:ext cx="453329" cy="2493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8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Stem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2356104" y="2594610"/>
                <a:ext cx="2209190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conv1 3×3 s2 → 24ch 112×112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2356104" y="2861310"/>
                <a:ext cx="2031492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conv2 3×3 s2 → 48ch 56×56</a:t>
                </a: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952500" y="3295650"/>
              <a:ext cx="6534150" cy="495300"/>
              <a:chOff x="952500" y="3295650"/>
              <a:chExt cx="6534150" cy="495300"/>
            </a:xfrm>
          </p:grpSpPr>
          <p:sp>
            <p:nvSpPr>
              <p:cNvPr id="16" name="Rectangle 16"/>
              <p:cNvSpPr/>
              <p:nvPr/>
            </p:nvSpPr>
            <p:spPr>
              <a:xfrm>
                <a:off x="952500" y="3295650"/>
                <a:ext cx="6534150" cy="495300"/>
              </a:xfrm>
              <a:prstGeom prst="roundRect">
                <a:avLst>
                  <a:gd name="adj" fmla="val 11538"/>
                </a:avLst>
              </a:prstGeom>
              <a:solidFill>
                <a:srgbClr val="131C2E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136523" y="3462814"/>
                <a:ext cx="671673" cy="2493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80" b="1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Stage 0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2356104" y="3470910"/>
                <a:ext cx="2165276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2 × RepViT Block 48ch 56×56</a:t>
                </a:r>
              </a:p>
            </p:txBody>
          </p:sp>
        </p:grpSp>
        <p:grpSp>
          <p:nvGrpSpPr>
            <p:cNvPr id="23" name="Group 23"/>
            <p:cNvGrpSpPr/>
            <p:nvPr/>
          </p:nvGrpSpPr>
          <p:grpSpPr>
            <a:xfrm>
              <a:off x="952500" y="3886200"/>
              <a:ext cx="6534150" cy="495300"/>
              <a:chOff x="952500" y="3886200"/>
              <a:chExt cx="6534150" cy="495300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952500" y="3886200"/>
                <a:ext cx="6534150" cy="495300"/>
              </a:xfrm>
              <a:prstGeom prst="roundRect">
                <a:avLst>
                  <a:gd name="adj" fmla="val 11538"/>
                </a:avLst>
              </a:prstGeom>
              <a:solidFill>
                <a:srgbClr val="131C2E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1136523" y="4053364"/>
                <a:ext cx="671673" cy="2493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80" b="1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Stage 1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2356104" y="4061460"/>
                <a:ext cx="2165276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2 × RepViT Block 96ch 28×28</a:t>
                </a:r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952500" y="4476750"/>
              <a:ext cx="6534150" cy="599789"/>
              <a:chOff x="952500" y="4476750"/>
              <a:chExt cx="6534150" cy="599789"/>
            </a:xfrm>
          </p:grpSpPr>
          <p:sp>
            <p:nvSpPr>
              <p:cNvPr id="24" name="Rectangle 24"/>
              <p:cNvSpPr/>
              <p:nvPr/>
            </p:nvSpPr>
            <p:spPr>
              <a:xfrm>
                <a:off x="952500" y="4476750"/>
                <a:ext cx="6534150" cy="571500"/>
              </a:xfrm>
              <a:prstGeom prst="roundRect">
                <a:avLst>
                  <a:gd name="adj" fmla="val 10000"/>
                </a:avLst>
              </a:prstGeom>
              <a:solidFill>
                <a:srgbClr val="17304A"/>
              </a:solidFill>
              <a:ln w="9525">
                <a:solidFill>
                  <a:srgbClr val="35D0F0"/>
                </a:solidFill>
              </a:ln>
            </p:spPr>
            <p:txBody>
              <a:bodyPr/>
              <a:p/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1136523" y="4682014"/>
                <a:ext cx="671673" cy="2493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8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Stage 2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2356104" y="4690110"/>
                <a:ext cx="2346069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14 × RepViT Block 192ch 14×14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2357247" y="4885849"/>
                <a:ext cx="3385460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35D0F0"/>
                    </a:solidFill>
                    <a:latin typeface="Microsoft YaHei"/>
                    <a:ea typeface="Microsoft YaHei"/>
                    <a:cs typeface="Microsoft YaHei"/>
                  </a:rPr>
                  <a:t>Block 数最多 —— 与论文「第三阶段布置更多 Block」一致</a:t>
                </a:r>
              </a:p>
            </p:txBody>
          </p:sp>
        </p:grpSp>
        <p:grpSp>
          <p:nvGrpSpPr>
            <p:cNvPr id="32" name="Group 32"/>
            <p:cNvGrpSpPr/>
            <p:nvPr/>
          </p:nvGrpSpPr>
          <p:grpSpPr>
            <a:xfrm>
              <a:off x="952500" y="5143500"/>
              <a:ext cx="6534150" cy="495300"/>
              <a:chOff x="952500" y="5143500"/>
              <a:chExt cx="6534150" cy="495300"/>
            </a:xfrm>
          </p:grpSpPr>
          <p:sp>
            <p:nvSpPr>
              <p:cNvPr id="29" name="Rectangle 29"/>
              <p:cNvSpPr/>
              <p:nvPr/>
            </p:nvSpPr>
            <p:spPr>
              <a:xfrm>
                <a:off x="952500" y="5143500"/>
                <a:ext cx="6534150" cy="495300"/>
              </a:xfrm>
              <a:prstGeom prst="roundRect">
                <a:avLst>
                  <a:gd name="adj" fmla="val 11538"/>
                </a:avLst>
              </a:prstGeom>
              <a:solidFill>
                <a:srgbClr val="131C2E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1136523" y="5310664"/>
                <a:ext cx="671673" cy="2493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80" b="1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Stage 3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2356104" y="5318760"/>
                <a:ext cx="2074879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2 × RepViT Block 384ch 7×7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952500" y="5734050"/>
              <a:ext cx="6534150" cy="323850"/>
              <a:chOff x="952500" y="5734050"/>
              <a:chExt cx="6534150" cy="323850"/>
            </a:xfrm>
          </p:grpSpPr>
          <p:sp>
            <p:nvSpPr>
              <p:cNvPr id="33" name="Rectangle 33"/>
              <p:cNvSpPr/>
              <p:nvPr/>
            </p:nvSpPr>
            <p:spPr>
              <a:xfrm>
                <a:off x="952500" y="5734050"/>
                <a:ext cx="6534150" cy="323850"/>
              </a:xfrm>
              <a:prstGeom prst="roundRect">
                <a:avLst>
                  <a:gd name="adj" fmla="val 17647"/>
                </a:avLst>
              </a:prstGeom>
              <a:solidFill>
                <a:srgbClr val="1B2740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1137285" y="5831681"/>
                <a:ext cx="92745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3FDB9B"/>
                    </a:solidFill>
                    <a:latin typeface="Consolas"/>
                    <a:ea typeface="Microsoft YaHei"/>
                    <a:cs typeface="Consolas"/>
                  </a:rPr>
                  <a:t>GAP → 384 维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2756535" y="5831681"/>
                <a:ext cx="316779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3FDB9B"/>
                    </a:solidFill>
                    <a:latin typeface="Consolas"/>
                    <a:ea typeface="Microsoft YaHei"/>
                    <a:cs typeface="Consolas"/>
                  </a:rPr>
                  <a:t>Head RepVitClassifier (NormLinear) → 37 维</a:t>
                </a:r>
              </a:p>
            </p:txBody>
          </p:sp>
        </p:grpSp>
      </p:grpSp>
      <p:grpSp>
        <p:nvGrpSpPr>
          <p:cNvPr id="46" name="Group 46"/>
          <p:cNvGrpSpPr/>
          <p:nvPr/>
        </p:nvGrpSpPr>
        <p:grpSpPr>
          <a:xfrm>
            <a:off x="8058150" y="1600200"/>
            <a:ext cx="3448050" cy="2171700"/>
            <a:chOff x="8058150" y="1600200"/>
            <a:chExt cx="3448050" cy="2171700"/>
          </a:xfrm>
        </p:grpSpPr>
        <p:sp>
          <p:nvSpPr>
            <p:cNvPr id="38" name="Rectangle 38"/>
            <p:cNvSpPr/>
            <p:nvPr/>
          </p:nvSpPr>
          <p:spPr>
            <a:xfrm>
              <a:off x="8058150" y="1600200"/>
              <a:ext cx="3448050" cy="2171700"/>
            </a:xfrm>
            <a:prstGeom prst="roundRect">
              <a:avLst>
                <a:gd name="adj" fmla="val 4386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298561" y="1789271"/>
              <a:ext cx="168400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单个 RepViT Block</a:t>
              </a:r>
            </a:p>
          </p:txBody>
        </p:sp>
        <p:sp>
          <p:nvSpPr>
            <p:cNvPr id="40" name="Line 40"/>
            <p:cNvSpPr/>
            <p:nvPr/>
          </p:nvSpPr>
          <p:spPr>
            <a:xfrm>
              <a:off x="8305800" y="2076450"/>
              <a:ext cx="2952750" cy="9525"/>
            </a:xfrm>
            <a:custGeom>
              <a:avLst/>
              <a:gdLst/>
              <a:ahLst/>
              <a:cxnLst/>
              <a:rect l="l" t="t" r="r" b="b"/>
              <a:pathLst>
                <a:path w="2952750" h="9525">
                  <a:moveTo>
                    <a:pt x="0" y="0"/>
                  </a:moveTo>
                  <a:lnTo>
                    <a:pt x="295275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300085" y="2259806"/>
              <a:ext cx="18030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Token Mixer（空间混合）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471916" y="2515552"/>
              <a:ext cx="19583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RepVGGDW = 3×3 dw + 1×1 dw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300085" y="2812256"/>
              <a:ext cx="1929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Channel Mixer（通道混合）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471916" y="3068002"/>
              <a:ext cx="18626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35D0F0"/>
                  </a:solidFill>
                  <a:latin typeface="Consolas"/>
                  <a:ea typeface="Microsoft YaHei"/>
                  <a:cs typeface="Consolas"/>
                </a:rPr>
                <a:t>1×1 升维 → GELU → 1×1 降维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300085" y="3364706"/>
              <a:ext cx="19649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残差连接 + 部分 Block 带 SE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8058150" y="3924300"/>
            <a:ext cx="3448050" cy="2305050"/>
            <a:chOff x="8058150" y="3924300"/>
            <a:chExt cx="3448050" cy="2305050"/>
          </a:xfrm>
        </p:grpSpPr>
        <p:sp>
          <p:nvSpPr>
            <p:cNvPr id="47" name="Rectangle 47"/>
            <p:cNvSpPr/>
            <p:nvPr/>
          </p:nvSpPr>
          <p:spPr>
            <a:xfrm>
              <a:off x="8058150" y="3924300"/>
              <a:ext cx="3448050" cy="2305050"/>
            </a:xfrm>
            <a:prstGeom prst="roundRect">
              <a:avLst>
                <a:gd name="adj" fmla="val 4132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8298561" y="4113371"/>
              <a:ext cx="156001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训练态 vs 推理态</a:t>
              </a:r>
            </a:p>
          </p:txBody>
        </p:sp>
        <p:sp>
          <p:nvSpPr>
            <p:cNvPr id="49" name="Line 49"/>
            <p:cNvSpPr/>
            <p:nvPr/>
          </p:nvSpPr>
          <p:spPr>
            <a:xfrm>
              <a:off x="8305800" y="4400550"/>
              <a:ext cx="2952750" cy="9525"/>
            </a:xfrm>
            <a:custGeom>
              <a:avLst/>
              <a:gdLst/>
              <a:ahLst/>
              <a:cxnLst/>
              <a:rect l="l" t="t" r="r" b="b"/>
              <a:pathLst>
                <a:path w="2952750" h="9525">
                  <a:moveTo>
                    <a:pt x="0" y="0"/>
                  </a:moveTo>
                  <a:lnTo>
                    <a:pt x="295275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8300085" y="458390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训练态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300466" y="4839652"/>
              <a:ext cx="1670876" cy="4149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1050" dirty="0">
                  <a:solidFill>
                    <a:srgbClr val="93A4C0"/>
                  </a:solidFill>
                  <a:latin typeface="Consolas"/>
                  <a:ea typeface="Microsoft YaHei"/>
                  <a:cs typeface="Consolas"/>
                </a:rPr>
                <a:t>3×3 dw 分支 + 1×1 dw 分支</a:t>
              </a:r>
              <a:br/>
              <a:r>
                <a:rPr lang="zh-CN" sz="1050" dirty="0">
                  <a:solidFill>
                    <a:srgbClr val="93A4C0"/>
                  </a:solidFill>
                  <a:latin typeface="Consolas"/>
                  <a:ea typeface="Microsoft YaHei"/>
                  <a:cs typeface="Consolas"/>
                </a:rPr>
                <a:t>两条分支各自带 BatchNorm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300085" y="538400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FDB9B"/>
                  </a:solidFill>
                  <a:latin typeface="Microsoft YaHei"/>
                  <a:ea typeface="Microsoft YaHei"/>
                  <a:cs typeface="Microsoft YaHei"/>
                </a:rPr>
                <a:t>推理态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300466" y="5639752"/>
              <a:ext cx="1650873" cy="4149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1050" dirty="0">
                  <a:solidFill>
                    <a:srgbClr val="93A4C0"/>
                  </a:solidFill>
                  <a:latin typeface="Consolas"/>
                  <a:ea typeface="Microsoft YaHei"/>
                  <a:cs typeface="Consolas"/>
                </a:rPr>
                <a:t>BN 折进卷积核后相加</a:t>
              </a:r>
              <a:br/>
              <a:r>
                <a:rPr lang="zh-CN" sz="1050" dirty="0">
                  <a:solidFill>
                    <a:srgbClr val="93A4C0"/>
                  </a:solidFill>
                  <a:latin typeface="Consolas"/>
                  <a:ea typeface="Microsoft YaHei"/>
                  <a:cs typeface="Consolas"/>
                </a:rPr>
                <a:t>→ 单个 3×3 depthwise 卷积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680847" y="6401752"/>
            <a:ext cx="10830687" cy="205359"/>
            <a:chOff x="680847" y="6401752"/>
            <a:chExt cx="10830687" cy="205359"/>
          </a:xfrm>
        </p:grpSpPr>
        <p:sp>
          <p:nvSpPr>
            <p:cNvPr id="55" name="TextBox 55"/>
            <p:cNvSpPr txBox="1"/>
            <p:nvPr/>
          </p:nvSpPr>
          <p:spPr>
            <a:xfrm>
              <a:off x="680847" y="6409849"/>
              <a:ext cx="603899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数据来源：outputs/architecture/repvit_m0_9_arch.png / .md（python tools/draw_arch.py）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345380" y="64017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03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05778"/>
              <a:ext cx="739462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名字里有 ViT，但结构里没有一个注意力算子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994410"/>
              <a:ext cx="490260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RepViT 借鉴的是轻量 ViT 的宏观架构选择，而非多头自注意力本身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p/>
          </p:txBody>
        </p:sp>
      </p:grpSp>
      <p:grpSp>
        <p:nvGrpSpPr>
          <p:cNvPr id="40" name="Group 40"/>
          <p:cNvGrpSpPr/>
          <p:nvPr/>
        </p:nvGrpSpPr>
        <p:grpSpPr>
          <a:xfrm>
            <a:off x="685800" y="1600200"/>
            <a:ext cx="7620000" cy="4438650"/>
            <a:chOff x="685800" y="1600200"/>
            <a:chExt cx="7620000" cy="4438650"/>
          </a:xfrm>
        </p:grpSpPr>
        <p:sp>
          <p:nvSpPr>
            <p:cNvPr id="6" name="Rectangle 6"/>
            <p:cNvSpPr/>
            <p:nvPr/>
          </p:nvSpPr>
          <p:spPr>
            <a:xfrm>
              <a:off x="685800" y="1600200"/>
              <a:ext cx="7620000" cy="4438650"/>
            </a:xfrm>
            <a:prstGeom prst="roundRect">
              <a:avLst>
                <a:gd name="adj" fmla="val 2146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10" name="Group 10"/>
            <p:cNvGrpSpPr/>
            <p:nvPr/>
          </p:nvGrpSpPr>
          <p:grpSpPr>
            <a:xfrm>
              <a:off x="685800" y="1600200"/>
              <a:ext cx="7620000" cy="495300"/>
              <a:chOff x="685800" y="1600200"/>
              <a:chExt cx="7620000" cy="495300"/>
            </a:xfrm>
          </p:grpSpPr>
          <p:sp>
            <p:nvSpPr>
              <p:cNvPr id="7" name="Rectangle 7"/>
              <p:cNvSpPr/>
              <p:nvPr/>
            </p:nvSpPr>
            <p:spPr>
              <a:xfrm>
                <a:off x="685800" y="1600200"/>
                <a:ext cx="7620000" cy="495300"/>
              </a:xfrm>
              <a:prstGeom prst="roundRect">
                <a:avLst>
                  <a:gd name="adj" fmla="val 19231"/>
                </a:avLst>
              </a:prstGeom>
              <a:solidFill>
                <a:srgbClr val="1B2740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1932173" y="1786414"/>
                <a:ext cx="707654" cy="2493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80" b="1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标准 ViT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5424797" y="1786414"/>
                <a:ext cx="580406" cy="2493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80" b="1" dirty="0">
                    <a:solidFill>
                      <a:srgbClr val="35D0F0"/>
                    </a:solidFill>
                    <a:latin typeface="Microsoft YaHei"/>
                    <a:ea typeface="Microsoft YaHei"/>
                    <a:cs typeface="Microsoft YaHei"/>
                  </a:rPr>
                  <a:t>RepViT</a:t>
                </a:r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>
              <a:off x="946404" y="2366010"/>
              <a:ext cx="7092696" cy="329565"/>
              <a:chOff x="946404" y="2366010"/>
              <a:chExt cx="7092696" cy="329565"/>
            </a:xfrm>
          </p:grpSpPr>
          <p:sp>
            <p:nvSpPr>
              <p:cNvPr id="11" name="TextBox 11"/>
              <p:cNvSpPr txBox="1"/>
              <p:nvPr/>
            </p:nvSpPr>
            <p:spPr>
              <a:xfrm>
                <a:off x="946404" y="2366010"/>
                <a:ext cx="65836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空间混合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313014" y="2374106"/>
                <a:ext cx="194597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Multi-Head Self-Attention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4604614" y="2374106"/>
                <a:ext cx="2220773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dirty="0">
                    <a:solidFill>
                      <a:srgbClr val="3FDB9B"/>
                    </a:solidFill>
                    <a:latin typeface="Consolas"/>
                    <a:ea typeface="Microsoft YaHei"/>
                    <a:cs typeface="Consolas"/>
                  </a:rPr>
                  <a:t>RepVGGDW（3×3 dw + 1×1 dw）</a:t>
                </a:r>
              </a:p>
            </p:txBody>
          </p:sp>
          <p:sp>
            <p:nvSpPr>
              <p:cNvPr id="14" name="Line 14"/>
              <p:cNvSpPr/>
              <p:nvPr/>
            </p:nvSpPr>
            <p:spPr>
              <a:xfrm>
                <a:off x="952500" y="2686050"/>
                <a:ext cx="7086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086600" h="9525">
                    <a:moveTo>
                      <a:pt x="0" y="0"/>
                    </a:moveTo>
                    <a:lnTo>
                      <a:pt x="7086600" y="0"/>
                    </a:lnTo>
                  </a:path>
                </a:pathLst>
              </a:custGeom>
              <a:noFill/>
              <a:ln w="9525">
                <a:solidFill>
                  <a:srgbClr val="1E3050"/>
                </a:solidFill>
              </a:ln>
            </p:spPr>
            <p:txBody>
              <a:bodyPr/>
              <a:p/>
            </p:txBody>
          </p:sp>
        </p:grpSp>
        <p:grpSp>
          <p:nvGrpSpPr>
            <p:cNvPr id="20" name="Group 20"/>
            <p:cNvGrpSpPr/>
            <p:nvPr/>
          </p:nvGrpSpPr>
          <p:grpSpPr>
            <a:xfrm>
              <a:off x="946404" y="2918460"/>
              <a:ext cx="7092696" cy="329565"/>
              <a:chOff x="946404" y="2918460"/>
              <a:chExt cx="7092696" cy="329565"/>
            </a:xfrm>
          </p:grpSpPr>
          <p:sp>
            <p:nvSpPr>
              <p:cNvPr id="16" name="TextBox 16"/>
              <p:cNvSpPr txBox="1"/>
              <p:nvPr/>
            </p:nvSpPr>
            <p:spPr>
              <a:xfrm>
                <a:off x="946404" y="2918460"/>
                <a:ext cx="65836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通道混合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909892" y="2926556"/>
                <a:ext cx="75221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MLP / FFN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4446692" y="2926556"/>
                <a:ext cx="2536617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dirty="0">
                    <a:solidFill>
                      <a:srgbClr val="3FDB9B"/>
                    </a:solidFill>
                    <a:latin typeface="Consolas"/>
                    <a:ea typeface="Microsoft YaHei"/>
                    <a:cs typeface="Consolas"/>
                  </a:rPr>
                  <a:t>Channel Mixer（1×1 → GELU → 1×1）</a:t>
                </a:r>
              </a:p>
            </p:txBody>
          </p:sp>
          <p:sp>
            <p:nvSpPr>
              <p:cNvPr id="19" name="Line 19"/>
              <p:cNvSpPr/>
              <p:nvPr/>
            </p:nvSpPr>
            <p:spPr>
              <a:xfrm>
                <a:off x="952500" y="3238500"/>
                <a:ext cx="7086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086600" h="9525">
                    <a:moveTo>
                      <a:pt x="0" y="0"/>
                    </a:moveTo>
                    <a:lnTo>
                      <a:pt x="7086600" y="0"/>
                    </a:lnTo>
                  </a:path>
                </a:pathLst>
              </a:custGeom>
              <a:noFill/>
              <a:ln w="9525">
                <a:solidFill>
                  <a:srgbClr val="1E3050"/>
                </a:solidFill>
              </a:ln>
            </p:spPr>
            <p:txBody>
              <a:bodyPr/>
              <a:p/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946404" y="3470910"/>
              <a:ext cx="7092696" cy="329565"/>
              <a:chOff x="946404" y="3470910"/>
              <a:chExt cx="7092696" cy="329565"/>
            </a:xfrm>
          </p:grpSpPr>
          <p:sp>
            <p:nvSpPr>
              <p:cNvPr id="21" name="TextBox 21"/>
              <p:cNvSpPr txBox="1"/>
              <p:nvPr/>
            </p:nvSpPr>
            <p:spPr>
              <a:xfrm>
                <a:off x="946404" y="3470910"/>
                <a:ext cx="496824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下采样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1288943" y="3479006"/>
                <a:ext cx="1994113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patchify（stride=16 大核）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4480900" y="3479006"/>
                <a:ext cx="2468199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dirty="0">
                    <a:solidFill>
                      <a:srgbClr val="3FDB9B"/>
                    </a:solidFill>
                    <a:latin typeface="Consolas"/>
                    <a:ea typeface="Microsoft YaHei"/>
                    <a:cs typeface="Consolas"/>
                  </a:rPr>
                  <a:t>Early Conv Stem（两组 stride=2）</a:t>
                </a:r>
              </a:p>
            </p:txBody>
          </p:sp>
          <p:sp>
            <p:nvSpPr>
              <p:cNvPr id="24" name="Line 24"/>
              <p:cNvSpPr/>
              <p:nvPr/>
            </p:nvSpPr>
            <p:spPr>
              <a:xfrm>
                <a:off x="952500" y="3790950"/>
                <a:ext cx="7086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086600" h="9525">
                    <a:moveTo>
                      <a:pt x="0" y="0"/>
                    </a:moveTo>
                    <a:lnTo>
                      <a:pt x="7086600" y="0"/>
                    </a:lnTo>
                  </a:path>
                </a:pathLst>
              </a:custGeom>
              <a:noFill/>
              <a:ln w="9525">
                <a:solidFill>
                  <a:srgbClr val="1E3050"/>
                </a:solidFill>
              </a:ln>
            </p:spPr>
            <p:txBody>
              <a:bodyPr/>
              <a:p/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946404" y="4023360"/>
              <a:ext cx="7092696" cy="329565"/>
              <a:chOff x="946404" y="4023360"/>
              <a:chExt cx="7092696" cy="329565"/>
            </a:xfrm>
          </p:grpSpPr>
          <p:sp>
            <p:nvSpPr>
              <p:cNvPr id="26" name="TextBox 26"/>
              <p:cNvSpPr txBox="1"/>
              <p:nvPr/>
            </p:nvSpPr>
            <p:spPr>
              <a:xfrm>
                <a:off x="946404" y="4023360"/>
                <a:ext cx="65836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归纳偏置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1752575" y="4031456"/>
                <a:ext cx="106685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弱，依赖大数据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567169" y="4031456"/>
                <a:ext cx="229566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dirty="0">
                    <a:solidFill>
                      <a:srgbClr val="3FDB9B"/>
                    </a:solidFill>
                    <a:latin typeface="Microsoft YaHei"/>
                    <a:ea typeface="Microsoft YaHei"/>
                    <a:cs typeface="Microsoft YaHei"/>
                  </a:rPr>
                  <a:t>强（卷积自带局部性 / 平移等变）</a:t>
                </a:r>
              </a:p>
            </p:txBody>
          </p:sp>
          <p:sp>
            <p:nvSpPr>
              <p:cNvPr id="29" name="Line 29"/>
              <p:cNvSpPr/>
              <p:nvPr/>
            </p:nvSpPr>
            <p:spPr>
              <a:xfrm>
                <a:off x="952500" y="4343400"/>
                <a:ext cx="7086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086600" h="9525">
                    <a:moveTo>
                      <a:pt x="0" y="0"/>
                    </a:moveTo>
                    <a:lnTo>
                      <a:pt x="7086600" y="0"/>
                    </a:lnTo>
                  </a:path>
                </a:pathLst>
              </a:custGeom>
              <a:noFill/>
              <a:ln w="9525">
                <a:solidFill>
                  <a:srgbClr val="1E3050"/>
                </a:solidFill>
              </a:ln>
            </p:spPr>
            <p:txBody>
              <a:bodyPr/>
              <a:p/>
            </p:txBody>
          </p:sp>
        </p:grpSp>
        <p:grpSp>
          <p:nvGrpSpPr>
            <p:cNvPr id="35" name="Group 35"/>
            <p:cNvGrpSpPr/>
            <p:nvPr/>
          </p:nvGrpSpPr>
          <p:grpSpPr>
            <a:xfrm>
              <a:off x="946404" y="4575810"/>
              <a:ext cx="7092696" cy="329565"/>
              <a:chOff x="946404" y="4575810"/>
              <a:chExt cx="7092696" cy="329565"/>
            </a:xfrm>
          </p:grpSpPr>
          <p:sp>
            <p:nvSpPr>
              <p:cNvPr id="31" name="TextBox 31"/>
              <p:cNvSpPr txBox="1"/>
              <p:nvPr/>
            </p:nvSpPr>
            <p:spPr>
              <a:xfrm>
                <a:off x="946404" y="4575810"/>
                <a:ext cx="814426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ONNX 图内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1619668" y="4583906"/>
                <a:ext cx="1332665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MatMul + Softmax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5256962" y="4583906"/>
                <a:ext cx="91607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dirty="0">
                    <a:solidFill>
                      <a:srgbClr val="3FDB9B"/>
                    </a:solidFill>
                    <a:latin typeface="Consolas"/>
                    <a:ea typeface="Microsoft YaHei"/>
                    <a:cs typeface="Consolas"/>
                  </a:rPr>
                  <a:t>无注意力算子</a:t>
                </a:r>
              </a:p>
            </p:txBody>
          </p:sp>
          <p:sp>
            <p:nvSpPr>
              <p:cNvPr id="34" name="Line 34"/>
              <p:cNvSpPr/>
              <p:nvPr/>
            </p:nvSpPr>
            <p:spPr>
              <a:xfrm>
                <a:off x="952500" y="4895850"/>
                <a:ext cx="7086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086600" h="9525">
                    <a:moveTo>
                      <a:pt x="0" y="0"/>
                    </a:moveTo>
                    <a:lnTo>
                      <a:pt x="7086600" y="0"/>
                    </a:lnTo>
                  </a:path>
                </a:pathLst>
              </a:custGeom>
              <a:noFill/>
              <a:ln w="9525">
                <a:solidFill>
                  <a:srgbClr val="1E3050"/>
                </a:solidFill>
              </a:ln>
            </p:spPr>
            <p:txBody>
              <a:bodyPr/>
              <a:p/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946785" y="5174456"/>
              <a:ext cx="5226901" cy="746855"/>
              <a:chOff x="946785" y="5174456"/>
              <a:chExt cx="5226901" cy="746855"/>
            </a:xfrm>
          </p:grpSpPr>
          <p:sp>
            <p:nvSpPr>
              <p:cNvPr id="36" name="TextBox 36"/>
              <p:cNvSpPr txBox="1"/>
              <p:nvPr/>
            </p:nvSpPr>
            <p:spPr>
              <a:xfrm>
                <a:off x="946785" y="5174456"/>
                <a:ext cx="91607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全部算术节点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947166" y="5468302"/>
                <a:ext cx="2882494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FFC857"/>
                    </a:solidFill>
                    <a:latin typeface="Consolas"/>
                    <a:ea typeface="Consolas"/>
                    <a:cs typeface="Consolas"/>
                  </a:rPr>
                  <a:t>Conv / Gemm / Add / Mul / Div / Clip / Relu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947166" y="5715952"/>
                <a:ext cx="5226520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C7096"/>
                    </a:solidFill>
                    <a:latin typeface="Microsoft YaHei"/>
                    <a:ea typeface="Microsoft YaHei"/>
                    <a:cs typeface="Microsoft YaHei"/>
                  </a:rPr>
                  <a:t>实证：onnx/*.onnx 的 op_histogram 与 outputs/reparam/*_onnx_nodes.json</a:t>
                </a:r>
              </a:p>
            </p:txBody>
          </p:sp>
        </p:grpSp>
      </p:grpSp>
      <p:grpSp>
        <p:nvGrpSpPr>
          <p:cNvPr id="61" name="Group 61"/>
          <p:cNvGrpSpPr/>
          <p:nvPr/>
        </p:nvGrpSpPr>
        <p:grpSpPr>
          <a:xfrm>
            <a:off x="8610600" y="1600200"/>
            <a:ext cx="2895600" cy="4438650"/>
            <a:chOff x="8610600" y="1600200"/>
            <a:chExt cx="2895600" cy="4438650"/>
          </a:xfrm>
        </p:grpSpPr>
        <p:sp>
          <p:nvSpPr>
            <p:cNvPr id="41" name="Rectangle 41"/>
            <p:cNvSpPr/>
            <p:nvPr/>
          </p:nvSpPr>
          <p:spPr>
            <a:xfrm>
              <a:off x="8610600" y="1600200"/>
              <a:ext cx="2895600" cy="4438650"/>
            </a:xfrm>
            <a:prstGeom prst="roundRect">
              <a:avLst>
                <a:gd name="adj" fmla="val 3289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8831961" y="1789271"/>
              <a:ext cx="121878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四个关键设计</a:t>
              </a:r>
            </a:p>
          </p:txBody>
        </p:sp>
        <p:sp>
          <p:nvSpPr>
            <p:cNvPr id="43" name="Line 43"/>
            <p:cNvSpPr/>
            <p:nvPr/>
          </p:nvSpPr>
          <p:spPr>
            <a:xfrm>
              <a:off x="8839200" y="2076450"/>
              <a:ext cx="2438400" cy="9525"/>
            </a:xfrm>
            <a:custGeom>
              <a:avLst/>
              <a:gdLst/>
              <a:ahLst/>
              <a:cxnLst/>
              <a:rect l="l" t="t" r="r" b="b"/>
              <a:pathLst>
                <a:path w="2438400" h="9525">
                  <a:moveTo>
                    <a:pt x="0" y="0"/>
                  </a:moveTo>
                  <a:lnTo>
                    <a:pt x="24384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47" name="Group 47"/>
            <p:cNvGrpSpPr/>
            <p:nvPr/>
          </p:nvGrpSpPr>
          <p:grpSpPr>
            <a:xfrm>
              <a:off x="8833104" y="2270760"/>
              <a:ext cx="2444496" cy="577215"/>
              <a:chOff x="8833104" y="2270760"/>
              <a:chExt cx="2444496" cy="577215"/>
            </a:xfrm>
          </p:grpSpPr>
          <p:sp>
            <p:nvSpPr>
              <p:cNvPr id="44" name="TextBox 44"/>
              <p:cNvSpPr txBox="1"/>
              <p:nvPr/>
            </p:nvSpPr>
            <p:spPr>
              <a:xfrm>
                <a:off x="8833104" y="2270760"/>
                <a:ext cx="2205031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35D0F0"/>
                    </a:solidFill>
                    <a:latin typeface="Microsoft YaHei"/>
                    <a:ea typeface="Microsoft YaHei"/>
                    <a:cs typeface="Microsoft YaHei"/>
                  </a:rPr>
                  <a:t>分离 Token / Channel Mixer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8833866" y="2534602"/>
                <a:ext cx="1706880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空间与通道容量可独立调节</a:t>
                </a:r>
              </a:p>
            </p:txBody>
          </p:sp>
          <p:sp>
            <p:nvSpPr>
              <p:cNvPr id="46" name="Line 46"/>
              <p:cNvSpPr/>
              <p:nvPr/>
            </p:nvSpPr>
            <p:spPr>
              <a:xfrm>
                <a:off x="8839200" y="2838450"/>
                <a:ext cx="2438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438400" h="9525">
                    <a:moveTo>
                      <a:pt x="0" y="0"/>
                    </a:moveTo>
                    <a:lnTo>
                      <a:pt x="2438400" y="0"/>
                    </a:lnTo>
                  </a:path>
                </a:pathLst>
              </a:custGeom>
              <a:noFill/>
              <a:ln w="9525">
                <a:solidFill>
                  <a:srgbClr val="1E3050"/>
                </a:solidFill>
              </a:ln>
            </p:spPr>
            <p:txBody>
              <a:bodyPr/>
              <a:p/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8833104" y="3032760"/>
              <a:ext cx="2444496" cy="577215"/>
              <a:chOff x="8833104" y="3032760"/>
              <a:chExt cx="2444496" cy="577215"/>
            </a:xfrm>
          </p:grpSpPr>
          <p:sp>
            <p:nvSpPr>
              <p:cNvPr id="48" name="TextBox 48"/>
              <p:cNvSpPr txBox="1"/>
              <p:nvPr/>
            </p:nvSpPr>
            <p:spPr>
              <a:xfrm>
                <a:off x="8833104" y="3032760"/>
                <a:ext cx="2022203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35D0F0"/>
                    </a:solidFill>
                    <a:latin typeface="Microsoft YaHei"/>
                    <a:ea typeface="Microsoft YaHei"/>
                    <a:cs typeface="Microsoft YaHei"/>
                  </a:rPr>
                  <a:t>扩张比降到约 2，同时加宽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8833866" y="3296602"/>
                <a:ext cx="163153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省下的 MACs 换成通道数</a:t>
                </a:r>
              </a:p>
            </p:txBody>
          </p:sp>
          <p:sp>
            <p:nvSpPr>
              <p:cNvPr id="50" name="Line 50"/>
              <p:cNvSpPr/>
              <p:nvPr/>
            </p:nvSpPr>
            <p:spPr>
              <a:xfrm>
                <a:off x="8839200" y="3600450"/>
                <a:ext cx="2438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438400" h="9525">
                    <a:moveTo>
                      <a:pt x="0" y="0"/>
                    </a:moveTo>
                    <a:lnTo>
                      <a:pt x="2438400" y="0"/>
                    </a:lnTo>
                  </a:path>
                </a:pathLst>
              </a:custGeom>
              <a:noFill/>
              <a:ln w="9525">
                <a:solidFill>
                  <a:srgbClr val="1E3050"/>
                </a:solidFill>
              </a:ln>
            </p:spPr>
            <p:txBody>
              <a:bodyPr/>
              <a:p/>
            </p:txBody>
          </p:sp>
        </p:grpSp>
        <p:grpSp>
          <p:nvGrpSpPr>
            <p:cNvPr id="55" name="Group 55"/>
            <p:cNvGrpSpPr/>
            <p:nvPr/>
          </p:nvGrpSpPr>
          <p:grpSpPr>
            <a:xfrm>
              <a:off x="8833104" y="3794760"/>
              <a:ext cx="2444496" cy="577215"/>
              <a:chOff x="8833104" y="3794760"/>
              <a:chExt cx="2444496" cy="577215"/>
            </a:xfrm>
          </p:grpSpPr>
          <p:sp>
            <p:nvSpPr>
              <p:cNvPr id="52" name="TextBox 52"/>
              <p:cNvSpPr txBox="1"/>
              <p:nvPr/>
            </p:nvSpPr>
            <p:spPr>
              <a:xfrm>
                <a:off x="8833104" y="3794760"/>
                <a:ext cx="133843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35D0F0"/>
                    </a:solidFill>
                    <a:latin typeface="Microsoft YaHei"/>
                    <a:ea typeface="Microsoft YaHei"/>
                    <a:cs typeface="Microsoft YaHei"/>
                  </a:rPr>
                  <a:t>SE 不做每块都放</a:t>
                </a:r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8833866" y="4058602"/>
                <a:ext cx="1565529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全局池化的延迟不可忽略</a:t>
                </a:r>
              </a:p>
            </p:txBody>
          </p:sp>
          <p:sp>
            <p:nvSpPr>
              <p:cNvPr id="54" name="Line 54"/>
              <p:cNvSpPr/>
              <p:nvPr/>
            </p:nvSpPr>
            <p:spPr>
              <a:xfrm>
                <a:off x="8839200" y="4362450"/>
                <a:ext cx="2438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438400" h="9525">
                    <a:moveTo>
                      <a:pt x="0" y="0"/>
                    </a:moveTo>
                    <a:lnTo>
                      <a:pt x="2438400" y="0"/>
                    </a:lnTo>
                  </a:path>
                </a:pathLst>
              </a:custGeom>
              <a:noFill/>
              <a:ln w="9525">
                <a:solidFill>
                  <a:srgbClr val="1E3050"/>
                </a:solidFill>
              </a:ln>
            </p:spPr>
            <p:txBody>
              <a:bodyPr/>
              <a:p/>
            </p:txBody>
          </p:sp>
        </p:grpSp>
        <p:grpSp>
          <p:nvGrpSpPr>
            <p:cNvPr id="60" name="Group 60"/>
            <p:cNvGrpSpPr/>
            <p:nvPr/>
          </p:nvGrpSpPr>
          <p:grpSpPr>
            <a:xfrm>
              <a:off x="8833104" y="4556760"/>
              <a:ext cx="1974609" cy="1116901"/>
              <a:chOff x="8833104" y="4556760"/>
              <a:chExt cx="1974609" cy="1116901"/>
            </a:xfrm>
          </p:grpSpPr>
          <p:sp>
            <p:nvSpPr>
              <p:cNvPr id="56" name="TextBox 56"/>
              <p:cNvSpPr txBox="1"/>
              <p:nvPr/>
            </p:nvSpPr>
            <p:spPr>
              <a:xfrm>
                <a:off x="8833104" y="4556760"/>
                <a:ext cx="86029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35D0F0"/>
                    </a:solidFill>
                    <a:latin typeface="Microsoft YaHei"/>
                    <a:ea typeface="Microsoft YaHei"/>
                    <a:cs typeface="Microsoft YaHei"/>
                  </a:rPr>
                  <a:t>简单分类头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8833866" y="4820602"/>
                <a:ext cx="197384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单个 BN + Linear，省真实延迟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8833866" y="5220652"/>
                <a:ext cx="1580464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C7096"/>
                    </a:solidFill>
                    <a:latin typeface="Microsoft YaHei"/>
                    <a:ea typeface="Microsoft YaHei"/>
                    <a:cs typeface="Microsoft YaHei"/>
                  </a:rPr>
                  <a:t>M0.9 实测：20 个 Block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833866" y="5468302"/>
                <a:ext cx="915314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5C7096"/>
                    </a:solidFill>
                    <a:latin typeface="Consolas"/>
                    <a:ea typeface="Consolas"/>
                    <a:cs typeface="Consolas"/>
                  </a:rPr>
                  <a:t>[2, 2, 14, 2]</a:t>
                </a:r>
              </a:p>
            </p:txBody>
          </p:sp>
        </p:grpSp>
      </p:grpSp>
      <p:grpSp>
        <p:nvGrpSpPr>
          <p:cNvPr id="64" name="Group 64"/>
          <p:cNvGrpSpPr/>
          <p:nvPr/>
        </p:nvGrpSpPr>
        <p:grpSpPr>
          <a:xfrm>
            <a:off x="680847" y="6401752"/>
            <a:ext cx="10830687" cy="205359"/>
            <a:chOff x="680847" y="6401752"/>
            <a:chExt cx="10830687" cy="205359"/>
          </a:xfrm>
        </p:grpSpPr>
        <p:sp>
          <p:nvSpPr>
            <p:cNvPr id="62" name="TextBox 62"/>
            <p:cNvSpPr txBox="1"/>
            <p:nvPr/>
          </p:nvSpPr>
          <p:spPr>
            <a:xfrm>
              <a:off x="680847" y="6409849"/>
              <a:ext cx="681737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数据来源：outputs/architecture/repvit_m0_9_arch.md · outputs/reparam/repvit_m0_9_onnx_nodes.json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345380" y="64017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04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05778"/>
              <a:ext cx="552269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官方权重在自建子集上的实际表现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994410"/>
              <a:ext cx="753496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1000 张自建分层子集（每类 1 张，种子 20260912）· 224×224 · batch 64 · FP32 · RTX 4060 Laptop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p/>
          </p:txBody>
        </p:sp>
      </p:grpSp>
      <p:grpSp>
        <p:nvGrpSpPr>
          <p:cNvPr id="48" name="Group 48"/>
          <p:cNvGrpSpPr/>
          <p:nvPr/>
        </p:nvGrpSpPr>
        <p:grpSpPr>
          <a:xfrm>
            <a:off x="685800" y="1600200"/>
            <a:ext cx="7620000" cy="2857500"/>
            <a:chOff x="685800" y="1600200"/>
            <a:chExt cx="7620000" cy="2857500"/>
          </a:xfrm>
        </p:grpSpPr>
        <p:sp>
          <p:nvSpPr>
            <p:cNvPr id="6" name="Rectangle 6"/>
            <p:cNvSpPr/>
            <p:nvPr/>
          </p:nvSpPr>
          <p:spPr>
            <a:xfrm>
              <a:off x="685800" y="1600200"/>
              <a:ext cx="7620000" cy="2857500"/>
            </a:xfrm>
            <a:prstGeom prst="roundRect">
              <a:avLst>
                <a:gd name="adj" fmla="val 3333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13" name="Group 13"/>
            <p:cNvGrpSpPr/>
            <p:nvPr/>
          </p:nvGrpSpPr>
          <p:grpSpPr>
            <a:xfrm>
              <a:off x="685800" y="1600200"/>
              <a:ext cx="7620000" cy="476250"/>
              <a:chOff x="685800" y="1600200"/>
              <a:chExt cx="7620000" cy="476250"/>
            </a:xfrm>
          </p:grpSpPr>
          <p:sp>
            <p:nvSpPr>
              <p:cNvPr id="7" name="Rectangle 7"/>
              <p:cNvSpPr/>
              <p:nvPr/>
            </p:nvSpPr>
            <p:spPr>
              <a:xfrm>
                <a:off x="685800" y="1600200"/>
                <a:ext cx="7620000" cy="476250"/>
              </a:xfrm>
              <a:prstGeom prst="roundRect">
                <a:avLst>
                  <a:gd name="adj" fmla="val 20000"/>
                </a:avLst>
              </a:prstGeom>
              <a:solidFill>
                <a:srgbClr val="1B2740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1003935" y="1783556"/>
                <a:ext cx="32805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型号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2325804" y="1783556"/>
                <a:ext cx="87289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b="1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参数量 (M)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3920612" y="1783556"/>
                <a:ext cx="731277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b="1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MACs (G)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5492502" y="1783556"/>
                <a:ext cx="82599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b="1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本机 Top-1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7202409" y="1783556"/>
                <a:ext cx="64468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b="1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官方公布</a:t>
                </a:r>
              </a:p>
            </p:txBody>
          </p:sp>
        </p:grpSp>
        <p:grpSp>
          <p:nvGrpSpPr>
            <p:cNvPr id="20" name="Group 20"/>
            <p:cNvGrpSpPr/>
            <p:nvPr/>
          </p:nvGrpSpPr>
          <p:grpSpPr>
            <a:xfrm>
              <a:off x="1003554" y="2262664"/>
              <a:ext cx="6978396" cy="299561"/>
              <a:chOff x="1003554" y="2262664"/>
              <a:chExt cx="6978396" cy="299561"/>
            </a:xfrm>
          </p:grpSpPr>
          <p:sp>
            <p:nvSpPr>
              <p:cNvPr id="14" name="TextBox 14"/>
              <p:cNvSpPr txBox="1"/>
              <p:nvPr/>
            </p:nvSpPr>
            <p:spPr>
              <a:xfrm>
                <a:off x="1003554" y="2270760"/>
                <a:ext cx="101280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RepViT-M0.9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2534031" y="2270760"/>
                <a:ext cx="45643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5.489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4058031" y="2270760"/>
                <a:ext cx="45643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0.847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5582397" y="2262664"/>
                <a:ext cx="646206" cy="2493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80" b="1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78.20%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7280377" y="2270760"/>
                <a:ext cx="48874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78.7%</a:t>
                </a:r>
              </a:p>
            </p:txBody>
          </p:sp>
          <p:sp>
            <p:nvSpPr>
              <p:cNvPr id="19" name="Line 19"/>
              <p:cNvSpPr/>
              <p:nvPr/>
            </p:nvSpPr>
            <p:spPr>
              <a:xfrm>
                <a:off x="1009650" y="2552700"/>
                <a:ext cx="69723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972300" h="9525">
                    <a:moveTo>
                      <a:pt x="0" y="0"/>
                    </a:moveTo>
                    <a:lnTo>
                      <a:pt x="6972300" y="0"/>
                    </a:lnTo>
                  </a:path>
                </a:pathLst>
              </a:custGeom>
              <a:noFill/>
              <a:ln w="9525">
                <a:solidFill>
                  <a:srgbClr val="1E3050"/>
                </a:solidFill>
              </a:ln>
            </p:spPr>
            <p:txBody>
              <a:bodyPr/>
              <a:p/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1003554" y="2757964"/>
              <a:ext cx="6978396" cy="299561"/>
              <a:chOff x="1003554" y="2757964"/>
              <a:chExt cx="6978396" cy="299561"/>
            </a:xfrm>
          </p:grpSpPr>
          <p:sp>
            <p:nvSpPr>
              <p:cNvPr id="21" name="TextBox 21"/>
              <p:cNvSpPr txBox="1"/>
              <p:nvPr/>
            </p:nvSpPr>
            <p:spPr>
              <a:xfrm>
                <a:off x="1003554" y="2766060"/>
                <a:ext cx="101280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RepViT-M1.0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2534031" y="2766060"/>
                <a:ext cx="45643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7.303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4058031" y="2766060"/>
                <a:ext cx="45643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1.143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5582397" y="2757964"/>
                <a:ext cx="646206" cy="2493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80" b="1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79.90%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280377" y="2766060"/>
                <a:ext cx="48874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80.0%</a:t>
                </a:r>
              </a:p>
            </p:txBody>
          </p:sp>
          <p:sp>
            <p:nvSpPr>
              <p:cNvPr id="26" name="Line 26"/>
              <p:cNvSpPr/>
              <p:nvPr/>
            </p:nvSpPr>
            <p:spPr>
              <a:xfrm>
                <a:off x="1009650" y="3048000"/>
                <a:ext cx="69723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972300" h="9525">
                    <a:moveTo>
                      <a:pt x="0" y="0"/>
                    </a:moveTo>
                    <a:lnTo>
                      <a:pt x="6972300" y="0"/>
                    </a:lnTo>
                  </a:path>
                </a:pathLst>
              </a:custGeom>
              <a:noFill/>
              <a:ln w="9525">
                <a:solidFill>
                  <a:srgbClr val="1E3050"/>
                </a:solidFill>
              </a:ln>
            </p:spPr>
            <p:txBody>
              <a:bodyPr/>
              <a:p/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1003554" y="3261360"/>
              <a:ext cx="6978396" cy="291465"/>
              <a:chOff x="1003554" y="3261360"/>
              <a:chExt cx="6978396" cy="291465"/>
            </a:xfrm>
          </p:grpSpPr>
          <p:sp>
            <p:nvSpPr>
              <p:cNvPr id="28" name="TextBox 28"/>
              <p:cNvSpPr txBox="1"/>
              <p:nvPr/>
            </p:nvSpPr>
            <p:spPr>
              <a:xfrm>
                <a:off x="1003554" y="3261360"/>
                <a:ext cx="101280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RepViT-M1.1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2534031" y="3261360"/>
                <a:ext cx="45643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8.803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058031" y="3261360"/>
                <a:ext cx="45643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1.358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616702" y="3261360"/>
                <a:ext cx="577596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79.90%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7280377" y="3261360"/>
                <a:ext cx="48874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80.7%</a:t>
                </a:r>
              </a:p>
            </p:txBody>
          </p:sp>
          <p:sp>
            <p:nvSpPr>
              <p:cNvPr id="33" name="Line 33"/>
              <p:cNvSpPr/>
              <p:nvPr/>
            </p:nvSpPr>
            <p:spPr>
              <a:xfrm>
                <a:off x="1009650" y="3543300"/>
                <a:ext cx="69723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972300" h="9525">
                    <a:moveTo>
                      <a:pt x="0" y="0"/>
                    </a:moveTo>
                    <a:lnTo>
                      <a:pt x="6972300" y="0"/>
                    </a:lnTo>
                  </a:path>
                </a:pathLst>
              </a:custGeom>
              <a:noFill/>
              <a:ln w="9525">
                <a:solidFill>
                  <a:srgbClr val="1E3050"/>
                </a:solidFill>
              </a:ln>
            </p:spPr>
            <p:txBody>
              <a:bodyPr/>
              <a:p/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1003554" y="3756660"/>
              <a:ext cx="6978396" cy="291465"/>
              <a:chOff x="1003554" y="3756660"/>
              <a:chExt cx="6978396" cy="291465"/>
            </a:xfrm>
          </p:grpSpPr>
          <p:sp>
            <p:nvSpPr>
              <p:cNvPr id="35" name="TextBox 35"/>
              <p:cNvSpPr txBox="1"/>
              <p:nvPr/>
            </p:nvSpPr>
            <p:spPr>
              <a:xfrm>
                <a:off x="1003554" y="3756660"/>
                <a:ext cx="101280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RepViT-M1.5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2489606" y="3756660"/>
                <a:ext cx="54528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14.644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4058031" y="3756660"/>
                <a:ext cx="45643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2.308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5616702" y="3756660"/>
                <a:ext cx="577596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82.80%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280377" y="3756660"/>
                <a:ext cx="48874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82.3%</a:t>
                </a:r>
              </a:p>
            </p:txBody>
          </p:sp>
          <p:sp>
            <p:nvSpPr>
              <p:cNvPr id="40" name="Line 40"/>
              <p:cNvSpPr/>
              <p:nvPr/>
            </p:nvSpPr>
            <p:spPr>
              <a:xfrm>
                <a:off x="1009650" y="4038600"/>
                <a:ext cx="69723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972300" h="9525">
                    <a:moveTo>
                      <a:pt x="0" y="0"/>
                    </a:moveTo>
                    <a:lnTo>
                      <a:pt x="6972300" y="0"/>
                    </a:lnTo>
                  </a:path>
                </a:pathLst>
              </a:custGeom>
              <a:noFill/>
              <a:ln w="9525">
                <a:solidFill>
                  <a:srgbClr val="1E3050"/>
                </a:solidFill>
              </a:ln>
            </p:spPr>
            <p:txBody>
              <a:bodyPr/>
              <a:p/>
            </p:txBody>
          </p:sp>
        </p:grpSp>
        <p:grpSp>
          <p:nvGrpSpPr>
            <p:cNvPr id="47" name="Group 47"/>
            <p:cNvGrpSpPr/>
            <p:nvPr/>
          </p:nvGrpSpPr>
          <p:grpSpPr>
            <a:xfrm>
              <a:off x="1003554" y="4213860"/>
              <a:ext cx="6765570" cy="234696"/>
              <a:chOff x="1003554" y="4213860"/>
              <a:chExt cx="6765570" cy="234696"/>
            </a:xfrm>
          </p:grpSpPr>
          <p:sp>
            <p:nvSpPr>
              <p:cNvPr id="42" name="TextBox 42"/>
              <p:cNvSpPr txBox="1"/>
              <p:nvPr/>
            </p:nvSpPr>
            <p:spPr>
              <a:xfrm>
                <a:off x="1003554" y="4213860"/>
                <a:ext cx="101280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RepViT-M2.3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2489606" y="4213860"/>
                <a:ext cx="54528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23.689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4058031" y="4213860"/>
                <a:ext cx="45643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4.574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5616702" y="4213860"/>
                <a:ext cx="577596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83.10%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7280377" y="4213860"/>
                <a:ext cx="48874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83.3%</a:t>
                </a:r>
              </a:p>
            </p:txBody>
          </p:sp>
        </p:grpSp>
      </p:grpSp>
      <p:grpSp>
        <p:nvGrpSpPr>
          <p:cNvPr id="60" name="Group 60"/>
          <p:cNvGrpSpPr/>
          <p:nvPr/>
        </p:nvGrpSpPr>
        <p:grpSpPr>
          <a:xfrm>
            <a:off x="8610600" y="1600200"/>
            <a:ext cx="2895600" cy="2857500"/>
            <a:chOff x="8610600" y="1600200"/>
            <a:chExt cx="2895600" cy="2857500"/>
          </a:xfrm>
        </p:grpSpPr>
        <p:sp>
          <p:nvSpPr>
            <p:cNvPr id="49" name="Rectangle 49"/>
            <p:cNvSpPr/>
            <p:nvPr/>
          </p:nvSpPr>
          <p:spPr>
            <a:xfrm>
              <a:off x="8610600" y="1600200"/>
              <a:ext cx="2895600" cy="2857500"/>
            </a:xfrm>
            <a:prstGeom prst="roundRect">
              <a:avLst>
                <a:gd name="adj" fmla="val 3333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8831961" y="1789271"/>
              <a:ext cx="162022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预处理口径必须标</a:t>
              </a:r>
            </a:p>
          </p:txBody>
        </p:sp>
        <p:sp>
          <p:nvSpPr>
            <p:cNvPr id="51" name="Line 51"/>
            <p:cNvSpPr/>
            <p:nvPr/>
          </p:nvSpPr>
          <p:spPr>
            <a:xfrm>
              <a:off x="8839200" y="2076450"/>
              <a:ext cx="2438400" cy="9525"/>
            </a:xfrm>
            <a:custGeom>
              <a:avLst/>
              <a:gdLst/>
              <a:ahLst/>
              <a:cxnLst/>
              <a:rect l="l" t="t" r="r" b="b"/>
              <a:pathLst>
                <a:path w="2438400" h="9525">
                  <a:moveTo>
                    <a:pt x="0" y="0"/>
                  </a:moveTo>
                  <a:lnTo>
                    <a:pt x="24384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52" name="TextBox 52"/>
            <p:cNvSpPr txBox="1"/>
            <p:nvPr/>
          </p:nvSpPr>
          <p:spPr>
            <a:xfrm>
              <a:off x="8833485" y="2278856"/>
              <a:ext cx="1262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FFC857"/>
                  </a:solidFill>
                  <a:latin typeface="Consolas"/>
                  <a:ea typeface="Consolas"/>
                  <a:cs typeface="Consolas"/>
                </a:rPr>
                <a:t>crop_pct = 0.875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833866" y="2515552"/>
              <a:ext cx="218200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Resize(256) + CenterCrop(224)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833485" y="2888456"/>
              <a:ext cx="11799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FFC857"/>
                  </a:solidFill>
                  <a:latin typeface="Consolas"/>
                  <a:ea typeface="Consolas"/>
                  <a:cs typeface="Consolas"/>
                </a:rPr>
                <a:t>crop_pct = 0.95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833866" y="3125152"/>
              <a:ext cx="218200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Resize(235) + CenterCrop(224)</a:t>
              </a:r>
            </a:p>
          </p:txBody>
        </p:sp>
        <p:sp>
          <p:nvSpPr>
            <p:cNvPr id="56" name="Line 56"/>
            <p:cNvSpPr/>
            <p:nvPr/>
          </p:nvSpPr>
          <p:spPr>
            <a:xfrm>
              <a:off x="8839200" y="3467100"/>
              <a:ext cx="2438400" cy="9525"/>
            </a:xfrm>
            <a:custGeom>
              <a:avLst/>
              <a:gdLst/>
              <a:ahLst/>
              <a:cxnLst/>
              <a:rect l="l" t="t" r="r" b="b"/>
              <a:pathLst>
                <a:path w="2438400" h="9525">
                  <a:moveTo>
                    <a:pt x="0" y="0"/>
                  </a:moveTo>
                  <a:lnTo>
                    <a:pt x="24384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8833866" y="3658552"/>
              <a:ext cx="151165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M0.9：78.20 / 78.60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833866" y="3887152"/>
              <a:ext cx="151165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M1.0：79.90 / 80.00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834247" y="4200049"/>
              <a:ext cx="152047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两套口径差 0.1~0.4 个点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685800" y="4610100"/>
            <a:ext cx="10820400" cy="1447800"/>
            <a:chOff x="685800" y="4610100"/>
            <a:chExt cx="10820400" cy="1447800"/>
          </a:xfrm>
        </p:grpSpPr>
        <p:sp>
          <p:nvSpPr>
            <p:cNvPr id="61" name="Rectangle 61"/>
            <p:cNvSpPr/>
            <p:nvPr/>
          </p:nvSpPr>
          <p:spPr>
            <a:xfrm>
              <a:off x="685800" y="4610100"/>
              <a:ext cx="10820400" cy="1447800"/>
            </a:xfrm>
            <a:prstGeom prst="roundRect">
              <a:avLst>
                <a:gd name="adj" fmla="val 6579"/>
              </a:avLst>
            </a:prstGeom>
            <a:solidFill>
              <a:srgbClr val="1A1408"/>
            </a:solidFill>
            <a:ln w="9525">
              <a:solidFill>
                <a:srgbClr val="FFC857"/>
              </a:solidFill>
            </a:ln>
          </p:spPr>
          <p:txBody>
            <a:bodyPr/>
            <a:p/>
          </p:txBody>
        </p:sp>
        <p:sp>
          <p:nvSpPr>
            <p:cNvPr id="62" name="TextBox 62"/>
            <p:cNvSpPr txBox="1"/>
            <p:nvPr/>
          </p:nvSpPr>
          <p:spPr>
            <a:xfrm>
              <a:off x="945642" y="4807268"/>
              <a:ext cx="173113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必须声明的口径边界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946404" y="5166360"/>
              <a:ext cx="685921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本结果为「该自建验证子集上的实际运行结果」，不代表论文完整 ImageNet-1K 验证集结果。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46785" y="5460206"/>
              <a:ext cx="8613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子集为每类 1 张的分层抽样（1000 张），非考核方下发的指定子集；清单与哈希见 datasets/lists/imagenet_val_subset.txt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46785" y="5726906"/>
              <a:ext cx="46816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官方 iPhone 12 延迟（0.9 / 1.0 ms）与本机 CPU 结果不可横向比较</a:t>
              </a:r>
            </a:p>
          </p:txBody>
        </p:sp>
      </p:grpSp>
      <p:grpSp>
        <p:nvGrpSpPr>
          <p:cNvPr id="69" name="Group 69"/>
          <p:cNvGrpSpPr/>
          <p:nvPr/>
        </p:nvGrpSpPr>
        <p:grpSpPr>
          <a:xfrm>
            <a:off x="680847" y="6401752"/>
            <a:ext cx="10830687" cy="205359"/>
            <a:chOff x="680847" y="6401752"/>
            <a:chExt cx="10830687" cy="205359"/>
          </a:xfrm>
        </p:grpSpPr>
        <p:sp>
          <p:nvSpPr>
            <p:cNvPr id="67" name="TextBox 67"/>
            <p:cNvSpPr txBox="1"/>
            <p:nvPr/>
          </p:nvSpPr>
          <p:spPr>
            <a:xfrm>
              <a:off x="680847" y="6409849"/>
              <a:ext cx="47527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数据来源：outputs/pretrained_eval/&lt;model&gt;/metrics.json · summary.csv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345380" y="64017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05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05778"/>
              <a:ext cx="579302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两套数据两套标签，三层划分零泄漏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994410"/>
              <a:ext cx="56988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37 类与 1000 类必须分别使用各自的标签文件；混用会让 Top-5 名称整体错乱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p/>
          </p:txBody>
        </p:sp>
      </p:grpSp>
      <p:grpSp>
        <p:nvGrpSpPr>
          <p:cNvPr id="33" name="Group 33"/>
          <p:cNvGrpSpPr/>
          <p:nvPr/>
        </p:nvGrpSpPr>
        <p:grpSpPr>
          <a:xfrm>
            <a:off x="685800" y="1600200"/>
            <a:ext cx="6667500" cy="2552700"/>
            <a:chOff x="685800" y="1600200"/>
            <a:chExt cx="6667500" cy="2552700"/>
          </a:xfrm>
        </p:grpSpPr>
        <p:sp>
          <p:nvSpPr>
            <p:cNvPr id="6" name="Rectangle 6"/>
            <p:cNvSpPr/>
            <p:nvPr/>
          </p:nvSpPr>
          <p:spPr>
            <a:xfrm>
              <a:off x="685800" y="1600200"/>
              <a:ext cx="6667500" cy="2552700"/>
            </a:xfrm>
            <a:prstGeom prst="roundRect">
              <a:avLst>
                <a:gd name="adj" fmla="val 3731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945642" y="1797368"/>
              <a:ext cx="44124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Oxford-IIIT Pet 划分（唯一划分脚本，seed=42）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952500" y="2076450"/>
              <a:ext cx="6134100" cy="9525"/>
            </a:xfrm>
            <a:custGeom>
              <a:avLst/>
              <a:gdLst/>
              <a:ahLst/>
              <a:cxnLst/>
              <a:rect l="l" t="t" r="r" b="b"/>
              <a:pathLst>
                <a:path w="6134100" h="9525">
                  <a:moveTo>
                    <a:pt x="0" y="0"/>
                  </a:moveTo>
                  <a:lnTo>
                    <a:pt x="61341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12" name="Group 12"/>
            <p:cNvGrpSpPr/>
            <p:nvPr/>
          </p:nvGrpSpPr>
          <p:grpSpPr>
            <a:xfrm>
              <a:off x="952500" y="2266950"/>
              <a:ext cx="1905000" cy="533400"/>
              <a:chOff x="952500" y="2266950"/>
              <a:chExt cx="1905000" cy="533400"/>
            </a:xfrm>
          </p:grpSpPr>
          <p:sp>
            <p:nvSpPr>
              <p:cNvPr id="9" name="Rectangle 9"/>
              <p:cNvSpPr/>
              <p:nvPr/>
            </p:nvSpPr>
            <p:spPr>
              <a:xfrm>
                <a:off x="952500" y="2266950"/>
                <a:ext cx="1905000" cy="533400"/>
              </a:xfrm>
              <a:prstGeom prst="roundRect">
                <a:avLst>
                  <a:gd name="adj" fmla="val 10714"/>
                </a:avLst>
              </a:prstGeom>
              <a:solidFill>
                <a:srgbClr val="1B2740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1439423" y="2393156"/>
                <a:ext cx="931154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trainval.txt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652302" y="2591752"/>
                <a:ext cx="50539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C7096"/>
                    </a:solidFill>
                    <a:latin typeface="Consolas"/>
                    <a:ea typeface="Microsoft YaHei"/>
                    <a:cs typeface="Consolas"/>
                  </a:rPr>
                  <a:t>3680 行</a:t>
                </a:r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3238500" y="2266950"/>
              <a:ext cx="1714500" cy="533400"/>
              <a:chOff x="3238500" y="2266950"/>
              <a:chExt cx="1714500" cy="533400"/>
            </a:xfrm>
          </p:grpSpPr>
          <p:sp>
            <p:nvSpPr>
              <p:cNvPr id="13" name="Rectangle 13"/>
              <p:cNvSpPr/>
              <p:nvPr/>
            </p:nvSpPr>
            <p:spPr>
              <a:xfrm>
                <a:off x="3238500" y="2266950"/>
                <a:ext cx="1714500" cy="533400"/>
              </a:xfrm>
              <a:prstGeom prst="roundRect">
                <a:avLst>
                  <a:gd name="adj" fmla="val 10714"/>
                </a:avLst>
              </a:prstGeom>
              <a:solidFill>
                <a:srgbClr val="12233A"/>
              </a:solidFill>
              <a:ln w="9525">
                <a:solidFill>
                  <a:srgbClr val="35D0F0"/>
                </a:solidFill>
              </a:ln>
            </p:spPr>
            <p:txBody>
              <a:bodyPr/>
              <a:p/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3569863" y="2393156"/>
                <a:ext cx="1051773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pet_train.txt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3404864" y="2591752"/>
                <a:ext cx="1381773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E6EDF7"/>
                    </a:solidFill>
                    <a:latin typeface="Consolas"/>
                    <a:ea typeface="Microsoft YaHei"/>
                    <a:cs typeface="Consolas"/>
                  </a:rPr>
                  <a:t>2940 行 · 每类 73~80</a:t>
                </a:r>
              </a:p>
            </p:txBody>
          </p:sp>
        </p:grpSp>
        <p:grpSp>
          <p:nvGrpSpPr>
            <p:cNvPr id="20" name="Group 20"/>
            <p:cNvGrpSpPr/>
            <p:nvPr/>
          </p:nvGrpSpPr>
          <p:grpSpPr>
            <a:xfrm>
              <a:off x="5334000" y="2266950"/>
              <a:ext cx="1714500" cy="533400"/>
              <a:chOff x="5334000" y="2266950"/>
              <a:chExt cx="1714500" cy="533400"/>
            </a:xfrm>
          </p:grpSpPr>
          <p:sp>
            <p:nvSpPr>
              <p:cNvPr id="17" name="Rectangle 17"/>
              <p:cNvSpPr/>
              <p:nvPr/>
            </p:nvSpPr>
            <p:spPr>
              <a:xfrm>
                <a:off x="5334000" y="2266950"/>
                <a:ext cx="1714500" cy="533400"/>
              </a:xfrm>
              <a:prstGeom prst="roundRect">
                <a:avLst>
                  <a:gd name="adj" fmla="val 10714"/>
                </a:avLst>
              </a:prstGeom>
              <a:solidFill>
                <a:srgbClr val="12233A"/>
              </a:solidFill>
              <a:ln w="9525">
                <a:solidFill>
                  <a:srgbClr val="35D0F0"/>
                </a:solidFill>
              </a:ln>
            </p:spPr>
            <p:txBody>
              <a:bodyPr/>
              <a:p/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5748289" y="2393156"/>
                <a:ext cx="88592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pet_val.txt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5514499" y="2591752"/>
                <a:ext cx="1353503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E6EDF7"/>
                    </a:solidFill>
                    <a:latin typeface="Consolas"/>
                    <a:ea typeface="Microsoft YaHei"/>
                    <a:cs typeface="Consolas"/>
                  </a:rPr>
                  <a:t>740 行 · 每类恰好 20</a:t>
                </a:r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952500" y="3105150"/>
              <a:ext cx="1905000" cy="533400"/>
              <a:chOff x="952500" y="3105150"/>
              <a:chExt cx="1905000" cy="533400"/>
            </a:xfrm>
          </p:grpSpPr>
          <p:sp>
            <p:nvSpPr>
              <p:cNvPr id="21" name="Rectangle 21"/>
              <p:cNvSpPr/>
              <p:nvPr/>
            </p:nvSpPr>
            <p:spPr>
              <a:xfrm>
                <a:off x="952500" y="3105150"/>
                <a:ext cx="1905000" cy="533400"/>
              </a:xfrm>
              <a:prstGeom prst="roundRect">
                <a:avLst>
                  <a:gd name="adj" fmla="val 10714"/>
                </a:avLst>
              </a:prstGeom>
              <a:solidFill>
                <a:srgbClr val="1B2740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1567581" y="3231356"/>
                <a:ext cx="674837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test.txt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1652302" y="3429952"/>
                <a:ext cx="50539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C7096"/>
                    </a:solidFill>
                    <a:latin typeface="Consolas"/>
                    <a:ea typeface="Microsoft YaHei"/>
                    <a:cs typeface="Consolas"/>
                  </a:rPr>
                  <a:t>3669 行</a:t>
                </a:r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3238500" y="3105150"/>
              <a:ext cx="1714500" cy="533400"/>
              <a:chOff x="3238500" y="3105150"/>
              <a:chExt cx="1714500" cy="533400"/>
            </a:xfrm>
          </p:grpSpPr>
          <p:sp>
            <p:nvSpPr>
              <p:cNvPr id="25" name="Rectangle 25"/>
              <p:cNvSpPr/>
              <p:nvPr/>
            </p:nvSpPr>
            <p:spPr>
              <a:xfrm>
                <a:off x="3238500" y="3105150"/>
                <a:ext cx="1714500" cy="533400"/>
              </a:xfrm>
              <a:prstGeom prst="roundRect">
                <a:avLst>
                  <a:gd name="adj" fmla="val 10714"/>
                </a:avLst>
              </a:prstGeom>
              <a:solidFill>
                <a:srgbClr val="12233A"/>
              </a:solidFill>
              <a:ln w="9525">
                <a:solidFill>
                  <a:srgbClr val="3FDB9B"/>
                </a:solidFill>
              </a:ln>
            </p:spPr>
            <p:txBody>
              <a:bodyPr/>
              <a:p/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3592479" y="3231356"/>
                <a:ext cx="100654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pet_test.txt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3365992" y="3429952"/>
                <a:ext cx="145951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E6EDF7"/>
                    </a:solidFill>
                    <a:latin typeface="Consolas"/>
                    <a:ea typeface="Microsoft YaHei"/>
                    <a:cs typeface="Consolas"/>
                  </a:rPr>
                  <a:t>3669 行 · 每类 88~100</a:t>
                </a:r>
              </a:p>
            </p:txBody>
          </p:sp>
        </p:grpSp>
        <p:grpSp>
          <p:nvGrpSpPr>
            <p:cNvPr id="32" name="Group 32"/>
            <p:cNvGrpSpPr/>
            <p:nvPr/>
          </p:nvGrpSpPr>
          <p:grpSpPr>
            <a:xfrm>
              <a:off x="947166" y="3239452"/>
              <a:ext cx="5901111" cy="776859"/>
              <a:chOff x="947166" y="3239452"/>
              <a:chExt cx="5901111" cy="776859"/>
            </a:xfrm>
          </p:grpSpPr>
          <p:sp>
            <p:nvSpPr>
              <p:cNvPr id="29" name="TextBox 29"/>
              <p:cNvSpPr txBox="1"/>
              <p:nvPr/>
            </p:nvSpPr>
            <p:spPr>
              <a:xfrm>
                <a:off x="5328666" y="3239452"/>
                <a:ext cx="107080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FFC857"/>
                    </a:solidFill>
                    <a:latin typeface="Microsoft YaHei"/>
                    <a:ea typeface="Microsoft YaHei"/>
                    <a:cs typeface="Microsoft YaHei"/>
                  </a:rPr>
                  <a:t>test 只评价一次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5328666" y="3429952"/>
                <a:ext cx="99305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eval_count = 1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947166" y="3810952"/>
                <a:ext cx="590111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C7096"/>
                    </a:solidFill>
                    <a:latin typeface="Microsoft YaHei"/>
                    <a:ea typeface="Microsoft YaHei"/>
                    <a:cs typeface="Microsoft YaHei"/>
                  </a:rPr>
                  <a:t>官方 CLASS-ID 是 1-based，0-based 标签 = CLASS-ID − 1；类名用 rsplit('_', 1) 取前缀</a:t>
                </a:r>
              </a:p>
            </p:txBody>
          </p:sp>
        </p:grpSp>
      </p:grpSp>
      <p:grpSp>
        <p:nvGrpSpPr>
          <p:cNvPr id="47" name="Group 47"/>
          <p:cNvGrpSpPr/>
          <p:nvPr/>
        </p:nvGrpSpPr>
        <p:grpSpPr>
          <a:xfrm>
            <a:off x="7658100" y="1600200"/>
            <a:ext cx="3848100" cy="2552700"/>
            <a:chOff x="7658100" y="1600200"/>
            <a:chExt cx="3848100" cy="2552700"/>
          </a:xfrm>
        </p:grpSpPr>
        <p:sp>
          <p:nvSpPr>
            <p:cNvPr id="34" name="Rectangle 34"/>
            <p:cNvSpPr/>
            <p:nvPr/>
          </p:nvSpPr>
          <p:spPr>
            <a:xfrm>
              <a:off x="7658100" y="1600200"/>
              <a:ext cx="3848100" cy="2552700"/>
            </a:xfrm>
            <a:prstGeom prst="roundRect">
              <a:avLst>
                <a:gd name="adj" fmla="val 3731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7898892" y="1797368"/>
              <a:ext cx="23322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泄漏检查（三层 + 内容级）</a:t>
              </a:r>
            </a:p>
          </p:txBody>
        </p:sp>
        <p:sp>
          <p:nvSpPr>
            <p:cNvPr id="36" name="Line 36"/>
            <p:cNvSpPr/>
            <p:nvPr/>
          </p:nvSpPr>
          <p:spPr>
            <a:xfrm>
              <a:off x="7905750" y="2076450"/>
              <a:ext cx="3352800" cy="9525"/>
            </a:xfrm>
            <a:custGeom>
              <a:avLst/>
              <a:gdLst/>
              <a:ahLst/>
              <a:cxnLst/>
              <a:rect l="l" t="t" r="r" b="b"/>
              <a:pathLst>
                <a:path w="3352800" h="9525">
                  <a:moveTo>
                    <a:pt x="0" y="0"/>
                  </a:moveTo>
                  <a:lnTo>
                    <a:pt x="33528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7900035" y="229790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文件名交集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614355" y="2289810"/>
              <a:ext cx="6502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0 / 0 / 0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900035" y="2640806"/>
              <a:ext cx="1469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MD5 交集（防改名）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614355" y="2632710"/>
              <a:ext cx="6502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0 / 0 / 0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900035" y="298370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孤儿图误入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163605" y="29756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0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900035" y="332660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划分内部重复图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163605" y="33185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0</a:t>
              </a:r>
            </a:p>
          </p:txBody>
        </p:sp>
        <p:sp>
          <p:nvSpPr>
            <p:cNvPr id="45" name="Line 45"/>
            <p:cNvSpPr/>
            <p:nvPr/>
          </p:nvSpPr>
          <p:spPr>
            <a:xfrm>
              <a:off x="7905750" y="3657600"/>
              <a:ext cx="3352800" cy="9525"/>
            </a:xfrm>
            <a:custGeom>
              <a:avLst/>
              <a:gdLst/>
              <a:ahLst/>
              <a:cxnLst/>
              <a:rect l="l" t="t" r="r" b="b"/>
              <a:pathLst>
                <a:path w="3352800" h="9525">
                  <a:moveTo>
                    <a:pt x="0" y="0"/>
                  </a:moveTo>
                  <a:lnTo>
                    <a:pt x="33528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7900416" y="3830002"/>
              <a:ext cx="23924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python datasets/audit_leakage.py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685800" y="4343400"/>
            <a:ext cx="10820400" cy="1714500"/>
            <a:chOff x="685800" y="4343400"/>
            <a:chExt cx="10820400" cy="1714500"/>
          </a:xfrm>
        </p:grpSpPr>
        <p:sp>
          <p:nvSpPr>
            <p:cNvPr id="48" name="Rectangle 48"/>
            <p:cNvSpPr/>
            <p:nvPr/>
          </p:nvSpPr>
          <p:spPr>
            <a:xfrm>
              <a:off x="685800" y="4343400"/>
              <a:ext cx="10820400" cy="1714500"/>
            </a:xfrm>
            <a:prstGeom prst="roundRect">
              <a:avLst>
                <a:gd name="adj" fmla="val 5556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945642" y="4540568"/>
              <a:ext cx="26852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官方数据事实基线（全部实测）</a:t>
              </a:r>
            </a:p>
          </p:txBody>
        </p:sp>
        <p:sp>
          <p:nvSpPr>
            <p:cNvPr id="50" name="Line 50"/>
            <p:cNvSpPr/>
            <p:nvPr/>
          </p:nvSpPr>
          <p:spPr>
            <a:xfrm>
              <a:off x="952500" y="481965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53" name="Group 53"/>
            <p:cNvGrpSpPr/>
            <p:nvPr/>
          </p:nvGrpSpPr>
          <p:grpSpPr>
            <a:xfrm>
              <a:off x="941832" y="4954905"/>
              <a:ext cx="1118540" cy="585406"/>
              <a:chOff x="941832" y="4954905"/>
              <a:chExt cx="1118540" cy="585406"/>
            </a:xfrm>
          </p:grpSpPr>
          <p:sp>
            <p:nvSpPr>
              <p:cNvPr id="51" name="TextBox 51"/>
              <p:cNvSpPr txBox="1"/>
              <p:nvPr/>
            </p:nvSpPr>
            <p:spPr>
              <a:xfrm>
                <a:off x="941832" y="4954905"/>
                <a:ext cx="674378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10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7390</a:t>
                </a: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947166" y="5334952"/>
                <a:ext cx="111320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images/ 下的 jpg</a:t>
                </a:r>
              </a:p>
            </p:txBody>
          </p:sp>
        </p:grpSp>
        <p:grpSp>
          <p:nvGrpSpPr>
            <p:cNvPr id="56" name="Group 56"/>
            <p:cNvGrpSpPr/>
            <p:nvPr/>
          </p:nvGrpSpPr>
          <p:grpSpPr>
            <a:xfrm>
              <a:off x="3132582" y="4954905"/>
              <a:ext cx="1203350" cy="585406"/>
              <a:chOff x="3132582" y="4954905"/>
              <a:chExt cx="1203350" cy="585406"/>
            </a:xfrm>
          </p:grpSpPr>
          <p:sp>
            <p:nvSpPr>
              <p:cNvPr id="54" name="TextBox 54"/>
              <p:cNvSpPr txBox="1"/>
              <p:nvPr/>
            </p:nvSpPr>
            <p:spPr>
              <a:xfrm>
                <a:off x="3132582" y="4954905"/>
                <a:ext cx="674378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10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3680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3137916" y="5334952"/>
                <a:ext cx="119801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trainval.txt 行数</a:t>
                </a:r>
              </a:p>
            </p:txBody>
          </p:sp>
        </p:grpSp>
        <p:grpSp>
          <p:nvGrpSpPr>
            <p:cNvPr id="59" name="Group 59"/>
            <p:cNvGrpSpPr/>
            <p:nvPr/>
          </p:nvGrpSpPr>
          <p:grpSpPr>
            <a:xfrm>
              <a:off x="5323332" y="4954905"/>
              <a:ext cx="963054" cy="585406"/>
              <a:chOff x="5323332" y="4954905"/>
              <a:chExt cx="963054" cy="585406"/>
            </a:xfrm>
          </p:grpSpPr>
          <p:sp>
            <p:nvSpPr>
              <p:cNvPr id="57" name="TextBox 57"/>
              <p:cNvSpPr txBox="1"/>
              <p:nvPr/>
            </p:nvSpPr>
            <p:spPr>
              <a:xfrm>
                <a:off x="5323332" y="4954905"/>
                <a:ext cx="674378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10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3669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5328666" y="5334952"/>
                <a:ext cx="957720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test.txt 行数</a:t>
                </a:r>
              </a:p>
            </p:txBody>
          </p:sp>
        </p:grpSp>
        <p:grpSp>
          <p:nvGrpSpPr>
            <p:cNvPr id="62" name="Group 62"/>
            <p:cNvGrpSpPr/>
            <p:nvPr/>
          </p:nvGrpSpPr>
          <p:grpSpPr>
            <a:xfrm>
              <a:off x="7514082" y="4954905"/>
              <a:ext cx="1015740" cy="585406"/>
              <a:chOff x="7514082" y="4954905"/>
              <a:chExt cx="1015740" cy="585406"/>
            </a:xfrm>
          </p:grpSpPr>
          <p:sp>
            <p:nvSpPr>
              <p:cNvPr id="60" name="TextBox 60"/>
              <p:cNvSpPr txBox="1"/>
              <p:nvPr/>
            </p:nvSpPr>
            <p:spPr>
              <a:xfrm>
                <a:off x="7514082" y="4954905"/>
                <a:ext cx="1015740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100" b="1" dirty="0">
                    <a:solidFill>
                      <a:srgbClr val="FFC857"/>
                    </a:solidFill>
                    <a:latin typeface="Consolas"/>
                    <a:ea typeface="Consolas"/>
                    <a:cs typeface="Consolas"/>
                  </a:rPr>
                  <a:t>12 / 25</a:t>
                </a:r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7519416" y="5334952"/>
                <a:ext cx="922382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猫 / 狗 类别数</a:t>
                </a:r>
              </a:p>
            </p:txBody>
          </p:sp>
        </p:grpSp>
        <p:grpSp>
          <p:nvGrpSpPr>
            <p:cNvPr id="65" name="Group 65"/>
            <p:cNvGrpSpPr/>
            <p:nvPr/>
          </p:nvGrpSpPr>
          <p:grpSpPr>
            <a:xfrm>
              <a:off x="9704832" y="4954905"/>
              <a:ext cx="1164159" cy="585406"/>
              <a:chOff x="9704832" y="4954905"/>
              <a:chExt cx="1164159" cy="585406"/>
            </a:xfrm>
          </p:grpSpPr>
          <p:sp>
            <p:nvSpPr>
              <p:cNvPr id="63" name="TextBox 63"/>
              <p:cNvSpPr txBox="1"/>
              <p:nvPr/>
            </p:nvSpPr>
            <p:spPr>
              <a:xfrm>
                <a:off x="9704832" y="4954905"/>
                <a:ext cx="1164159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100" b="1" dirty="0">
                    <a:solidFill>
                      <a:srgbClr val="FFC857"/>
                    </a:solidFill>
                    <a:latin typeface="Consolas"/>
                    <a:ea typeface="Consolas"/>
                    <a:cs typeface="Consolas"/>
                  </a:rPr>
                  <a:t>1-based</a:t>
                </a:r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9710166" y="5334952"/>
                <a:ext cx="973988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官方 CLASS-ID</a:t>
                </a:r>
              </a:p>
            </p:txBody>
          </p:sp>
        </p:grpSp>
        <p:sp>
          <p:nvSpPr>
            <p:cNvPr id="66" name="TextBox 66"/>
            <p:cNvSpPr txBox="1"/>
            <p:nvPr/>
          </p:nvSpPr>
          <p:spPr>
            <a:xfrm>
              <a:off x="947166" y="5715952"/>
              <a:ext cx="621597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官方不存在 train.txt / val.txt，只有 trainval.txt 与 test.txt；train/val 必须自行分层切分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680847" y="6210300"/>
            <a:ext cx="10830687" cy="358711"/>
            <a:chOff x="680847" y="6210300"/>
            <a:chExt cx="10830687" cy="358711"/>
          </a:xfrm>
        </p:grpSpPr>
        <p:sp>
          <p:nvSpPr>
            <p:cNvPr id="68" name="Line 68"/>
            <p:cNvSpPr/>
            <p:nvPr/>
          </p:nvSpPr>
          <p:spPr>
            <a:xfrm>
              <a:off x="685800" y="62103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69" name="TextBox 69"/>
            <p:cNvSpPr txBox="1"/>
            <p:nvPr/>
          </p:nvSpPr>
          <p:spPr>
            <a:xfrm>
              <a:off x="680847" y="6371749"/>
              <a:ext cx="72131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数据来源：outputs/metrics/leakage_check.json · dataset_report.json · pet_label_audit.json · split_audit.json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345380" y="63636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06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05778"/>
              <a:ext cx="766717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40 epoch 迁移训练把 test Top-1 做到 92.34%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994410"/>
              <a:ext cx="69969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AdamW · cosine + 3ep warmup · Label Smoothing 0.1 · bf16 autocast · batch 64 · seed 42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p/>
          </p:txBody>
        </p:sp>
      </p:grpSp>
      <p:grpSp>
        <p:nvGrpSpPr>
          <p:cNvPr id="19" name="Group 19"/>
          <p:cNvGrpSpPr/>
          <p:nvPr/>
        </p:nvGrpSpPr>
        <p:grpSpPr>
          <a:xfrm>
            <a:off x="685800" y="1600200"/>
            <a:ext cx="6667500" cy="2076450"/>
            <a:chOff x="685800" y="1600200"/>
            <a:chExt cx="6667500" cy="2076450"/>
          </a:xfrm>
        </p:grpSpPr>
        <p:sp>
          <p:nvSpPr>
            <p:cNvPr id="6" name="Rectangle 6"/>
            <p:cNvSpPr/>
            <p:nvPr/>
          </p:nvSpPr>
          <p:spPr>
            <a:xfrm>
              <a:off x="685800" y="1600200"/>
              <a:ext cx="6667500" cy="2076450"/>
            </a:xfrm>
            <a:prstGeom prst="roundRect">
              <a:avLst>
                <a:gd name="adj" fmla="val 4587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945642" y="1797368"/>
              <a:ext cx="27806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测试集（3669 张，只评价一次）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952500" y="2076450"/>
              <a:ext cx="6134100" cy="9525"/>
            </a:xfrm>
            <a:custGeom>
              <a:avLst/>
              <a:gdLst/>
              <a:ahLst/>
              <a:cxnLst/>
              <a:rect l="l" t="t" r="r" b="b"/>
              <a:pathLst>
                <a:path w="6134100" h="9525">
                  <a:moveTo>
                    <a:pt x="0" y="0"/>
                  </a:moveTo>
                  <a:lnTo>
                    <a:pt x="61341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11" name="Group 11"/>
            <p:cNvGrpSpPr/>
            <p:nvPr/>
          </p:nvGrpSpPr>
          <p:grpSpPr>
            <a:xfrm>
              <a:off x="934974" y="2351722"/>
              <a:ext cx="1741865" cy="756762"/>
              <a:chOff x="934974" y="2351722"/>
              <a:chExt cx="1741865" cy="756762"/>
            </a:xfrm>
          </p:grpSpPr>
          <p:sp>
            <p:nvSpPr>
              <p:cNvPr id="9" name="TextBox 9"/>
              <p:cNvSpPr txBox="1"/>
              <p:nvPr/>
            </p:nvSpPr>
            <p:spPr>
              <a:xfrm>
                <a:off x="934974" y="2351722"/>
                <a:ext cx="1741865" cy="6747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3450" b="1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92.34%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946785" y="2888456"/>
                <a:ext cx="114626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Top-1 Accuracy</a:t>
                </a:r>
              </a:p>
            </p:txBody>
          </p:sp>
        </p:grpSp>
        <p:grpSp>
          <p:nvGrpSpPr>
            <p:cNvPr id="14" name="Group 14"/>
            <p:cNvGrpSpPr/>
            <p:nvPr/>
          </p:nvGrpSpPr>
          <p:grpSpPr>
            <a:xfrm>
              <a:off x="3125724" y="2351722"/>
              <a:ext cx="1741865" cy="756762"/>
              <a:chOff x="3125724" y="2351722"/>
              <a:chExt cx="1741865" cy="756762"/>
            </a:xfrm>
          </p:grpSpPr>
          <p:sp>
            <p:nvSpPr>
              <p:cNvPr id="12" name="TextBox 12"/>
              <p:cNvSpPr txBox="1"/>
              <p:nvPr/>
            </p:nvSpPr>
            <p:spPr>
              <a:xfrm>
                <a:off x="3125724" y="2351722"/>
                <a:ext cx="1741865" cy="6747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345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99.26%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3137535" y="2888456"/>
                <a:ext cx="114626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Top-5 Accuracy</a:t>
                </a:r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5316474" y="2351722"/>
              <a:ext cx="1741865" cy="756762"/>
              <a:chOff x="5316474" y="2351722"/>
              <a:chExt cx="1741865" cy="756762"/>
            </a:xfrm>
          </p:grpSpPr>
          <p:sp>
            <p:nvSpPr>
              <p:cNvPr id="15" name="TextBox 15"/>
              <p:cNvSpPr txBox="1"/>
              <p:nvPr/>
            </p:nvSpPr>
            <p:spPr>
              <a:xfrm>
                <a:off x="5316474" y="2351722"/>
                <a:ext cx="1741865" cy="6747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3450" b="1" dirty="0">
                    <a:solidFill>
                      <a:srgbClr val="FFC857"/>
                    </a:solidFill>
                    <a:latin typeface="Consolas"/>
                    <a:ea typeface="Consolas"/>
                    <a:cs typeface="Consolas"/>
                  </a:rPr>
                  <a:t>92.22%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5328285" y="2888456"/>
                <a:ext cx="718078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Macro-F1</a:t>
                </a:r>
              </a:p>
            </p:txBody>
          </p:sp>
        </p:grpSp>
        <p:sp>
          <p:nvSpPr>
            <p:cNvPr id="18" name="TextBox 18"/>
            <p:cNvSpPr txBox="1"/>
            <p:nvPr/>
          </p:nvSpPr>
          <p:spPr>
            <a:xfrm>
              <a:off x="947166" y="3296602"/>
              <a:ext cx="439961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验证集（740 张）best 选模依据 val_macro_f1 = 0.9462 @ epoch 34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7658100" y="1600200"/>
            <a:ext cx="3848100" cy="2076450"/>
            <a:chOff x="7658100" y="1600200"/>
            <a:chExt cx="3848100" cy="2076450"/>
          </a:xfrm>
        </p:grpSpPr>
        <p:sp>
          <p:nvSpPr>
            <p:cNvPr id="20" name="Rectangle 20"/>
            <p:cNvSpPr/>
            <p:nvPr/>
          </p:nvSpPr>
          <p:spPr>
            <a:xfrm>
              <a:off x="7658100" y="1600200"/>
              <a:ext cx="3848100" cy="2076450"/>
            </a:xfrm>
            <a:prstGeom prst="roundRect">
              <a:avLst>
                <a:gd name="adj" fmla="val 4587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7898892" y="1797368"/>
              <a:ext cx="9678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训练检查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905750" y="2076450"/>
              <a:ext cx="3352800" cy="9525"/>
            </a:xfrm>
            <a:custGeom>
              <a:avLst/>
              <a:gdLst/>
              <a:ahLst/>
              <a:cxnLst/>
              <a:rect l="l" t="t" r="r" b="b"/>
              <a:pathLst>
                <a:path w="3352800" h="9525">
                  <a:moveTo>
                    <a:pt x="0" y="0"/>
                  </a:moveTo>
                  <a:lnTo>
                    <a:pt x="33528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900035" y="2297906"/>
              <a:ext cx="1262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FDB9B"/>
                  </a:solidFill>
                  <a:latin typeface="Microsoft YaHei"/>
                  <a:ea typeface="Microsoft YaHei"/>
                  <a:cs typeface="Microsoft YaHei"/>
                </a:rPr>
                <a:t>✓ 骨干确实被训练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94880" y="2306002"/>
              <a:ext cx="5690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93A4C0"/>
                  </a:solidFill>
                  <a:latin typeface="Consolas"/>
                  <a:ea typeface="Microsoft YaHei"/>
                  <a:cs typeface="Consolas"/>
                </a:rPr>
                <a:t>706 张量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900035" y="2621756"/>
              <a:ext cx="1112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FDB9B"/>
                  </a:solidFill>
                  <a:latin typeface="Microsoft YaHei"/>
                  <a:ea typeface="Microsoft YaHei"/>
                  <a:cs typeface="Microsoft YaHei"/>
                </a:rPr>
                <a:t>✓ 其中骨干张量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836231" y="2629852"/>
              <a:ext cx="42765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93A4C0"/>
                  </a:solidFill>
                  <a:latin typeface="Consolas"/>
                  <a:ea typeface="Microsoft YaHei"/>
                  <a:cs typeface="Consolas"/>
                </a:rPr>
                <a:t>699 个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900035" y="2945606"/>
              <a:ext cx="13382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FDB9B"/>
                  </a:solidFill>
                  <a:latin typeface="Microsoft YaHei"/>
                  <a:ea typeface="Microsoft YaHei"/>
                  <a:cs typeface="Microsoft YaHei"/>
                </a:rPr>
                <a:t>✓ test 只评价一次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355637" y="2953702"/>
              <a:ext cx="90824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3A4C0"/>
                  </a:solidFill>
                  <a:latin typeface="Consolas"/>
                  <a:ea typeface="Consolas"/>
                  <a:cs typeface="Consolas"/>
                </a:rPr>
                <a:t>eval_count=1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900035" y="3269456"/>
              <a:ext cx="1262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FDB9B"/>
                  </a:solidFill>
                  <a:latin typeface="Microsoft YaHei"/>
                  <a:ea typeface="Microsoft YaHei"/>
                  <a:cs typeface="Microsoft YaHei"/>
                </a:rPr>
                <a:t>✓ 权重加载无异常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320299" y="3277552"/>
              <a:ext cx="94358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3A4C0"/>
                  </a:solidFill>
                  <a:latin typeface="Consolas"/>
                  <a:ea typeface="Consolas"/>
                  <a:cs typeface="Consolas"/>
                </a:rPr>
                <a:t>unexpected=0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685800" y="3867150"/>
            <a:ext cx="10820400" cy="2190750"/>
            <a:chOff x="685800" y="3867150"/>
            <a:chExt cx="10820400" cy="2190750"/>
          </a:xfrm>
        </p:grpSpPr>
        <p:sp>
          <p:nvSpPr>
            <p:cNvPr id="32" name="Rectangle 32"/>
            <p:cNvSpPr/>
            <p:nvPr/>
          </p:nvSpPr>
          <p:spPr>
            <a:xfrm>
              <a:off x="685800" y="3867150"/>
              <a:ext cx="10820400" cy="2190750"/>
            </a:xfrm>
            <a:prstGeom prst="roundRect">
              <a:avLst>
                <a:gd name="adj" fmla="val 4348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45642" y="4064318"/>
              <a:ext cx="30764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1000 类 → 37 类：怎么做、差异在哪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952500" y="434340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40" name="Group 40"/>
            <p:cNvGrpSpPr/>
            <p:nvPr/>
          </p:nvGrpSpPr>
          <p:grpSpPr>
            <a:xfrm>
              <a:off x="946785" y="4564856"/>
              <a:ext cx="3550691" cy="1280255"/>
              <a:chOff x="946785" y="4564856"/>
              <a:chExt cx="3550691" cy="1280255"/>
            </a:xfrm>
          </p:grpSpPr>
          <p:sp>
            <p:nvSpPr>
              <p:cNvPr id="35" name="TextBox 35"/>
              <p:cNvSpPr txBox="1"/>
              <p:nvPr/>
            </p:nvSpPr>
            <p:spPr>
              <a:xfrm>
                <a:off x="946785" y="4564856"/>
                <a:ext cx="64468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3FDB9B"/>
                    </a:solidFill>
                    <a:latin typeface="Microsoft YaHei"/>
                    <a:ea typeface="Microsoft YaHei"/>
                    <a:cs typeface="Microsoft YaHei"/>
                  </a:rPr>
                  <a:t>正确做法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947166" y="4858702"/>
                <a:ext cx="2936634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timm.create_model(..., num_classes=37,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947166" y="5087302"/>
                <a:ext cx="1279972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distillation=False)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947166" y="5392102"/>
                <a:ext cx="3550310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保留分类头的 BN 统计量（与类别数无关的迁移先验）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947166" y="5639752"/>
                <a:ext cx="3163468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missing = 2（仅换头后的 Linear weight / bias）</a:t>
                </a:r>
              </a:p>
            </p:txBody>
          </p:sp>
        </p:grpSp>
        <p:grpSp>
          <p:nvGrpSpPr>
            <p:cNvPr id="46" name="Group 46"/>
            <p:cNvGrpSpPr/>
            <p:nvPr/>
          </p:nvGrpSpPr>
          <p:grpSpPr>
            <a:xfrm>
              <a:off x="5905500" y="4552950"/>
              <a:ext cx="5334000" cy="1333500"/>
              <a:chOff x="5905500" y="4552950"/>
              <a:chExt cx="5334000" cy="1333500"/>
            </a:xfrm>
          </p:grpSpPr>
          <p:sp>
            <p:nvSpPr>
              <p:cNvPr id="41" name="Rectangle 41"/>
              <p:cNvSpPr/>
              <p:nvPr/>
            </p:nvSpPr>
            <p:spPr>
              <a:xfrm>
                <a:off x="5905500" y="4552950"/>
                <a:ext cx="5334000" cy="1333500"/>
              </a:xfrm>
              <a:prstGeom prst="roundRect">
                <a:avLst>
                  <a:gd name="adj" fmla="val 5714"/>
                </a:avLst>
              </a:prstGeom>
              <a:solidFill>
                <a:srgbClr val="1F1114"/>
              </a:solidFill>
              <a:ln w="9525">
                <a:solidFill>
                  <a:srgbClr val="FF6B6B"/>
                </a:solidFill>
              </a:ln>
            </p:spPr>
            <p:txBody>
              <a:bodyPr/>
              <a:p/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6147435" y="4736306"/>
                <a:ext cx="64468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FF6B6B"/>
                    </a:solidFill>
                    <a:latin typeface="Microsoft YaHei"/>
                    <a:ea typeface="Microsoft YaHei"/>
                    <a:cs typeface="Microsoft YaHei"/>
                  </a:rPr>
                  <a:t>禁止做法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6147816" y="5030152"/>
                <a:ext cx="191890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model.reset_classifier(37)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6147816" y="5315902"/>
                <a:ext cx="353768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会丢掉 head.head.bn 的统计量；distillation=False 时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6147816" y="5544502"/>
                <a:ext cx="2979039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head_dist 属性被整体删除，后续断言必然失败</a:t>
                </a:r>
              </a:p>
            </p:txBody>
          </p:sp>
        </p:grpSp>
      </p:grpSp>
      <p:grpSp>
        <p:nvGrpSpPr>
          <p:cNvPr id="51" name="Group 51"/>
          <p:cNvGrpSpPr/>
          <p:nvPr/>
        </p:nvGrpSpPr>
        <p:grpSpPr>
          <a:xfrm>
            <a:off x="680847" y="6210300"/>
            <a:ext cx="10830687" cy="358711"/>
            <a:chOff x="680847" y="6210300"/>
            <a:chExt cx="10830687" cy="358711"/>
          </a:xfrm>
        </p:grpSpPr>
        <p:sp>
          <p:nvSpPr>
            <p:cNvPr id="48" name="Line 48"/>
            <p:cNvSpPr/>
            <p:nvPr/>
          </p:nvSpPr>
          <p:spPr>
            <a:xfrm>
              <a:off x="685800" y="62103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680847" y="6371749"/>
              <a:ext cx="64215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数据来源：outputs/metrics/baseline_test.json · backbone_updated.json · weight_load_report.json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345380" y="63636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07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0577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四组优化各有假设，控制变量由工具强制校验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994410"/>
              <a:ext cx="75364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Baseline 有两个问题：样本仅 2940 张而参数 473 万（过拟合风险）；主干前期被大学习率推离预训练解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p/>
          </p:txBody>
        </p:sp>
      </p:grpSp>
      <p:grpSp>
        <p:nvGrpSpPr>
          <p:cNvPr id="12" name="Group 12"/>
          <p:cNvGrpSpPr/>
          <p:nvPr/>
        </p:nvGrpSpPr>
        <p:grpSpPr>
          <a:xfrm>
            <a:off x="685800" y="1600200"/>
            <a:ext cx="5391150" cy="1238250"/>
            <a:chOff x="685800" y="1600200"/>
            <a:chExt cx="5391150" cy="1238250"/>
          </a:xfrm>
        </p:grpSpPr>
        <p:sp>
          <p:nvSpPr>
            <p:cNvPr id="6" name="Rectangle 6"/>
            <p:cNvSpPr/>
            <p:nvPr/>
          </p:nvSpPr>
          <p:spPr>
            <a:xfrm>
              <a:off x="685800" y="1600200"/>
              <a:ext cx="5391150" cy="1238250"/>
            </a:xfrm>
            <a:prstGeom prst="roundRect">
              <a:avLst>
                <a:gd name="adj" fmla="val 7692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926592" y="1778318"/>
              <a:ext cx="9915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5D0F0"/>
                  </a:solidFill>
                  <a:latin typeface="Microsoft YaHei"/>
                  <a:ea typeface="Microsoft YaHei"/>
                  <a:cs typeface="Microsoft YaHei"/>
                </a:rPr>
                <a:t>B 混合增强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605014" y="1810702"/>
              <a:ext cx="6962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5C7096"/>
                  </a:solidFill>
                  <a:latin typeface="Consolas"/>
                  <a:ea typeface="Microsoft YaHei"/>
                  <a:cs typeface="Consolas"/>
                </a:rPr>
                <a:t>3 个差异键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27735" y="2107406"/>
              <a:ext cx="32912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Mixup α=0.2 + CutMix α=1.0，每个 batch 都做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27735" y="2374106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假设：混合两张图片与标签，尝试减少对训练样本的记忆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28116" y="2629852"/>
              <a:ext cx="20390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代价：需要更多 epoch 才能收敛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153150" y="1600200"/>
            <a:ext cx="5353050" cy="1238250"/>
            <a:chOff x="6153150" y="1600200"/>
            <a:chExt cx="5353050" cy="1238250"/>
          </a:xfrm>
        </p:grpSpPr>
        <p:sp>
          <p:nvSpPr>
            <p:cNvPr id="13" name="Rectangle 13"/>
            <p:cNvSpPr/>
            <p:nvPr/>
          </p:nvSpPr>
          <p:spPr>
            <a:xfrm>
              <a:off x="6153150" y="1600200"/>
              <a:ext cx="5353050" cy="1238250"/>
            </a:xfrm>
            <a:prstGeom prst="roundRect">
              <a:avLst>
                <a:gd name="adj" fmla="val 7692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6393942" y="1778318"/>
              <a:ext cx="13948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5D0F0"/>
                  </a:solidFill>
                  <a:latin typeface="Microsoft YaHei"/>
                  <a:ea typeface="Microsoft YaHei"/>
                  <a:cs typeface="Microsoft YaHei"/>
                </a:rPr>
                <a:t>C 加强数据增强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567664" y="1810702"/>
              <a:ext cx="6962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5C7096"/>
                  </a:solidFill>
                  <a:latin typeface="Consolas"/>
                  <a:ea typeface="Microsoft YaHei"/>
                  <a:cs typeface="Consolas"/>
                </a:rPr>
                <a:t>8 个差异键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395085" y="2107406"/>
              <a:ext cx="38086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RandAugment(n=2, m=9) + RRC scale 下限 0.35→0.25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395085" y="2374106"/>
              <a:ext cx="33736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假设：覆盖旋转 / 剪切 / 色调变换，减少对局部纹理的依赖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395466" y="2629852"/>
              <a:ext cx="177755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风险：2940 张下容易过增强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685800" y="2990850"/>
            <a:ext cx="5391150" cy="1238250"/>
            <a:chOff x="685800" y="2990850"/>
            <a:chExt cx="5391150" cy="1238250"/>
          </a:xfrm>
        </p:grpSpPr>
        <p:sp>
          <p:nvSpPr>
            <p:cNvPr id="20" name="Rectangle 20"/>
            <p:cNvSpPr/>
            <p:nvPr/>
          </p:nvSpPr>
          <p:spPr>
            <a:xfrm>
              <a:off x="685800" y="2990850"/>
              <a:ext cx="5391150" cy="1238250"/>
            </a:xfrm>
            <a:prstGeom prst="roundRect">
              <a:avLst>
                <a:gd name="adj" fmla="val 7692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26592" y="3168968"/>
              <a:ext cx="13948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5D0F0"/>
                  </a:solidFill>
                  <a:latin typeface="Microsoft YaHei"/>
                  <a:ea typeface="Microsoft YaHei"/>
                  <a:cs typeface="Microsoft YaHei"/>
                </a:rPr>
                <a:t>D 差异化学习率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605014" y="3201352"/>
              <a:ext cx="6962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5C7096"/>
                  </a:solidFill>
                  <a:latin typeface="Consolas"/>
                  <a:ea typeface="Microsoft YaHei"/>
                  <a:cs typeface="Consolas"/>
                </a:rPr>
                <a:t>1 个差异键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27735" y="3498056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主干倍率 0.1 → 0.05（有效 lr 1e-4 → 5e-5）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27735" y="3764756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假设：新头快速收敛，让主干更新幅度更小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28116" y="4020502"/>
              <a:ext cx="15655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代价：训练曲线整体右移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153150" y="2990850"/>
            <a:ext cx="5353050" cy="1238250"/>
            <a:chOff x="6153150" y="2990850"/>
            <a:chExt cx="5353050" cy="1238250"/>
          </a:xfrm>
        </p:grpSpPr>
        <p:sp>
          <p:nvSpPr>
            <p:cNvPr id="27" name="Rectangle 27"/>
            <p:cNvSpPr/>
            <p:nvPr/>
          </p:nvSpPr>
          <p:spPr>
            <a:xfrm>
              <a:off x="6153150" y="2990850"/>
              <a:ext cx="5353050" cy="1238250"/>
            </a:xfrm>
            <a:prstGeom prst="roundRect">
              <a:avLst>
                <a:gd name="adj" fmla="val 7692"/>
              </a:avLst>
            </a:prstGeom>
            <a:solidFill>
              <a:srgbClr val="17304A"/>
            </a:solidFill>
            <a:ln w="19050">
              <a:solidFill>
                <a:srgbClr val="35D0F0"/>
              </a:solidFill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393942" y="3168968"/>
              <a:ext cx="26046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5D0F0"/>
                  </a:solidFill>
                  <a:latin typeface="Microsoft YaHei"/>
                  <a:ea typeface="Microsoft YaHei"/>
                  <a:cs typeface="Microsoft YaHei"/>
                </a:rPr>
                <a:t>A 组合式（基础任务所选项）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489921" y="3201352"/>
              <a:ext cx="77396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35D0F0"/>
                  </a:solidFill>
                  <a:latin typeface="Consolas"/>
                  <a:ea typeface="Microsoft YaHei"/>
                  <a:cs typeface="Consolas"/>
                </a:rPr>
                <a:t>12 个差异键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3498056"/>
              <a:ext cx="1007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B + C + D 全开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395085" y="3764756"/>
              <a:ext cx="2898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假设：三者机制互补，前段更稳 + 末段更高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395466" y="4020502"/>
              <a:ext cx="17068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风险：正则叠加会延长收敛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685800" y="4381500"/>
            <a:ext cx="10820400" cy="1809750"/>
            <a:chOff x="685800" y="4381500"/>
            <a:chExt cx="10820400" cy="1809750"/>
          </a:xfrm>
        </p:grpSpPr>
        <p:sp>
          <p:nvSpPr>
            <p:cNvPr id="34" name="Rectangle 34"/>
            <p:cNvSpPr/>
            <p:nvPr/>
          </p:nvSpPr>
          <p:spPr>
            <a:xfrm>
              <a:off x="685800" y="4381500"/>
              <a:ext cx="10820400" cy="1809750"/>
            </a:xfrm>
            <a:prstGeom prst="roundRect">
              <a:avLst>
                <a:gd name="adj" fmla="val 5263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45642" y="4578668"/>
              <a:ext cx="32577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控制变量不是靠自觉，而是可执行校验</a:t>
              </a:r>
            </a:p>
          </p:txBody>
        </p:sp>
        <p:sp>
          <p:nvSpPr>
            <p:cNvPr id="36" name="Line 36"/>
            <p:cNvSpPr/>
            <p:nvPr/>
          </p:nvSpPr>
          <p:spPr>
            <a:xfrm>
              <a:off x="952500" y="485775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41" name="Group 41"/>
            <p:cNvGrpSpPr/>
            <p:nvPr/>
          </p:nvGrpSpPr>
          <p:grpSpPr>
            <a:xfrm>
              <a:off x="946785" y="5060156"/>
              <a:ext cx="6366077" cy="1039178"/>
              <a:chOff x="946785" y="5060156"/>
              <a:chExt cx="6366077" cy="1039178"/>
            </a:xfrm>
          </p:grpSpPr>
          <p:sp>
            <p:nvSpPr>
              <p:cNvPr id="37" name="TextBox 37"/>
              <p:cNvSpPr txBox="1"/>
              <p:nvPr/>
            </p:nvSpPr>
            <p:spPr>
              <a:xfrm>
                <a:off x="946785" y="5060156"/>
                <a:ext cx="5620238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python tools/diff_config.py configs/baseline.yaml configs/opt_combo.yaml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946785" y="5345906"/>
                <a:ext cx="477590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叶子级比对，实际差异键必须与配置声明的 _expected_diff_ 逐项一致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946785" y="5612606"/>
                <a:ext cx="402601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3FDB9B"/>
                    </a:solidFill>
                    <a:latin typeface="Consolas"/>
                    <a:ea typeface="Microsoft YaHei"/>
                    <a:cs typeface="Consolas"/>
                  </a:rPr>
                  <a:t>7 份配置全部 DIFF PASS（3 / 8 / 1 / 12 / 8 / 1 / 9 键）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946785" y="5879306"/>
                <a:ext cx="6366077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3FDB9B"/>
                    </a:solidFill>
                    <a:latin typeface="Consolas"/>
                    <a:ea typeface="Microsoft YaHei"/>
                    <a:cs typeface="Consolas"/>
                  </a:rPr>
                  <a:t>python tools/same_budget.py → total_iters_equal=True（8 组均为 40 epoch × 45 step）</a:t>
                </a:r>
              </a:p>
            </p:txBody>
          </p:sp>
        </p:grpSp>
        <p:grpSp>
          <p:nvGrpSpPr>
            <p:cNvPr id="46" name="Group 46"/>
            <p:cNvGrpSpPr/>
            <p:nvPr/>
          </p:nvGrpSpPr>
          <p:grpSpPr>
            <a:xfrm>
              <a:off x="8382000" y="5048250"/>
              <a:ext cx="2857500" cy="952500"/>
              <a:chOff x="8382000" y="5048250"/>
              <a:chExt cx="2857500" cy="9525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8382000" y="5048250"/>
                <a:ext cx="2857500" cy="952500"/>
              </a:xfrm>
              <a:prstGeom prst="roundRect">
                <a:avLst>
                  <a:gd name="adj" fmla="val 8000"/>
                </a:avLst>
              </a:prstGeom>
              <a:solidFill>
                <a:srgbClr val="12233A"/>
              </a:solidFill>
              <a:ln w="9525">
                <a:solidFill>
                  <a:srgbClr val="35D0F0"/>
                </a:solidFill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8604885" y="5193506"/>
                <a:ext cx="64468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35D0F0"/>
                    </a:solidFill>
                    <a:latin typeface="Microsoft YaHei"/>
                    <a:ea typeface="Microsoft YaHei"/>
                    <a:cs typeface="Microsoft YaHei"/>
                  </a:rPr>
                  <a:t>保持不变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8605647" y="5457349"/>
                <a:ext cx="1764543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数据划分 · 预训练权重 · 种子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8605647" y="5666899"/>
                <a:ext cx="1896471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训练预算 · 评价方式 · 选模标准</a:t>
                </a:r>
              </a:p>
            </p:txBody>
          </p:sp>
        </p:grpSp>
      </p:grpSp>
      <p:grpSp>
        <p:nvGrpSpPr>
          <p:cNvPr id="51" name="Group 51"/>
          <p:cNvGrpSpPr/>
          <p:nvPr/>
        </p:nvGrpSpPr>
        <p:grpSpPr>
          <a:xfrm>
            <a:off x="680847" y="6210300"/>
            <a:ext cx="10830687" cy="358711"/>
            <a:chOff x="680847" y="6210300"/>
            <a:chExt cx="10830687" cy="358711"/>
          </a:xfrm>
        </p:grpSpPr>
        <p:sp>
          <p:nvSpPr>
            <p:cNvPr id="48" name="Line 48"/>
            <p:cNvSpPr/>
            <p:nvPr/>
          </p:nvSpPr>
          <p:spPr>
            <a:xfrm>
              <a:off x="685800" y="62103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680847" y="6371749"/>
              <a:ext cx="686354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数据来源：configs/opt_*.yaml 的 _expected_diff_ · outputs/metrics/{check_opt_diff,same_budget}.json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345380" y="63636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08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训练曲线：两组都收敛，组合方案未提高测试准确率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Pet-37 · Baseline vs opt_combo · 相同划分、seed=42、40 epoch · 每项指标共用坐标范围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来源：outputs/logs/{baseline,opt_combo}_metrics.csv；outputs/metrics/{baseline,opt_combo}_test.json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36393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训练损失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83664"/>
            <a:ext cx="3639312" cy="17007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1883664"/>
          <a:ext cx="3639312" cy="1700784"/>
        </p:xfrm>
        <a:graphic>
          <a:graphicData uri="http://schemas.openxmlformats.org/drawingml/2006/chart">
            <c:chart xmlns:c="http://schemas.openxmlformats.org/drawingml/2006/chart" r:id="rId1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352544" y="1572768"/>
            <a:ext cx="36393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验证损失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52544" y="1883664"/>
            <a:ext cx="3639312" cy="17007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52544" y="1883664"/>
          <a:ext cx="3639312" cy="1700784"/>
        </p:xfrm>
        <a:graphic>
          <a:graphicData uri="http://schemas.openxmlformats.org/drawingml/2006/chart">
            <c:chart xmlns:c="http://schemas.openxmlformats.org/drawingml/2006/chart" r:id="rId1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8156448" y="1572768"/>
            <a:ext cx="36393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验证 Top-1 (%)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6448" y="1883664"/>
            <a:ext cx="3639312" cy="17007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8156448" y="1883664"/>
          <a:ext cx="3639312" cy="1700784"/>
        </p:xfrm>
        <a:graphic>
          <a:graphicData uri="http://schemas.openxmlformats.org/drawingml/2006/chart">
            <c:chart xmlns:c="http://schemas.openxmlformats.org/drawingml/2006/chart" r:id="rId15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48640" y="3794760"/>
            <a:ext cx="36393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验证 Macro-F1 (%)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105656"/>
            <a:ext cx="3639312" cy="17007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548640" y="4105656"/>
          <a:ext cx="3639312" cy="1700784"/>
        </p:xfrm>
        <a:graphic>
          <a:graphicData uri="http://schemas.openxmlformats.org/drawingml/2006/chart">
            <c:chart xmlns:c="http://schemas.openxmlformats.org/drawingml/2006/chart" r:id="rId16"/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352544" y="3794760"/>
            <a:ext cx="36393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学习率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52544" y="4105656"/>
            <a:ext cx="3639312" cy="17007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4352544" y="4105656"/>
          <a:ext cx="3639312" cy="1700784"/>
        </p:xfrm>
        <a:graphic>
          <a:graphicData uri="http://schemas.openxmlformats.org/drawingml/2006/chart">
            <c:chart xmlns:c="http://schemas.openxmlformats.org/drawingml/2006/chart" r:id="rId17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8165592" y="379476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55C5EF"/>
                </a:solidFill>
                <a:latin typeface="Microsoft YaHei"/>
              </a:defRPr>
            </a:pPr>
            <a:r>
              <a:t>测试集结果（3669 张）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8165592" y="4197096"/>
          <a:ext cx="34747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/>
                <a:gridCol w="1158240"/>
                <a:gridCol w="1158240"/>
              </a:tblGrid>
              <a:tr h="30861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Baseline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组合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Top-1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92.34%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92.12%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Top-5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99.26%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99.59%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Macro-F1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92.22%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92.01%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8165592" y="5577840"/>
            <a:ext cx="34747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前几轮提升最快，后段逐渐稳定。</a:t>
            </a:r>
          </a:p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软标签改变 train loss，不能直接横比。</a:t>
            </a:r>
          </a:p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单种子结果不足以判断稳定提升。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错在哪里：多数是同物种内的品种混淆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Baseline · Pet-37 test · 3669 张 · 行归一化混淆矩阵；右侧保留失败案例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来源：outputs/confusion_matrix/baseline_cm.png、baseline_cat_dog_block.json；outputs/predictions/case_wrong_baseline_case*.png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10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556" y="1554480"/>
            <a:ext cx="4847767" cy="4434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75120" y="1581912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55C5EF"/>
                </a:solidFill>
                <a:latin typeface="Microsoft YaHei"/>
              </a:defRPr>
            </a:pPr>
            <a:r>
              <a:t>281 个错误中，10 个跨猫狗物种</a:t>
            </a:r>
          </a:p>
          <a:p>
            <a:pPr>
              <a:spcAft>
                <a:spcPts val="600"/>
              </a:spcAft>
              <a:defRPr sz="2000" b="1">
                <a:solidFill>
                  <a:srgbClr val="55C5EF"/>
                </a:solidFill>
                <a:latin typeface="Microsoft YaHei"/>
              </a:defRPr>
            </a:pPr>
            <a:r>
              <a:t>其余 271 个是同物种品种判断错误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3103127"/>
            <a:ext cx="2286000" cy="110894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3103709"/>
            <a:ext cx="2423160" cy="11077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0" y="5074920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E6EDF7"/>
                </a:solidFill>
                <a:latin typeface="Microsoft YaHei"/>
              </a:defRPr>
            </a:pPr>
            <a:r>
              <a:t>这些失败图提示：相似外形、遮挡和背景</a:t>
            </a:r>
          </a:p>
          <a:p>
            <a:pPr>
              <a:spcAft>
                <a:spcPts val="600"/>
              </a:spcAft>
              <a:defRPr sz="1700" b="0">
                <a:solidFill>
                  <a:srgbClr val="E6EDF7"/>
                </a:solidFill>
                <a:latin typeface="Microsoft YaHei"/>
              </a:defRPr>
            </a:pPr>
            <a:r>
              <a:t>都可能影响判断。不能仅凭热力图确定因果。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5925312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48D9AE"/>
                </a:solidFill>
                <a:latin typeface="Microsoft YaHei"/>
              </a:defRPr>
            </a:pPr>
            <a:r>
              <a:t>下一步：补充容易混淆的品种和不同拍摄角度。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Grad-CAM：同时看判对和判错的图片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Baseline · 挂载 stages[-1].blocks[-1] · 原图 / 热力图 / 叠加图；展示 2 个正确 + 2 个失败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来源：outputs/gradcam/gradcam_{correct,wrong}_baseline_*.png；外部图片完整 Top-5 见 outputs/predictions/external_top5_pet37_grid5.png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58191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48D9AE"/>
                </a:solidFill>
                <a:latin typeface="Microsoft YaHei"/>
              </a:defRPr>
            </a:pPr>
            <a:r>
              <a:t>正确：Bengal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9756" y="1929384"/>
            <a:ext cx="1389888" cy="13898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158191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48D9AE"/>
                </a:solidFill>
                <a:latin typeface="Microsoft YaHei"/>
              </a:defRPr>
            </a:pPr>
            <a:r>
              <a:t>正确：Russian Blue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6196" y="1929384"/>
            <a:ext cx="1389888" cy="1389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350215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2B560"/>
                </a:solidFill>
                <a:latin typeface="Microsoft YaHei"/>
              </a:defRPr>
            </a:pPr>
            <a:r>
              <a:t>失败：Boxer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9756" y="3849624"/>
            <a:ext cx="1389888" cy="13898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350215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2B560"/>
                </a:solidFill>
                <a:latin typeface="Microsoft YaHei"/>
              </a:defRPr>
            </a:pPr>
            <a:r>
              <a:t>失败：Egyptian Mau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6196" y="3849624"/>
            <a:ext cx="1389888" cy="13898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94360" y="57424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E6EDF7"/>
                </a:solidFill>
                <a:latin typeface="Microsoft YaHei"/>
              </a:defRPr>
            </a:pPr>
            <a:r>
              <a:t>关注到主体 ≠ 品种一定判断正确。热力图用于检查线索，仍要结合失败案例和完整测试集。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重参数化：合并分支后，误差仍在设定阈值内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Pet-37 / baseline_best.pt · CPU FP32 · eval → 深拷贝 → fuse · 固定随机输入 n=32，batch=8，224×224，seed=20240912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来源：outputs/reparam/repvit_m0_9_pet37_reparam_report.json；与第 13 页真实图片 ONNX 实验分开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45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PyTorch 模块数量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956816"/>
            <a:ext cx="5486400" cy="3118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94360" y="1956816"/>
          <a:ext cx="5486400" cy="3118104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0" y="1783080"/>
          <a:ext cx="51206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103120"/>
              </a:tblGrid>
              <a:tr h="50292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数值验证（随机输入）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结果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最大 |Δlogits|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7.093e-06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平均 |Δlogits|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2.031e-06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Top-1 一致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32 / 32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Top-5 最小交集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5 / 5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阈值 / 判定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max &lt; 1e-4 / PASS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4360" y="54406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E6EDF7"/>
                </a:solidFill>
                <a:latin typeface="Microsoft YaHei"/>
              </a:defRPr>
            </a:pPr>
            <a:r>
              <a:t>先把 BN 的固定统计量折进卷积，再把 1×1、3×3 与 identity 分支的核相加。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16752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代数上等价；FP32 运算顺序改变会产生舍入误差。这里通过的是已测输入和设定阈值。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PyTorch ↔ ONNX：固定 n=12，比较同一输入张量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融合后的 PyTorch vs ORT CPUExecutionProvider · FP32 · batch=1 · 224×224 · 每个模型各 12 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来源：outputs/metrics/consistency_{repvit_m0_9_pet37,repvit_m0_9_in1k,repvit_m1_0_in1k}.json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737360"/>
          <a:ext cx="109728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37560"/>
                <a:gridCol w="548640"/>
                <a:gridCol w="2194560"/>
                <a:gridCol w="2194560"/>
                <a:gridCol w="2697480"/>
              </a:tblGrid>
              <a:tr h="49149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模型 / 输入列表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n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最大 |Δlogits|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平均 |Δlogits|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Top-1 / Top-5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M0.9 Pet-37 / pet_test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6.199e-06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1.501e-06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100% / 100%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M0.9 / ImageNet 子集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1.717e-05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2.360e-06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100% / 100%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M1.0 / ImageNet 子集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1.812e-05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2.464e-06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100% / 100%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0690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E6EDF7"/>
                </a:solidFill>
                <a:latin typeface="Microsoft YaHei"/>
              </a:defRPr>
            </a:pPr>
            <a:r>
              <a:t>1  部署预处理由 PIL 实现；本次对比把同一张量送入两个推理后端。</a:t>
            </a:r>
          </a:p>
          <a:p>
            <a:pPr>
              <a:spcAft>
                <a:spcPts val="600"/>
              </a:spcAft>
              <a:defRPr sz="2000" b="0">
                <a:solidFill>
                  <a:srgbClr val="E6EDF7"/>
                </a:solidFill>
                <a:latin typeface="Microsoft YaHei"/>
              </a:defRPr>
            </a:pPr>
            <a:r>
              <a:t>2  结论仅覆盖这 12 张图片，不能写成完整测试集或全部六模型一致。</a:t>
            </a:r>
          </a:p>
          <a:p>
            <a:pPr>
              <a:spcAft>
                <a:spcPts val="600"/>
              </a:spcAft>
              <a:defRPr sz="2000" b="0">
                <a:solidFill>
                  <a:srgbClr val="E6EDF7"/>
                </a:solidFill>
                <a:latin typeface="Microsoft YaHei"/>
              </a:defRPr>
            </a:pPr>
            <a:r>
              <a:t>3  旧的 5.25e-06 缺少对应完整记录，当前统一引用上表落盘值。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96128"/>
            <a:ext cx="1097280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48D9AE"/>
                </a:solidFill>
                <a:latin typeface="Microsoft YaHei"/>
              </a:defRPr>
            </a:pPr>
            <a:r>
              <a:t>复跑：python deploy/compare_torch_onnx.py --model repvit_m0_9_pet37 --limit 12</a:t>
            </a:r>
          </a:p>
          <a:p>
            <a:pPr>
              <a:spcAft>
                <a:spcPts val="600"/>
              </a:spcAft>
              <a:defRPr sz="1500" b="0">
                <a:solidFill>
                  <a:srgbClr val="48D9AE"/>
                </a:solidFill>
                <a:latin typeface="Microsoft YaHei"/>
              </a:defRPr>
            </a:pPr>
            <a:r>
              <a:t>完整命令、固定列表与输出路径已写入本页备注和 report/LOGITS_AUDIT.md。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部署怎么选：先看同一机器上的延迟和准确率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i7-13650HX · Windows 11 · ORT 1.30.0 CPUExecutionProvider · FP32 · 1×3×224×224 · 预热10 + 正式50 · threads=4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来源：outputs/benchmarks/summary.csv；outputs/pretrained_eval/&lt;model&gt;/metrics.json；各模型完整元信息见 benchmark 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5532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六模型推理耗时 (ms)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02536"/>
            <a:ext cx="5532120" cy="35753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94360" y="2002536"/>
          <a:ext cx="5532120" cy="3575304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46520" y="169164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55C5EF"/>
                </a:solidFill>
                <a:latin typeface="Microsoft YaHei"/>
              </a:defRPr>
            </a:pPr>
            <a:r>
              <a:t>同一 ImageNet 子集：速度与准确率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46520" y="2011680"/>
            <a:ext cx="5120640" cy="3566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446520" y="2011680"/>
          <a:ext cx="5120640" cy="3566160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94360" y="5806440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E6EDF7"/>
                </a:solidFill>
                <a:latin typeface="Microsoft YaHei"/>
              </a:defRPr>
            </a:pPr>
            <a:r>
              <a:t>本子集上 M1.0 / M1.1 的 Top-1 相同，M1.0 更快。更大模型的额外耗时，需要结合使用场景判断。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1428750"/>
            <a:ext cx="12192000" cy="4295775"/>
            <a:chOff x="0" y="1428750"/>
            <a:chExt cx="12192000" cy="4295775"/>
          </a:xfrm>
        </p:grpSpPr>
        <p:sp>
          <p:nvSpPr>
            <p:cNvPr id="2" name="Line 2"/>
            <p:cNvSpPr/>
            <p:nvPr/>
          </p:nvSpPr>
          <p:spPr>
            <a:xfrm>
              <a:off x="0" y="142875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16233A"/>
              </a:solidFill>
            </a:ln>
          </p:spPr>
          <p:txBody>
            <a:bodyPr/>
            <a:p/>
          </p:txBody>
        </p:sp>
        <p:sp>
          <p:nvSpPr>
            <p:cNvPr id="3" name="Line 3"/>
            <p:cNvSpPr/>
            <p:nvPr/>
          </p:nvSpPr>
          <p:spPr>
            <a:xfrm>
              <a:off x="0" y="571500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16233A"/>
              </a:solidFill>
            </a:ln>
          </p:spPr>
          <p:txBody>
            <a:bodyPr/>
            <a:p/>
          </p:txBody>
        </p:sp>
      </p:grpSp>
      <p:grpSp>
        <p:nvGrpSpPr>
          <p:cNvPr id="8" name="Group 8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5" name="TextBox 5"/>
            <p:cNvSpPr txBox="1"/>
            <p:nvPr/>
          </p:nvSpPr>
          <p:spPr>
            <a:xfrm>
              <a:off x="672846" y="505778"/>
              <a:ext cx="831614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复现链路完整、数字可溯源、控制变量有工程化校验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79704" y="994410"/>
              <a:ext cx="623971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37 条验收项自检 0 失败；代码零写死绝对路径；关键数字与实验口径见 outputs/ 和审计说明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p/>
          </p:txBody>
        </p:sp>
      </p:grpSp>
      <p:grpSp>
        <p:nvGrpSpPr>
          <p:cNvPr id="20" name="Group 20"/>
          <p:cNvGrpSpPr/>
          <p:nvPr/>
        </p:nvGrpSpPr>
        <p:grpSpPr>
          <a:xfrm>
            <a:off x="685800" y="1600200"/>
            <a:ext cx="10820400" cy="1866900"/>
            <a:chOff x="685800" y="1600200"/>
            <a:chExt cx="10820400" cy="1866900"/>
          </a:xfrm>
        </p:grpSpPr>
        <p:sp>
          <p:nvSpPr>
            <p:cNvPr id="9" name="Rectangle 9"/>
            <p:cNvSpPr/>
            <p:nvPr/>
          </p:nvSpPr>
          <p:spPr>
            <a:xfrm>
              <a:off x="685800" y="1600200"/>
              <a:ext cx="10820400" cy="1866900"/>
            </a:xfrm>
            <a:prstGeom prst="roundRect">
              <a:avLst>
                <a:gd name="adj" fmla="val 5102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45642" y="1797368"/>
              <a:ext cx="19219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三个最有代表性的问题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952500" y="207645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15" name="Group 15"/>
            <p:cNvGrpSpPr/>
            <p:nvPr/>
          </p:nvGrpSpPr>
          <p:grpSpPr>
            <a:xfrm>
              <a:off x="946785" y="2278856"/>
              <a:ext cx="5107210" cy="461105"/>
              <a:chOff x="946785" y="2278856"/>
              <a:chExt cx="5107210" cy="461105"/>
            </a:xfrm>
          </p:grpSpPr>
          <p:sp>
            <p:nvSpPr>
              <p:cNvPr id="12" name="TextBox 12"/>
              <p:cNvSpPr txBox="1"/>
              <p:nvPr/>
            </p:nvSpPr>
            <p:spPr>
              <a:xfrm>
                <a:off x="946785" y="2278856"/>
                <a:ext cx="185574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01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423035" y="2278856"/>
                <a:ext cx="3268157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官方 .pth 与 timm 键名交集为 0（713 vs 389）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423416" y="2534602"/>
                <a:ext cx="4630579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3FDB9B"/>
                    </a:solidFill>
                    <a:latin typeface="Microsoft YaHei"/>
                    <a:ea typeface="Microsoft YaHei"/>
                    <a:cs typeface="Microsoft YaHei"/>
                  </a:rPr>
                  <a:t>实测证明两条路线权重逐位等价（max|Δlogits| = 0），省去手写键转换器</a:t>
                </a: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946785" y="2850356"/>
              <a:ext cx="5751957" cy="461105"/>
              <a:chOff x="946785" y="2850356"/>
              <a:chExt cx="5751957" cy="461105"/>
            </a:xfrm>
          </p:grpSpPr>
          <p:sp>
            <p:nvSpPr>
              <p:cNvPr id="16" name="TextBox 16"/>
              <p:cNvSpPr txBox="1"/>
              <p:nvPr/>
            </p:nvSpPr>
            <p:spPr>
              <a:xfrm>
                <a:off x="946785" y="2850356"/>
                <a:ext cx="185574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02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423035" y="2850356"/>
                <a:ext cx="316779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data/provided/ 在 29 页试题 PDF 中从未定义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1423416" y="3106102"/>
                <a:ext cx="527532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3FDB9B"/>
                    </a:solidFill>
                    <a:latin typeface="Microsoft YaHei"/>
                    <a:ea typeface="Microsoft YaHei"/>
                    <a:cs typeface="Microsoft YaHei"/>
                  </a:rPr>
                  <a:t>改判为结构性偏差，改用官方归档 + 自建子集，并在 README 与报告中显式声明</a:t>
                </a:r>
              </a:p>
            </p:txBody>
          </p:sp>
        </p:grpSp>
      </p:grpSp>
      <p:grpSp>
        <p:nvGrpSpPr>
          <p:cNvPr id="25" name="Group 25"/>
          <p:cNvGrpSpPr/>
          <p:nvPr/>
        </p:nvGrpSpPr>
        <p:grpSpPr>
          <a:xfrm>
            <a:off x="685800" y="3581400"/>
            <a:ext cx="10820400" cy="876300"/>
            <a:chOff x="685800" y="3581400"/>
            <a:chExt cx="10820400" cy="876300"/>
          </a:xfrm>
        </p:grpSpPr>
        <p:sp>
          <p:nvSpPr>
            <p:cNvPr id="21" name="Rectangle 21"/>
            <p:cNvSpPr/>
            <p:nvPr/>
          </p:nvSpPr>
          <p:spPr>
            <a:xfrm>
              <a:off x="685800" y="3581400"/>
              <a:ext cx="10820400" cy="876300"/>
            </a:xfrm>
            <a:prstGeom prst="roundRect">
              <a:avLst>
                <a:gd name="adj" fmla="val 10870"/>
              </a:avLst>
            </a:prstGeom>
            <a:solidFill>
              <a:srgbClr val="1A1408"/>
            </a:solidFill>
            <a:ln w="9525">
              <a:solidFill>
                <a:srgbClr val="FFC857"/>
              </a:solidFill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46785" y="37838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FFC857"/>
                  </a:solidFill>
                  <a:latin typeface="Consolas"/>
                  <a:ea typeface="Consolas"/>
                  <a:cs typeface="Consolas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423035" y="3783806"/>
              <a:ext cx="55222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早停导致训练预算不等价（opt_mix 25 epoch vs baseline 40 epoch，差 37.5%）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423416" y="4058602"/>
              <a:ext cx="662589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处置：统一关闭早停，8 组实验全部 40 epoch 满预算；把预算等价性固化成可执行检查 same_budget.py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85800" y="4648200"/>
            <a:ext cx="6667500" cy="1638300"/>
            <a:chOff x="685800" y="4648200"/>
            <a:chExt cx="6667500" cy="1638300"/>
          </a:xfrm>
        </p:grpSpPr>
        <p:sp>
          <p:nvSpPr>
            <p:cNvPr id="26" name="Rectangle 26"/>
            <p:cNvSpPr/>
            <p:nvPr/>
          </p:nvSpPr>
          <p:spPr>
            <a:xfrm>
              <a:off x="685800" y="4648200"/>
              <a:ext cx="6667500" cy="1638300"/>
            </a:xfrm>
            <a:prstGeom prst="roundRect">
              <a:avLst>
                <a:gd name="adj" fmla="val 5814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45642" y="4845368"/>
              <a:ext cx="3953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结论</a:t>
              </a:r>
            </a:p>
          </p:txBody>
        </p:sp>
        <p:sp>
          <p:nvSpPr>
            <p:cNvPr id="28" name="Line 28"/>
            <p:cNvSpPr/>
            <p:nvPr/>
          </p:nvSpPr>
          <p:spPr>
            <a:xfrm>
              <a:off x="952500" y="5124450"/>
              <a:ext cx="6134100" cy="9525"/>
            </a:xfrm>
            <a:custGeom>
              <a:avLst/>
              <a:gdLst/>
              <a:ahLst/>
              <a:cxnLst/>
              <a:rect l="l" t="t" r="r" b="b"/>
              <a:pathLst>
                <a:path w="6134100" h="9525">
                  <a:moveTo>
                    <a:pt x="0" y="0"/>
                  </a:moveTo>
                  <a:lnTo>
                    <a:pt x="61341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46785" y="5307806"/>
              <a:ext cx="42062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① RepViT 确为纯卷积，M0.9 实测 78.20%，贴近官方 78.7%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46785" y="5555456"/>
              <a:ext cx="36328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② Pet-37 test Top-1 92.34%，跨物种错误仅 3.56%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46785" y="5803106"/>
              <a:ext cx="36197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③ 重参数化 32 个随机输入通过；ONNX 固定 n=12 样本一致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46785" y="6050756"/>
              <a:ext cx="36073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④ 四项优化未显示稳定提升；需要多种子实验进一步判断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7658100" y="4648200"/>
            <a:ext cx="3848100" cy="1638300"/>
            <a:chOff x="7658100" y="4648200"/>
            <a:chExt cx="3848100" cy="1638300"/>
          </a:xfrm>
        </p:grpSpPr>
        <p:sp>
          <p:nvSpPr>
            <p:cNvPr id="34" name="Rectangle 34"/>
            <p:cNvSpPr/>
            <p:nvPr/>
          </p:nvSpPr>
          <p:spPr>
            <a:xfrm>
              <a:off x="7658100" y="4648200"/>
              <a:ext cx="3848100" cy="1638300"/>
            </a:xfrm>
            <a:prstGeom prst="roundRect">
              <a:avLst>
                <a:gd name="adj" fmla="val 5814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7898892" y="4845368"/>
              <a:ext cx="7770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后续计划</a:t>
              </a:r>
            </a:p>
          </p:txBody>
        </p:sp>
        <p:sp>
          <p:nvSpPr>
            <p:cNvPr id="36" name="Line 36"/>
            <p:cNvSpPr/>
            <p:nvPr/>
          </p:nvSpPr>
          <p:spPr>
            <a:xfrm>
              <a:off x="7905750" y="5124450"/>
              <a:ext cx="3352800" cy="9525"/>
            </a:xfrm>
            <a:custGeom>
              <a:avLst/>
              <a:gdLst/>
              <a:ahLst/>
              <a:cxnLst/>
              <a:rect l="l" t="t" r="r" b="b"/>
              <a:pathLst>
                <a:path w="3352800" h="9525">
                  <a:moveTo>
                    <a:pt x="0" y="0"/>
                  </a:moveTo>
                  <a:lnTo>
                    <a:pt x="33528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7900416" y="5315902"/>
              <a:ext cx="26019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INT8 量化 / 知识蒸馏（M2.3 → M0.9）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900416" y="5563552"/>
              <a:ext cx="22722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集显后端（本机无集显，需换设备）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900416" y="5811202"/>
              <a:ext cx="236296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置信度校准（实测温度 T = 0.615）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900416" y="6058852"/>
              <a:ext cx="266099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七类鲁棒性扰动已跑，可扩展 severity 级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680466" y="6401752"/>
            <a:ext cx="10830687" cy="205359"/>
            <a:chOff x="680466" y="6401752"/>
            <a:chExt cx="10830687" cy="205359"/>
          </a:xfrm>
        </p:grpSpPr>
        <p:sp>
          <p:nvSpPr>
            <p:cNvPr id="42" name="TextBox 42"/>
            <p:cNvSpPr txBox="1"/>
            <p:nvPr/>
          </p:nvSpPr>
          <p:spPr>
            <a:xfrm>
              <a:off x="680466" y="6401752"/>
              <a:ext cx="298517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github.com/8ga-tech/RepViT-Reproduction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294109" y="6409849"/>
              <a:ext cx="12170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感谢聆听 · 敬请提问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repvit-defense">
  <a:themeElements>
    <a:clrScheme name="repvit-defens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repvit-defens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pvit-defens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2026-09-13T09:34:54Z</dcterms:created>
  <dcterms:modified xsi:type="dcterms:W3CDTF">2026-09-13T09:34:54Z</dcterms:modified>
  <cp:category/>
  <cp:contentStatus/>
</cp:coreProperties>
</file>